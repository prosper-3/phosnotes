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x="7556500" cy="10693400"/>
  <p:notesSz cx="6858000" cy="9144000"/>
  <p:embeddedFontLst>
    <p:embeddedFont>
      <p:font typeface="Arial MT Pro Bold" charset="1" panose="020B0802020202020204"/>
      <p:regular r:id="rId35"/>
    </p:embeddedFont>
    <p:embeddedFont>
      <p:font typeface="Nunito Ultra-Bold" charset="1" panose="00000000000000000000"/>
      <p:regular r:id="rId36"/>
    </p:embeddedFont>
    <p:embeddedFont>
      <p:font typeface="Arial MT Pro" charset="1" panose="020B0502020202020204"/>
      <p:regular r:id="rId37"/>
    </p:embeddedFont>
    <p:embeddedFont>
      <p:font typeface="Nunito Bold" charset="1" panose="00000000000000000000"/>
      <p:regular r:id="rId38"/>
    </p:embeddedFont>
    <p:embeddedFont>
      <p:font typeface="Nunito" charset="1" panose="00000000000000000000"/>
      <p:regular r:id="rId39"/>
    </p:embeddedFont>
    <p:embeddedFont>
      <p:font typeface="Nunito Semi-Bold Italics" charset="1" panose="00000000000000000000"/>
      <p:regular r:id="rId40"/>
    </p:embeddedFont>
    <p:embeddedFont>
      <p:font typeface="Nunito Light" charset="1" panose="00000000000000000000"/>
      <p:regular r:id="rId41"/>
    </p:embeddedFont>
    <p:embeddedFont>
      <p:font typeface="Nunito Semi-Bold" charset="1" panose="00000000000000000000"/>
      <p:regular r:id="rId42"/>
    </p:embeddedFont>
    <p:embeddedFont>
      <p:font typeface="Comic Sans" charset="1" panose="03000702030302020204"/>
      <p:regular r:id="rId43"/>
    </p:embeddedFont>
    <p:embeddedFont>
      <p:font typeface="Canva Sans" charset="1" panose="020B0503030501040103"/>
      <p:regular r:id="rId44"/>
    </p:embeddedFont>
    <p:embeddedFont>
      <p:font typeface="Borel" charset="1" panose="00000000000000000000"/>
      <p:regular r:id="rId45"/>
    </p:embeddedFont>
    <p:embeddedFont>
      <p:font typeface="Belina" charset="1" panose="00000500000000000000"/>
      <p:regular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172A46"/>
        </a:solidFill>
      </p:bgPr>
    </p:bg>
    <p:spTree>
      <p:nvGrpSpPr>
        <p:cNvPr id="1" name=""/>
        <p:cNvGrpSpPr/>
        <p:nvPr/>
      </p:nvGrpSpPr>
      <p:grpSpPr>
        <a:xfrm>
          <a:off x="0" y="0"/>
          <a:ext cx="0" cy="0"/>
          <a:chOff x="0" y="0"/>
          <a:chExt cx="0" cy="0"/>
        </a:xfrm>
      </p:grpSpPr>
      <p:sp>
        <p:nvSpPr>
          <p:cNvPr name="TextBox 2" id="2"/>
          <p:cNvSpPr txBox="true"/>
          <p:nvPr/>
        </p:nvSpPr>
        <p:spPr>
          <a:xfrm rot="0">
            <a:off x="769249" y="1942434"/>
            <a:ext cx="6021502" cy="5240318"/>
          </a:xfrm>
          <a:prstGeom prst="rect">
            <a:avLst/>
          </a:prstGeom>
        </p:spPr>
        <p:txBody>
          <a:bodyPr anchor="t" rtlCol="false" tIns="0" lIns="0" bIns="0" rIns="0">
            <a:spAutoFit/>
          </a:bodyPr>
          <a:lstStyle/>
          <a:p>
            <a:pPr algn="ctr">
              <a:lnSpc>
                <a:spcPts val="2538"/>
              </a:lnSpc>
            </a:pPr>
            <a:r>
              <a:rPr lang="en-US" sz="1813" b="true">
                <a:solidFill>
                  <a:srgbClr val="FFD230"/>
                </a:solidFill>
                <a:latin typeface="Arial MT Pro Bold"/>
                <a:ea typeface="Arial MT Pro Bold"/>
                <a:cs typeface="Arial MT Pro Bold"/>
                <a:sym typeface="Arial MT Pro Bold"/>
              </a:rPr>
              <a:t>✦ PHOSNOTES ✦</a:t>
            </a:r>
          </a:p>
          <a:p>
            <a:pPr algn="ctr">
              <a:lnSpc>
                <a:spcPts val="2538"/>
              </a:lnSpc>
            </a:pPr>
          </a:p>
          <a:p>
            <a:pPr algn="ctr">
              <a:lnSpc>
                <a:spcPts val="2538"/>
              </a:lnSpc>
            </a:pPr>
          </a:p>
          <a:p>
            <a:pPr algn="ctr">
              <a:lnSpc>
                <a:spcPts val="2538"/>
              </a:lnSpc>
            </a:pPr>
          </a:p>
          <a:p>
            <a:pPr algn="ctr">
              <a:lnSpc>
                <a:spcPts val="4480"/>
              </a:lnSpc>
            </a:pPr>
          </a:p>
          <a:p>
            <a:pPr algn="ctr">
              <a:lnSpc>
                <a:spcPts val="4480"/>
              </a:lnSpc>
            </a:pPr>
            <a:r>
              <a:rPr lang="en-US" sz="3200" b="true">
                <a:solidFill>
                  <a:srgbClr val="FFFFCC"/>
                </a:solidFill>
                <a:latin typeface="Nunito Ultra-Bold"/>
                <a:ea typeface="Nunito Ultra-Bold"/>
                <a:cs typeface="Nunito Ultra-Bold"/>
                <a:sym typeface="Nunito Ultra-Bold"/>
              </a:rPr>
              <a:t>LUMI AND THE LITTLE LIGHT</a:t>
            </a:r>
          </a:p>
          <a:p>
            <a:pPr algn="ctr">
              <a:lnSpc>
                <a:spcPts val="2538"/>
              </a:lnSpc>
            </a:pPr>
          </a:p>
          <a:p>
            <a:pPr algn="ctr">
              <a:lnSpc>
                <a:spcPts val="2538"/>
              </a:lnSpc>
            </a:pPr>
          </a:p>
          <a:p>
            <a:pPr algn="ctr">
              <a:lnSpc>
                <a:spcPts val="2538"/>
              </a:lnSpc>
            </a:pPr>
          </a:p>
          <a:p>
            <a:pPr algn="ctr">
              <a:lnSpc>
                <a:spcPts val="2538"/>
              </a:lnSpc>
              <a:spcBef>
                <a:spcPct val="0"/>
              </a:spcBef>
            </a:pPr>
            <a:r>
              <a:rPr lang="en-US" sz="1813">
                <a:solidFill>
                  <a:srgbClr val="FFFFCC"/>
                </a:solidFill>
                <a:latin typeface="Arial MT Pro"/>
                <a:ea typeface="Arial MT Pro"/>
                <a:cs typeface="Arial MT Pro"/>
                <a:sym typeface="Arial MT Pro"/>
              </a:rPr>
              <a:t>A St</a:t>
            </a:r>
            <a:r>
              <a:rPr lang="en-US" sz="1813">
                <a:solidFill>
                  <a:srgbClr val="FFFFCC"/>
                </a:solidFill>
                <a:latin typeface="Arial MT Pro"/>
                <a:ea typeface="Arial MT Pro"/>
                <a:cs typeface="Arial MT Pro"/>
                <a:sym typeface="Arial MT Pro"/>
              </a:rPr>
              <a:t>ory About Curiosity, Questions, and Discover</a:t>
            </a:r>
            <a:r>
              <a:rPr lang="en-US" sz="1813">
                <a:solidFill>
                  <a:srgbClr val="FFF6EA"/>
                </a:solidFill>
                <a:latin typeface="Arial MT Pro"/>
                <a:ea typeface="Arial MT Pro"/>
                <a:cs typeface="Arial MT Pro"/>
                <a:sym typeface="Arial MT Pro"/>
              </a:rPr>
              <a:t>y</a:t>
            </a:r>
          </a:p>
          <a:p>
            <a:pPr algn="ctr">
              <a:lnSpc>
                <a:spcPts val="2538"/>
              </a:lnSpc>
              <a:spcBef>
                <a:spcPct val="0"/>
              </a:spcBef>
            </a:pPr>
          </a:p>
          <a:p>
            <a:pPr algn="ctr">
              <a:lnSpc>
                <a:spcPts val="2538"/>
              </a:lnSpc>
              <a:spcBef>
                <a:spcPct val="0"/>
              </a:spcBef>
            </a:pPr>
            <a:r>
              <a:rPr lang="en-US" b="true" sz="1813">
                <a:solidFill>
                  <a:srgbClr val="FFF6EA"/>
                </a:solidFill>
                <a:latin typeface="Arial MT Pro Bold"/>
                <a:ea typeface="Arial MT Pro Bold"/>
                <a:cs typeface="Arial MT Pro Bold"/>
                <a:sym typeface="Arial MT Pro Bold"/>
              </a:rPr>
              <a:t>Written and Created by N. Prosper</a:t>
            </a:r>
          </a:p>
          <a:p>
            <a:pPr algn="ctr">
              <a:lnSpc>
                <a:spcPts val="2538"/>
              </a:lnSpc>
              <a:spcBef>
                <a:spcPct val="0"/>
              </a:spcBef>
            </a:pPr>
          </a:p>
          <a:p>
            <a:pPr algn="ctr">
              <a:lnSpc>
                <a:spcPts val="2538"/>
              </a:lnSpc>
              <a:spcBef>
                <a:spcPct val="0"/>
              </a:spcBef>
            </a:pPr>
            <a:r>
              <a:rPr lang="en-US" b="true" sz="1813">
                <a:solidFill>
                  <a:srgbClr val="7A6200"/>
                </a:solidFill>
                <a:latin typeface="Arial MT Pro Bold"/>
                <a:ea typeface="Arial MT Pro Bold"/>
                <a:cs typeface="Arial MT Pro Bold"/>
                <a:sym typeface="Arial MT Pro Bold"/>
              </a:rPr>
              <a:t>Bringing Light to Young Minds</a:t>
            </a:r>
          </a:p>
          <a:p>
            <a:pPr algn="ctr">
              <a:lnSpc>
                <a:spcPts val="2538"/>
              </a:lnSpc>
              <a:spcBef>
                <a:spcPct val="0"/>
              </a:spcBef>
            </a:pPr>
          </a:p>
        </p:txBody>
      </p:sp>
      <p:sp>
        <p:nvSpPr>
          <p:cNvPr name="AutoShape 3" id="3"/>
          <p:cNvSpPr/>
          <p:nvPr/>
        </p:nvSpPr>
        <p:spPr>
          <a:xfrm>
            <a:off x="2600129" y="4581643"/>
            <a:ext cx="2359741" cy="0"/>
          </a:xfrm>
          <a:prstGeom prst="line">
            <a:avLst/>
          </a:prstGeom>
          <a:ln cap="flat" w="38100">
            <a:solidFill>
              <a:srgbClr val="FFD230"/>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p:cSld>
    <p:bg>
      <p:bgPr>
        <a:solidFill>
          <a:srgbClr val="FFF9ED"/>
        </a:solidFill>
      </p:bgPr>
    </p:bg>
    <p:spTree>
      <p:nvGrpSpPr>
        <p:cNvPr id="1" name=""/>
        <p:cNvGrpSpPr/>
        <p:nvPr/>
      </p:nvGrpSpPr>
      <p:grpSpPr>
        <a:xfrm>
          <a:off x="0" y="0"/>
          <a:ext cx="0" cy="0"/>
          <a:chOff x="0" y="0"/>
          <a:chExt cx="0" cy="0"/>
        </a:xfrm>
      </p:grpSpPr>
      <p:sp>
        <p:nvSpPr>
          <p:cNvPr name="TextBox 2" id="2"/>
          <p:cNvSpPr txBox="true"/>
          <p:nvPr/>
        </p:nvSpPr>
        <p:spPr>
          <a:xfrm rot="0">
            <a:off x="756000" y="1304633"/>
            <a:ext cx="6048000" cy="6317615"/>
          </a:xfrm>
          <a:prstGeom prst="rect">
            <a:avLst/>
          </a:prstGeom>
        </p:spPr>
        <p:txBody>
          <a:bodyPr anchor="t" rtlCol="false" tIns="0" lIns="0" bIns="0" rIns="0">
            <a:spAutoFit/>
          </a:bodyPr>
          <a:lstStyle/>
          <a:p>
            <a:pPr algn="l">
              <a:lnSpc>
                <a:spcPts val="1960"/>
              </a:lnSpc>
            </a:pPr>
          </a:p>
          <a:p>
            <a:pPr algn="l">
              <a:lnSpc>
                <a:spcPts val="1960"/>
              </a:lnSpc>
            </a:pPr>
            <a:r>
              <a:rPr lang="en-US" sz="1400" b="true">
                <a:solidFill>
                  <a:srgbClr val="000000"/>
                </a:solidFill>
                <a:latin typeface="Nunito Bold"/>
                <a:ea typeface="Nunito Bold"/>
                <a:cs typeface="Nunito Bold"/>
                <a:sym typeface="Nunito Bold"/>
              </a:rPr>
              <a:t>Copyright and Publication</a:t>
            </a:r>
          </a:p>
          <a:p>
            <a:pPr algn="l">
              <a:lnSpc>
                <a:spcPts val="1960"/>
              </a:lnSpc>
            </a:pPr>
          </a:p>
          <a:p>
            <a:pPr algn="l">
              <a:lnSpc>
                <a:spcPts val="2519"/>
              </a:lnSpc>
            </a:pPr>
          </a:p>
          <a:p>
            <a:pPr algn="l">
              <a:lnSpc>
                <a:spcPts val="2519"/>
              </a:lnSpc>
              <a:spcBef>
                <a:spcPct val="0"/>
              </a:spcBef>
            </a:pPr>
            <a:r>
              <a:rPr lang="en-US" sz="1799">
                <a:solidFill>
                  <a:srgbClr val="000000"/>
                </a:solidFill>
                <a:latin typeface="Nunito"/>
                <a:ea typeface="Nunito"/>
                <a:cs typeface="Nunito"/>
                <a:sym typeface="Nunito"/>
              </a:rPr>
              <a:t>L</a:t>
            </a:r>
            <a:r>
              <a:rPr lang="en-US" b="true" sz="1799" i="true">
                <a:solidFill>
                  <a:srgbClr val="000000"/>
                </a:solidFill>
                <a:latin typeface="Nunito Semi-Bold Italics"/>
                <a:ea typeface="Nunito Semi-Bold Italics"/>
                <a:cs typeface="Nunito Semi-Bold Italics"/>
                <a:sym typeface="Nunito Semi-Bold Italics"/>
              </a:rPr>
              <a:t>umi and the Little Light</a:t>
            </a:r>
          </a:p>
          <a:p>
            <a:pPr algn="l">
              <a:lnSpc>
                <a:spcPts val="1960"/>
              </a:lnSpc>
              <a:spcBef>
                <a:spcPct val="0"/>
              </a:spcBef>
            </a:pPr>
            <a:r>
              <a:rPr lang="en-US" sz="1400">
                <a:solidFill>
                  <a:srgbClr val="000000"/>
                </a:solidFill>
                <a:latin typeface="Nunito"/>
                <a:ea typeface="Nunito"/>
                <a:cs typeface="Nunito"/>
                <a:sym typeface="Nunito"/>
              </a:rPr>
              <a:t> by N. Prosper </a:t>
            </a:r>
          </a:p>
          <a:p>
            <a:pPr algn="l">
              <a:lnSpc>
                <a:spcPts val="1960"/>
              </a:lnSpc>
              <a:spcBef>
                <a:spcPct val="0"/>
              </a:spcBef>
            </a:pPr>
            <a:r>
              <a:rPr lang="en-US" sz="1400">
                <a:solidFill>
                  <a:srgbClr val="000000"/>
                </a:solidFill>
                <a:latin typeface="Nunito"/>
                <a:ea typeface="Nunito"/>
                <a:cs typeface="Nunito"/>
                <a:sym typeface="Nunito"/>
              </a:rPr>
              <a:t>© 2026 PHOSNOTES</a:t>
            </a:r>
          </a:p>
          <a:p>
            <a:pPr algn="l">
              <a:lnSpc>
                <a:spcPts val="1960"/>
              </a:lnSpc>
              <a:spcBef>
                <a:spcPct val="0"/>
              </a:spcBef>
            </a:pPr>
            <a:r>
              <a:rPr lang="en-US" sz="1400">
                <a:solidFill>
                  <a:srgbClr val="000000"/>
                </a:solidFill>
                <a:latin typeface="Nunito"/>
                <a:ea typeface="Nunito"/>
                <a:cs typeface="Nunito"/>
                <a:sym typeface="Nunito"/>
              </a:rPr>
              <a:t>First Edition · 2026</a:t>
            </a:r>
          </a:p>
          <a:p>
            <a:pPr algn="l">
              <a:lnSpc>
                <a:spcPts val="1960"/>
              </a:lnSpc>
              <a:spcBef>
                <a:spcPct val="0"/>
              </a:spcBef>
            </a:pPr>
          </a:p>
          <a:p>
            <a:pPr algn="l">
              <a:lnSpc>
                <a:spcPts val="1960"/>
              </a:lnSpc>
              <a:spcBef>
                <a:spcPct val="0"/>
              </a:spcBef>
            </a:pPr>
          </a:p>
          <a:p>
            <a:pPr algn="l">
              <a:lnSpc>
                <a:spcPts val="1960"/>
              </a:lnSpc>
              <a:spcBef>
                <a:spcPct val="0"/>
              </a:spcBef>
            </a:pPr>
            <a:r>
              <a:rPr lang="en-US" sz="1400">
                <a:solidFill>
                  <a:srgbClr val="000000"/>
                </a:solidFill>
                <a:latin typeface="Nunito"/>
                <a:ea typeface="Nunito"/>
                <a:cs typeface="Nunito"/>
                <a:sym typeface="Nunito"/>
              </a:rPr>
              <a:t>Published by: PHOSNOTES</a:t>
            </a:r>
          </a:p>
          <a:p>
            <a:pPr algn="l">
              <a:lnSpc>
                <a:spcPts val="1960"/>
              </a:lnSpc>
              <a:spcBef>
                <a:spcPct val="0"/>
              </a:spcBef>
            </a:pPr>
            <a:r>
              <a:rPr lang="en-US" sz="1400">
                <a:solidFill>
                  <a:srgbClr val="000000"/>
                </a:solidFill>
                <a:latin typeface="Nunito"/>
                <a:ea typeface="Nunito"/>
                <a:cs typeface="Nunito"/>
                <a:sym typeface="Nunito"/>
              </a:rPr>
              <a:t> </a:t>
            </a:r>
            <a:r>
              <a:rPr lang="en-US" sz="1400">
                <a:solidFill>
                  <a:srgbClr val="000000"/>
                </a:solidFill>
                <a:latin typeface="Nunito Light"/>
                <a:ea typeface="Nunito Light"/>
                <a:cs typeface="Nunito Light"/>
                <a:sym typeface="Nunito Light"/>
              </a:rPr>
              <a:t>Bringing Light to Young Minds.</a:t>
            </a:r>
          </a:p>
          <a:p>
            <a:pPr algn="l">
              <a:lnSpc>
                <a:spcPts val="1960"/>
              </a:lnSpc>
              <a:spcBef>
                <a:spcPct val="0"/>
              </a:spcBef>
            </a:pPr>
          </a:p>
          <a:p>
            <a:pPr algn="l">
              <a:lnSpc>
                <a:spcPts val="1960"/>
              </a:lnSpc>
              <a:spcBef>
                <a:spcPct val="0"/>
              </a:spcBef>
            </a:pPr>
            <a:r>
              <a:rPr lang="en-US" sz="1400">
                <a:solidFill>
                  <a:srgbClr val="000000"/>
                </a:solidFill>
                <a:latin typeface="Nunito"/>
                <a:ea typeface="Nunito"/>
                <a:cs typeface="Nunito"/>
                <a:sym typeface="Nunito"/>
              </a:rPr>
              <a:t>No part of this publication may be reproduced, copied, distributed, stored, transmitted, or adapted in any form or by any means without prior written permission, except as permitted by applicable copyright law.</a:t>
            </a:r>
          </a:p>
          <a:p>
            <a:pPr algn="l">
              <a:lnSpc>
                <a:spcPts val="1960"/>
              </a:lnSpc>
              <a:spcBef>
                <a:spcPct val="0"/>
              </a:spcBef>
            </a:pPr>
          </a:p>
          <a:p>
            <a:pPr algn="l">
              <a:lnSpc>
                <a:spcPts val="1960"/>
              </a:lnSpc>
              <a:spcBef>
                <a:spcPct val="0"/>
              </a:spcBef>
            </a:pPr>
            <a:r>
              <a:rPr lang="en-US" sz="1400">
                <a:solidFill>
                  <a:srgbClr val="000000"/>
                </a:solidFill>
                <a:latin typeface="Nunito"/>
                <a:ea typeface="Nunito"/>
                <a:cs typeface="Nunito"/>
                <a:sym typeface="Nunito"/>
              </a:rPr>
              <a:t>This book is an educational work of fiction created to encourage curiosity, observation, questioning, experimentation, and discovery among young readers.</a:t>
            </a:r>
          </a:p>
          <a:p>
            <a:pPr algn="l">
              <a:lnSpc>
                <a:spcPts val="1960"/>
              </a:lnSpc>
              <a:spcBef>
                <a:spcPct val="0"/>
              </a:spcBef>
            </a:pPr>
          </a:p>
          <a:p>
            <a:pPr algn="l">
              <a:lnSpc>
                <a:spcPts val="1960"/>
              </a:lnSpc>
              <a:spcBef>
                <a:spcPct val="0"/>
              </a:spcBef>
            </a:pPr>
          </a:p>
          <a:p>
            <a:pPr algn="l">
              <a:lnSpc>
                <a:spcPts val="1960"/>
              </a:lnSpc>
              <a:spcBef>
                <a:spcPct val="0"/>
              </a:spcBef>
            </a:pPr>
            <a:r>
              <a:rPr lang="en-US" sz="1400">
                <a:solidFill>
                  <a:srgbClr val="000000"/>
                </a:solidFill>
                <a:latin typeface="Nunito"/>
                <a:ea typeface="Nunito"/>
                <a:cs typeface="Nunito"/>
                <a:sym typeface="Nunito"/>
              </a:rPr>
              <a:t>PHOSNOTES</a:t>
            </a:r>
          </a:p>
          <a:p>
            <a:pPr algn="l">
              <a:lnSpc>
                <a:spcPts val="1960"/>
              </a:lnSpc>
              <a:spcBef>
                <a:spcPct val="0"/>
              </a:spcBef>
            </a:pPr>
            <a:r>
              <a:rPr lang="en-US" sz="1400">
                <a:solidFill>
                  <a:srgbClr val="000000"/>
                </a:solidFill>
                <a:latin typeface="Nunito"/>
                <a:ea typeface="Nunito"/>
                <a:cs typeface="Nunito"/>
                <a:sym typeface="Nunito"/>
              </a:rPr>
              <a:t>Bringing Light to Young Minds</a:t>
            </a:r>
          </a:p>
          <a:p>
            <a:pPr algn="l">
              <a:lnSpc>
                <a:spcPts val="1960"/>
              </a:lnSpc>
              <a:spcBef>
                <a:spcPct val="0"/>
              </a:spcBef>
            </a:pPr>
          </a:p>
        </p:txBody>
      </p:sp>
      <p:sp>
        <p:nvSpPr>
          <p:cNvPr name="AutoShape 3" id="3"/>
          <p:cNvSpPr/>
          <p:nvPr/>
        </p:nvSpPr>
        <p:spPr>
          <a:xfrm>
            <a:off x="756000" y="2029854"/>
            <a:ext cx="5751563" cy="0"/>
          </a:xfrm>
          <a:prstGeom prst="line">
            <a:avLst/>
          </a:prstGeom>
          <a:ln cap="flat" w="19050">
            <a:solidFill>
              <a:srgbClr val="7A6200">
                <a:alpha val="84706"/>
              </a:srgbClr>
            </a:solidFill>
            <a:prstDash val="solid"/>
            <a:headEnd type="none" len="sm" w="sm"/>
            <a:tailEnd type="none" len="sm" w="sm"/>
          </a:ln>
        </p:spPr>
      </p:sp>
    </p:spTree>
  </p:cSld>
  <p:clrMapOvr>
    <a:masterClrMapping/>
  </p:clrMapOvr>
</p:sld>
</file>

<file path=ppt/slides/slide3.xml><?xml version="1.0" encoding="utf-8"?>
<p:sld xmlns:p="http://schemas.openxmlformats.org/presentationml/2006/main" xmlns:a="http://schemas.openxmlformats.org/drawingml/2006/main">
  <p:cSld>
    <p:bg>
      <p:bgPr>
        <a:solidFill>
          <a:srgbClr val="CCCCBC"/>
        </a:solidFill>
      </p:bgPr>
    </p:bg>
    <p:spTree>
      <p:nvGrpSpPr>
        <p:cNvPr id="1" name=""/>
        <p:cNvGrpSpPr/>
        <p:nvPr/>
      </p:nvGrpSpPr>
      <p:grpSpPr>
        <a:xfrm>
          <a:off x="0" y="0"/>
          <a:ext cx="0" cy="0"/>
          <a:chOff x="0" y="0"/>
          <a:chExt cx="0" cy="0"/>
        </a:xfrm>
      </p:grpSpPr>
      <p:sp>
        <p:nvSpPr>
          <p:cNvPr name="TextBox 2" id="2"/>
          <p:cNvSpPr txBox="true"/>
          <p:nvPr/>
        </p:nvSpPr>
        <p:spPr>
          <a:xfrm rot="0">
            <a:off x="756000" y="513112"/>
            <a:ext cx="6048000" cy="3515805"/>
          </a:xfrm>
          <a:prstGeom prst="rect">
            <a:avLst/>
          </a:prstGeom>
        </p:spPr>
        <p:txBody>
          <a:bodyPr anchor="t" rtlCol="false" tIns="0" lIns="0" bIns="0" rIns="0">
            <a:spAutoFit/>
          </a:bodyPr>
          <a:lstStyle/>
          <a:p>
            <a:pPr algn="l">
              <a:lnSpc>
                <a:spcPts val="6997"/>
              </a:lnSpc>
            </a:pPr>
            <a:r>
              <a:rPr lang="en-US" sz="3588" u="sng" b="true">
                <a:solidFill>
                  <a:srgbClr val="000000"/>
                </a:solidFill>
                <a:latin typeface="Nunito Semi-Bold"/>
                <a:ea typeface="Nunito Semi-Bold"/>
                <a:cs typeface="Nunito Semi-Bold"/>
                <a:sym typeface="Nunito Semi-Bold"/>
              </a:rPr>
              <a:t>Dedication</a:t>
            </a:r>
          </a:p>
          <a:p>
            <a:pPr algn="l">
              <a:lnSpc>
                <a:spcPts val="3509"/>
              </a:lnSpc>
            </a:pPr>
            <a:r>
              <a:rPr lang="en-US" sz="1799" b="true">
                <a:solidFill>
                  <a:srgbClr val="000000"/>
                </a:solidFill>
                <a:latin typeface="Nunito Semi-Bold"/>
                <a:ea typeface="Nunito Semi-Bold"/>
                <a:cs typeface="Nunito Semi-Bold"/>
                <a:sym typeface="Nunito Semi-Bold"/>
              </a:rPr>
              <a:t>To every little mind that asks “Why?”</a:t>
            </a:r>
          </a:p>
          <a:p>
            <a:pPr algn="l">
              <a:lnSpc>
                <a:spcPts val="3704"/>
              </a:lnSpc>
              <a:spcBef>
                <a:spcPct val="0"/>
              </a:spcBef>
            </a:pPr>
            <a:r>
              <a:rPr lang="en-US" b="true" sz="1899">
                <a:solidFill>
                  <a:srgbClr val="000000"/>
                </a:solidFill>
                <a:latin typeface="Nunito Semi-Bold"/>
                <a:ea typeface="Nunito Semi-Bold"/>
                <a:cs typeface="Nunito Semi-Bold"/>
                <a:sym typeface="Nunito Semi-Bold"/>
              </a:rPr>
              <a:t>May y</a:t>
            </a:r>
            <a:r>
              <a:rPr lang="en-US" b="true" sz="1899">
                <a:solidFill>
                  <a:srgbClr val="000000"/>
                </a:solidFill>
                <a:latin typeface="Nunito Semi-Bold"/>
                <a:ea typeface="Nunito Semi-Bold"/>
                <a:cs typeface="Nunito Semi-Bold"/>
                <a:sym typeface="Nunito Semi-Bold"/>
              </a:rPr>
              <a:t>our questions lead you to wonderful discoveries, and may you always remember that even the smallest light can help you find your way.</a:t>
            </a:r>
          </a:p>
          <a:p>
            <a:pPr algn="l">
              <a:lnSpc>
                <a:spcPts val="6997"/>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CCCCBC"/>
        </a:solidFill>
      </p:bgPr>
    </p:bg>
    <p:spTree>
      <p:nvGrpSpPr>
        <p:cNvPr id="1" name=""/>
        <p:cNvGrpSpPr/>
        <p:nvPr/>
      </p:nvGrpSpPr>
      <p:grpSpPr>
        <a:xfrm>
          <a:off x="0" y="0"/>
          <a:ext cx="0" cy="0"/>
          <a:chOff x="0" y="0"/>
          <a:chExt cx="0" cy="0"/>
        </a:xfrm>
      </p:grpSpPr>
      <p:sp>
        <p:nvSpPr>
          <p:cNvPr name="TextBox 2" id="2"/>
          <p:cNvSpPr txBox="true"/>
          <p:nvPr/>
        </p:nvSpPr>
        <p:spPr>
          <a:xfrm rot="0">
            <a:off x="756000" y="727425"/>
            <a:ext cx="6196024" cy="10024745"/>
          </a:xfrm>
          <a:prstGeom prst="rect">
            <a:avLst/>
          </a:prstGeom>
        </p:spPr>
        <p:txBody>
          <a:bodyPr anchor="t" rtlCol="false" tIns="0" lIns="0" bIns="0" rIns="0">
            <a:spAutoFit/>
          </a:bodyPr>
          <a:lstStyle/>
          <a:p>
            <a:pPr algn="ctr">
              <a:lnSpc>
                <a:spcPts val="2379"/>
              </a:lnSpc>
            </a:pPr>
            <a:r>
              <a:rPr lang="en-US" b="true" sz="1699">
                <a:gradFill>
                  <a:gsLst>
                    <a:gs pos="0">
                      <a:srgbClr val="000000">
                        <a:alpha val="100000"/>
                      </a:srgbClr>
                    </a:gs>
                    <a:gs pos="50000">
                      <a:srgbClr val="555555">
                        <a:alpha val="100000"/>
                      </a:srgbClr>
                    </a:gs>
                    <a:gs pos="100000">
                      <a:srgbClr val="0BB50E">
                        <a:alpha val="100000"/>
                      </a:srgbClr>
                    </a:gs>
                  </a:gsLst>
                  <a:path path="circle">
                    <a:fillToRect l="0" r="100000" t="0" b="100000"/>
                  </a:path>
                  <a:tileRect r="0" l="-100000" b="0" t="-100000"/>
                </a:gradFill>
                <a:latin typeface="Nunito Bold"/>
                <a:ea typeface="Nunito Bold"/>
                <a:cs typeface="Nunito Bold"/>
                <a:sym typeface="Nunito Bold"/>
              </a:rPr>
              <a:t>CHAPTER ONE</a:t>
            </a:r>
          </a:p>
          <a:p>
            <a:pPr algn="ctr">
              <a:lnSpc>
                <a:spcPts val="2379"/>
              </a:lnSpc>
            </a:pPr>
            <a:r>
              <a:rPr lang="en-US" b="true" sz="1699">
                <a:gradFill>
                  <a:gsLst>
                    <a:gs pos="0">
                      <a:srgbClr val="000000">
                        <a:alpha val="100000"/>
                      </a:srgbClr>
                    </a:gs>
                    <a:gs pos="50000">
                      <a:srgbClr val="555555">
                        <a:alpha val="100000"/>
                      </a:srgbClr>
                    </a:gs>
                    <a:gs pos="100000">
                      <a:srgbClr val="0BB50E">
                        <a:alpha val="100000"/>
                      </a:srgbClr>
                    </a:gs>
                  </a:gsLst>
                  <a:path path="circle">
                    <a:fillToRect l="0" r="100000" t="0" b="100000"/>
                  </a:path>
                  <a:tileRect r="0" l="-100000" b="0" t="-100000"/>
                </a:gradFill>
                <a:latin typeface="Nunito Bold"/>
                <a:ea typeface="Nunito Bold"/>
                <a:cs typeface="Nunito Bold"/>
                <a:sym typeface="Nunito Bold"/>
              </a:rPr>
              <a:t>The Question</a:t>
            </a:r>
          </a:p>
          <a:p>
            <a:pPr algn="l">
              <a:lnSpc>
                <a:spcPts val="2379"/>
              </a:lnSpc>
            </a:pPr>
          </a:p>
          <a:p>
            <a:pPr algn="l">
              <a:lnSpc>
                <a:spcPts val="2379"/>
              </a:lnSpc>
            </a:pPr>
          </a:p>
          <a:p>
            <a:pPr algn="l">
              <a:lnSpc>
                <a:spcPts val="2379"/>
              </a:lnSpc>
            </a:pPr>
            <a:r>
              <a:rPr lang="en-US" sz="1699">
                <a:solidFill>
                  <a:srgbClr val="000000"/>
                </a:solidFill>
                <a:latin typeface="Nunito"/>
                <a:ea typeface="Nunito"/>
                <a:cs typeface="Nunito"/>
                <a:sym typeface="Nunito"/>
              </a:rPr>
              <a:t>Lumi was almost asleep when she noticed something strange.</a:t>
            </a:r>
          </a:p>
          <a:p>
            <a:pPr algn="l">
              <a:lnSpc>
                <a:spcPts val="2379"/>
              </a:lnSpc>
            </a:pPr>
            <a:r>
              <a:rPr lang="en-US" sz="1699">
                <a:solidFill>
                  <a:srgbClr val="000000"/>
                </a:solidFill>
                <a:latin typeface="Nunito"/>
                <a:ea typeface="Nunito"/>
                <a:cs typeface="Nunito"/>
                <a:sym typeface="Nunito"/>
              </a:rPr>
              <a:t>Her bedroom was quiet, and the moon shone softly through the curtains. Everything looked familiar: her bookshelf, her little wooden chair, and the toys resting beside her bed.</a:t>
            </a:r>
          </a:p>
          <a:p>
            <a:pPr algn="l">
              <a:lnSpc>
                <a:spcPts val="2379"/>
              </a:lnSpc>
            </a:pPr>
            <a:r>
              <a:rPr lang="en-US" sz="1699">
                <a:solidFill>
                  <a:srgbClr val="000000"/>
                </a:solidFill>
                <a:latin typeface="Nunito"/>
                <a:ea typeface="Nunito"/>
                <a:cs typeface="Nunito"/>
                <a:sym typeface="Nunito"/>
              </a:rPr>
              <a:t>Then, near the corner of the room, something flickered.</a:t>
            </a:r>
          </a:p>
          <a:p>
            <a:pPr algn="l">
              <a:lnSpc>
                <a:spcPts val="2379"/>
              </a:lnSpc>
            </a:pPr>
            <a:r>
              <a:rPr lang="en-US" sz="1699">
                <a:solidFill>
                  <a:srgbClr val="000000"/>
                </a:solidFill>
                <a:latin typeface="Nunito"/>
                <a:ea typeface="Nunito"/>
                <a:cs typeface="Nunito"/>
                <a:sym typeface="Nunito"/>
              </a:rPr>
              <a:t>Lumi opened her eyes.</a:t>
            </a:r>
          </a:p>
          <a:p>
            <a:pPr algn="l">
              <a:lnSpc>
                <a:spcPts val="2379"/>
              </a:lnSpc>
            </a:pPr>
            <a:r>
              <a:rPr lang="en-US" sz="1699">
                <a:solidFill>
                  <a:srgbClr val="000000"/>
                </a:solidFill>
                <a:latin typeface="Nunito"/>
                <a:ea typeface="Nunito"/>
                <a:cs typeface="Nunito"/>
                <a:sym typeface="Nunito"/>
              </a:rPr>
              <a:t>A tiny golden glow shimmered in the darkness.</a:t>
            </a:r>
          </a:p>
          <a:p>
            <a:pPr algn="l">
              <a:lnSpc>
                <a:spcPts val="2379"/>
              </a:lnSpc>
            </a:pPr>
            <a:r>
              <a:rPr lang="en-US" sz="1699">
                <a:solidFill>
                  <a:srgbClr val="000000"/>
                </a:solidFill>
                <a:latin typeface="Nunito"/>
                <a:ea typeface="Nunito"/>
                <a:cs typeface="Nunito"/>
                <a:sym typeface="Nunito"/>
              </a:rPr>
              <a:t>“What is that?”</a:t>
            </a:r>
          </a:p>
          <a:p>
            <a:pPr algn="l">
              <a:lnSpc>
                <a:spcPts val="2379"/>
              </a:lnSpc>
            </a:pPr>
            <a:r>
              <a:rPr lang="en-US" sz="1699">
                <a:solidFill>
                  <a:srgbClr val="000000"/>
                </a:solidFill>
                <a:latin typeface="Nunito"/>
                <a:ea typeface="Nunito"/>
                <a:cs typeface="Nunito"/>
                <a:sym typeface="Nunito"/>
              </a:rPr>
              <a:t>She sat up slowly, watching the little glow. It was too warm and golden to look like moonlight, yet it was far too small to be a lamp.</a:t>
            </a:r>
          </a:p>
          <a:p>
            <a:pPr algn="l">
              <a:lnSpc>
                <a:spcPts val="2379"/>
              </a:lnSpc>
            </a:pPr>
            <a:r>
              <a:rPr lang="en-US" sz="1699">
                <a:solidFill>
                  <a:srgbClr val="000000"/>
                </a:solidFill>
                <a:latin typeface="Nunito"/>
                <a:ea typeface="Nunito"/>
                <a:cs typeface="Nunito"/>
                <a:sym typeface="Nunito"/>
              </a:rPr>
              <a:t>Lumi reached for the notebook she kept beside her pillow. Whenever she noticed something unusual, she wrote it down. She believed every great discovery began with a question.</a:t>
            </a:r>
          </a:p>
          <a:p>
            <a:pPr algn="l">
              <a:lnSpc>
                <a:spcPts val="2379"/>
              </a:lnSpc>
            </a:pPr>
            <a:r>
              <a:rPr lang="en-US" sz="1699">
                <a:solidFill>
                  <a:srgbClr val="000000"/>
                </a:solidFill>
                <a:latin typeface="Nunito"/>
                <a:ea typeface="Nunito"/>
                <a:cs typeface="Nunito"/>
                <a:sym typeface="Nunito"/>
              </a:rPr>
              <a:t>She opened to a fresh page and picked up her pencil.</a:t>
            </a:r>
          </a:p>
          <a:p>
            <a:pPr algn="l">
              <a:lnSpc>
                <a:spcPts val="2379"/>
              </a:lnSpc>
            </a:pPr>
          </a:p>
          <a:p>
            <a:pPr algn="l">
              <a:lnSpc>
                <a:spcPts val="2379"/>
              </a:lnSpc>
            </a:pPr>
            <a:r>
              <a:rPr lang="en-US" sz="1699">
                <a:gradFill>
                  <a:gsLst>
                    <a:gs pos="0">
                      <a:srgbClr val="5A0A0C">
                        <a:alpha val="100000"/>
                      </a:srgbClr>
                    </a:gs>
                    <a:gs pos="50000">
                      <a:srgbClr val="BF628C">
                        <a:alpha val="100000"/>
                      </a:srgbClr>
                    </a:gs>
                    <a:gs pos="100000">
                      <a:srgbClr val="62BF9B">
                        <a:alpha val="100000"/>
                      </a:srgbClr>
                    </a:gs>
                  </a:gsLst>
                  <a:lin ang="0"/>
                </a:gradFill>
                <a:latin typeface="Comic Sans"/>
                <a:ea typeface="Comic Sans"/>
                <a:cs typeface="Comic Sans"/>
                <a:sym typeface="Comic Sans"/>
              </a:rPr>
              <a:t>QUESTION  1</a:t>
            </a:r>
          </a:p>
          <a:p>
            <a:pPr algn="l">
              <a:lnSpc>
                <a:spcPts val="2379"/>
              </a:lnSpc>
            </a:pPr>
            <a:r>
              <a:rPr lang="en-US" sz="1699">
                <a:solidFill>
                  <a:srgbClr val="000000"/>
                </a:solidFill>
                <a:latin typeface="Nunito"/>
                <a:ea typeface="Nunito"/>
                <a:cs typeface="Nunito"/>
                <a:sym typeface="Nunito"/>
              </a:rPr>
              <a:t>Where did the little light come from?</a:t>
            </a:r>
          </a:p>
          <a:p>
            <a:pPr algn="l">
              <a:lnSpc>
                <a:spcPts val="2379"/>
              </a:lnSpc>
            </a:pPr>
          </a:p>
          <a:p>
            <a:pPr algn="l">
              <a:lnSpc>
                <a:spcPts val="2379"/>
              </a:lnSpc>
            </a:pPr>
            <a:r>
              <a:rPr lang="en-US" sz="1699">
                <a:solidFill>
                  <a:srgbClr val="000000"/>
                </a:solidFill>
                <a:latin typeface="Nunito"/>
                <a:ea typeface="Nunito"/>
                <a:cs typeface="Nunito"/>
                <a:sym typeface="Nunito"/>
              </a:rPr>
              <a:t>When she looked up again, the glow had moved.</a:t>
            </a:r>
          </a:p>
          <a:p>
            <a:pPr algn="l">
              <a:lnSpc>
                <a:spcPts val="2379"/>
              </a:lnSpc>
            </a:pPr>
            <a:r>
              <a:rPr lang="en-US" sz="1699">
                <a:solidFill>
                  <a:srgbClr val="000000"/>
                </a:solidFill>
                <a:latin typeface="Nunito"/>
                <a:ea typeface="Nunito"/>
                <a:cs typeface="Nunito"/>
                <a:sym typeface="Nunito"/>
              </a:rPr>
              <a:t>It drifted slowly towards the wooden chair.</a:t>
            </a:r>
          </a:p>
          <a:p>
            <a:pPr algn="l">
              <a:lnSpc>
                <a:spcPts val="2379"/>
              </a:lnSpc>
            </a:pPr>
            <a:r>
              <a:rPr lang="en-US" sz="1699">
                <a:solidFill>
                  <a:srgbClr val="000000"/>
                </a:solidFill>
                <a:latin typeface="Nunito"/>
                <a:ea typeface="Nunito"/>
                <a:cs typeface="Nunito"/>
                <a:sym typeface="Nunito"/>
              </a:rPr>
              <a:t>Something told her this was not an ordinary night.</a:t>
            </a:r>
          </a:p>
          <a:p>
            <a:pPr algn="l">
              <a:lnSpc>
                <a:spcPts val="2379"/>
              </a:lnSpc>
            </a:pPr>
          </a:p>
          <a:p>
            <a:pPr algn="l">
              <a:lnSpc>
                <a:spcPts val="2379"/>
              </a:lnSpc>
            </a:pPr>
          </a:p>
          <a:p>
            <a:pPr algn="l">
              <a:lnSpc>
                <a:spcPts val="2379"/>
              </a:lnSpc>
            </a:pPr>
          </a:p>
          <a:p>
            <a:pPr algn="l">
              <a:lnSpc>
                <a:spcPts val="2379"/>
              </a:lnSpc>
            </a:pPr>
          </a:p>
          <a:p>
            <a:pPr algn="l">
              <a:lnSpc>
                <a:spcPts val="2379"/>
              </a:lnSpc>
            </a:pPr>
          </a:p>
          <a:p>
            <a:pPr algn="l">
              <a:lnSpc>
                <a:spcPts val="2379"/>
              </a:lnSpc>
            </a:pPr>
          </a:p>
          <a:p>
            <a:pPr algn="ctr">
              <a:lnSpc>
                <a:spcPts val="2379"/>
              </a:lnSpc>
            </a:pPr>
          </a:p>
          <a:p>
            <a:pPr algn="l">
              <a:lnSpc>
                <a:spcPts val="2379"/>
              </a:lnSpc>
            </a:pPr>
          </a:p>
        </p:txBody>
      </p:sp>
      <p:sp>
        <p:nvSpPr>
          <p:cNvPr name="TextBox 3" id="3"/>
          <p:cNvSpPr txBox="true"/>
          <p:nvPr/>
        </p:nvSpPr>
        <p:spPr>
          <a:xfrm rot="0">
            <a:off x="3779647" y="9563255"/>
            <a:ext cx="148729" cy="372745"/>
          </a:xfrm>
          <a:prstGeom prst="rect">
            <a:avLst/>
          </a:prstGeom>
        </p:spPr>
        <p:txBody>
          <a:bodyPr anchor="t" rtlCol="false" tIns="0" lIns="0" bIns="0" rIns="0">
            <a:spAutoFit/>
          </a:bodyPr>
          <a:lstStyle/>
          <a:p>
            <a:pPr algn="ctr">
              <a:lnSpc>
                <a:spcPts val="3079"/>
              </a:lnSpc>
            </a:pPr>
            <a:r>
              <a:rPr lang="en-US" sz="2199">
                <a:solidFill>
                  <a:srgbClr val="000000"/>
                </a:solidFill>
                <a:latin typeface="Canva Sans"/>
                <a:ea typeface="Canva Sans"/>
                <a:cs typeface="Canva Sans"/>
                <a:sym typeface="Canva Sans"/>
              </a:rPr>
              <a:t>1</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CCCCBC"/>
        </a:solidFill>
      </p:bgPr>
    </p:bg>
    <p:spTree>
      <p:nvGrpSpPr>
        <p:cNvPr id="1" name=""/>
        <p:cNvGrpSpPr/>
        <p:nvPr/>
      </p:nvGrpSpPr>
      <p:grpSpPr>
        <a:xfrm>
          <a:off x="0" y="0"/>
          <a:ext cx="0" cy="0"/>
          <a:chOff x="0" y="0"/>
          <a:chExt cx="0" cy="0"/>
        </a:xfrm>
      </p:grpSpPr>
      <p:sp>
        <p:nvSpPr>
          <p:cNvPr name="TextBox 2" id="2"/>
          <p:cNvSpPr txBox="true"/>
          <p:nvPr/>
        </p:nvSpPr>
        <p:spPr>
          <a:xfrm rot="0">
            <a:off x="756000" y="727425"/>
            <a:ext cx="6048000" cy="7378700"/>
          </a:xfrm>
          <a:prstGeom prst="rect">
            <a:avLst/>
          </a:prstGeom>
        </p:spPr>
        <p:txBody>
          <a:bodyPr anchor="t" rtlCol="false" tIns="0" lIns="0" bIns="0" rIns="0">
            <a:spAutoFit/>
          </a:bodyPr>
          <a:lstStyle/>
          <a:p>
            <a:pPr algn="l">
              <a:lnSpc>
                <a:spcPts val="2799"/>
              </a:lnSpc>
            </a:pPr>
          </a:p>
          <a:p>
            <a:pPr algn="l">
              <a:lnSpc>
                <a:spcPts val="2799"/>
              </a:lnSpc>
            </a:pPr>
            <a:r>
              <a:rPr lang="en-US" sz="1999">
                <a:solidFill>
                  <a:srgbClr val="000000"/>
                </a:solidFill>
                <a:latin typeface="Nunito"/>
                <a:ea typeface="Nunito"/>
                <a:cs typeface="Nunito"/>
                <a:sym typeface="Nunito"/>
              </a:rPr>
              <a:t>Lumi slipped out of bed. Her toes touched the cool floor, and she took one careful step, then another.</a:t>
            </a:r>
          </a:p>
          <a:p>
            <a:pPr algn="l">
              <a:lnSpc>
                <a:spcPts val="2799"/>
              </a:lnSpc>
            </a:pPr>
            <a:r>
              <a:rPr lang="en-US" sz="1999">
                <a:solidFill>
                  <a:srgbClr val="000000"/>
                </a:solidFill>
                <a:latin typeface="Nunito"/>
                <a:ea typeface="Nunito"/>
                <a:cs typeface="Nunito"/>
                <a:sym typeface="Nunito"/>
              </a:rPr>
              <a:t>The golden dot slipped behind the chair.</a:t>
            </a:r>
          </a:p>
          <a:p>
            <a:pPr algn="l">
              <a:lnSpc>
                <a:spcPts val="2799"/>
              </a:lnSpc>
            </a:pPr>
            <a:r>
              <a:rPr lang="en-US" sz="1999">
                <a:solidFill>
                  <a:srgbClr val="000000"/>
                </a:solidFill>
                <a:latin typeface="Nunito"/>
                <a:ea typeface="Nunito"/>
                <a:cs typeface="Nunito"/>
                <a:sym typeface="Nunito"/>
              </a:rPr>
              <a:t>Lumi bent down to look.</a:t>
            </a:r>
          </a:p>
          <a:p>
            <a:pPr algn="l">
              <a:lnSpc>
                <a:spcPts val="2799"/>
              </a:lnSpc>
            </a:pPr>
            <a:r>
              <a:rPr lang="en-US" sz="1999">
                <a:solidFill>
                  <a:srgbClr val="000000"/>
                </a:solidFill>
                <a:latin typeface="Nunito"/>
                <a:ea typeface="Nunito"/>
                <a:cs typeface="Nunito"/>
                <a:sym typeface="Nunito"/>
              </a:rPr>
              <a:t>Nothing.</a:t>
            </a:r>
          </a:p>
          <a:p>
            <a:pPr algn="l">
              <a:lnSpc>
                <a:spcPts val="2799"/>
              </a:lnSpc>
              <a:spcBef>
                <a:spcPct val="0"/>
              </a:spcBef>
            </a:pPr>
            <a:r>
              <a:rPr lang="en-US" sz="1999">
                <a:solidFill>
                  <a:srgbClr val="000000"/>
                </a:solidFill>
                <a:latin typeface="Nunito"/>
                <a:ea typeface="Nunito"/>
                <a:cs typeface="Nunito"/>
                <a:sym typeface="Nunito"/>
              </a:rPr>
              <a:t>She checked beneath t</a:t>
            </a:r>
            <a:r>
              <a:rPr lang="en-US" sz="1999">
                <a:solidFill>
                  <a:srgbClr val="000000"/>
                </a:solidFill>
                <a:latin typeface="Nunito"/>
                <a:ea typeface="Nunito"/>
                <a:cs typeface="Nunito"/>
                <a:sym typeface="Nunito"/>
              </a:rPr>
              <a:t>he chair, behind the curtain, and beside the bookshelf. The room seemed to be holding its breath.</a:t>
            </a:r>
          </a:p>
          <a:p>
            <a:pPr algn="l">
              <a:lnSpc>
                <a:spcPts val="2799"/>
              </a:lnSpc>
              <a:spcBef>
                <a:spcPct val="0"/>
              </a:spcBef>
            </a:pPr>
            <a:r>
              <a:rPr lang="en-US" sz="1999">
                <a:solidFill>
                  <a:srgbClr val="000000"/>
                </a:solidFill>
                <a:latin typeface="Nunito"/>
                <a:ea typeface="Nunito"/>
                <a:cs typeface="Nunito"/>
                <a:sym typeface="Nunito"/>
              </a:rPr>
              <a:t>“I saw you,” she whispered. “You can't just disappear.”</a:t>
            </a:r>
          </a:p>
          <a:p>
            <a:pPr algn="l">
              <a:lnSpc>
                <a:spcPts val="2799"/>
              </a:lnSpc>
              <a:spcBef>
                <a:spcPct val="0"/>
              </a:spcBef>
            </a:pPr>
            <a:r>
              <a:rPr lang="en-US" sz="1999">
                <a:solidFill>
                  <a:srgbClr val="000000"/>
                </a:solidFill>
                <a:latin typeface="Nunito"/>
                <a:ea typeface="Nunito"/>
                <a:cs typeface="Nunito"/>
                <a:sym typeface="Nunito"/>
              </a:rPr>
              <a:t>For a moment, she wondered whether tired eyes had played a trick on her. But she knew what she had seen. And if she had seen it, there was something to investigate.</a:t>
            </a:r>
          </a:p>
          <a:p>
            <a:pPr algn="l">
              <a:lnSpc>
                <a:spcPts val="2799"/>
              </a:lnSpc>
              <a:spcBef>
                <a:spcPct val="0"/>
              </a:spcBef>
            </a:pPr>
            <a:r>
              <a:rPr lang="en-US" sz="1999">
                <a:solidFill>
                  <a:srgbClr val="000000"/>
                </a:solidFill>
                <a:latin typeface="Nunito"/>
                <a:ea typeface="Nunito"/>
                <a:cs typeface="Nunito"/>
                <a:sym typeface="Nunito"/>
              </a:rPr>
              <a:t>She opened her notebook again and wrote:</a:t>
            </a:r>
          </a:p>
          <a:p>
            <a:pPr algn="l">
              <a:lnSpc>
                <a:spcPts val="2799"/>
              </a:lnSpc>
              <a:spcBef>
                <a:spcPct val="0"/>
              </a:spcBef>
            </a:pPr>
            <a:r>
              <a:rPr lang="en-US" sz="1999">
                <a:solidFill>
                  <a:srgbClr val="000000"/>
                </a:solidFill>
                <a:latin typeface="Nunito"/>
                <a:ea typeface="Nunito"/>
                <a:cs typeface="Nunito"/>
                <a:sym typeface="Nunito"/>
              </a:rPr>
              <a:t>LOOK CAREFULLY.</a:t>
            </a:r>
          </a:p>
          <a:p>
            <a:pPr algn="l">
              <a:lnSpc>
                <a:spcPts val="2799"/>
              </a:lnSpc>
              <a:spcBef>
                <a:spcPct val="0"/>
              </a:spcBef>
            </a:pPr>
          </a:p>
          <a:p>
            <a:pPr algn="l">
              <a:lnSpc>
                <a:spcPts val="2799"/>
              </a:lnSpc>
              <a:spcBef>
                <a:spcPct val="0"/>
              </a:spcBef>
            </a:pPr>
          </a:p>
          <a:p>
            <a:pPr algn="ctr">
              <a:lnSpc>
                <a:spcPts val="2799"/>
              </a:lnSpc>
              <a:spcBef>
                <a:spcPct val="0"/>
              </a:spcBef>
            </a:pPr>
          </a:p>
          <a:p>
            <a:pPr algn="l">
              <a:lnSpc>
                <a:spcPts val="2799"/>
              </a:lnSpc>
              <a:spcBef>
                <a:spcPct val="0"/>
              </a:spcBef>
            </a:pPr>
          </a:p>
        </p:txBody>
      </p:sp>
      <p:sp>
        <p:nvSpPr>
          <p:cNvPr name="TextBox 3" id="3"/>
          <p:cNvSpPr txBox="true"/>
          <p:nvPr/>
        </p:nvSpPr>
        <p:spPr>
          <a:xfrm rot="0">
            <a:off x="756000" y="9563255"/>
            <a:ext cx="6048000" cy="372745"/>
          </a:xfrm>
          <a:prstGeom prst="rect">
            <a:avLst/>
          </a:prstGeom>
        </p:spPr>
        <p:txBody>
          <a:bodyPr anchor="t" rtlCol="false" tIns="0" lIns="0" bIns="0" rIns="0">
            <a:spAutoFit/>
          </a:bodyPr>
          <a:lstStyle/>
          <a:p>
            <a:pPr algn="ctr">
              <a:lnSpc>
                <a:spcPts val="3079"/>
              </a:lnSpc>
            </a:pPr>
            <a:r>
              <a:rPr lang="en-US" sz="2199">
                <a:solidFill>
                  <a:srgbClr val="000000"/>
                </a:solidFill>
                <a:latin typeface="Canva Sans"/>
                <a:ea typeface="Canva Sans"/>
                <a:cs typeface="Canva Sans"/>
                <a:sym typeface="Canva Sans"/>
              </a:rPr>
              <a:t>2</a:t>
            </a:r>
          </a:p>
        </p:txBody>
      </p:sp>
      <p:sp>
        <p:nvSpPr>
          <p:cNvPr name="AutoShape 4" id="4"/>
          <p:cNvSpPr/>
          <p:nvPr/>
        </p:nvSpPr>
        <p:spPr>
          <a:xfrm>
            <a:off x="756000" y="765525"/>
            <a:ext cx="5751563" cy="0"/>
          </a:xfrm>
          <a:prstGeom prst="line">
            <a:avLst/>
          </a:prstGeom>
          <a:ln cap="flat" w="19050">
            <a:solidFill>
              <a:srgbClr val="7A6200">
                <a:alpha val="84706"/>
              </a:srgbClr>
            </a:solidFill>
            <a:prstDash val="solid"/>
            <a:headEnd type="none" len="sm" w="sm"/>
            <a:tailEnd type="none" len="sm" w="sm"/>
          </a:ln>
        </p:spPr>
      </p:sp>
    </p:spTree>
  </p:cSld>
  <p:clrMapOvr>
    <a:masterClrMapping/>
  </p:clrMapOvr>
</p:sld>
</file>

<file path=ppt/slides/slide6.xml><?xml version="1.0" encoding="utf-8"?>
<p:sld xmlns:p="http://schemas.openxmlformats.org/presentationml/2006/main" xmlns:a="http://schemas.openxmlformats.org/drawingml/2006/main">
  <p:cSld>
    <p:bg>
      <p:bgPr>
        <a:solidFill>
          <a:srgbClr val="CCCCBC"/>
        </a:solidFill>
      </p:bgPr>
    </p:bg>
    <p:spTree>
      <p:nvGrpSpPr>
        <p:cNvPr id="1" name=""/>
        <p:cNvGrpSpPr/>
        <p:nvPr/>
      </p:nvGrpSpPr>
      <p:grpSpPr>
        <a:xfrm>
          <a:off x="0" y="0"/>
          <a:ext cx="0" cy="0"/>
          <a:chOff x="0" y="0"/>
          <a:chExt cx="0" cy="0"/>
        </a:xfrm>
      </p:grpSpPr>
      <p:sp>
        <p:nvSpPr>
          <p:cNvPr name="TextBox 2" id="2"/>
          <p:cNvSpPr txBox="true"/>
          <p:nvPr/>
        </p:nvSpPr>
        <p:spPr>
          <a:xfrm rot="0">
            <a:off x="756000" y="728280"/>
            <a:ext cx="6048000" cy="6683375"/>
          </a:xfrm>
          <a:prstGeom prst="rect">
            <a:avLst/>
          </a:prstGeom>
        </p:spPr>
        <p:txBody>
          <a:bodyPr anchor="t" rtlCol="false" tIns="0" lIns="0" bIns="0" rIns="0">
            <a:spAutoFit/>
          </a:bodyPr>
          <a:lstStyle/>
          <a:p>
            <a:pPr algn="l">
              <a:lnSpc>
                <a:spcPts val="2800"/>
              </a:lnSpc>
              <a:spcBef>
                <a:spcPct val="0"/>
              </a:spcBef>
            </a:pPr>
          </a:p>
          <a:p>
            <a:pPr algn="l">
              <a:lnSpc>
                <a:spcPts val="2800"/>
              </a:lnSpc>
              <a:spcBef>
                <a:spcPct val="0"/>
              </a:spcBef>
            </a:pPr>
            <a:r>
              <a:rPr lang="en-US" sz="2000">
                <a:solidFill>
                  <a:srgbClr val="000000"/>
                </a:solidFill>
                <a:latin typeface="Nunito"/>
                <a:ea typeface="Nunito"/>
                <a:cs typeface="Nunito"/>
                <a:sym typeface="Nunito"/>
              </a:rPr>
              <a:t>The next evening, Lumi prepared for her investigation.</a:t>
            </a:r>
          </a:p>
          <a:p>
            <a:pPr algn="l">
              <a:lnSpc>
                <a:spcPts val="2800"/>
              </a:lnSpc>
              <a:spcBef>
                <a:spcPct val="0"/>
              </a:spcBef>
            </a:pPr>
            <a:r>
              <a:rPr lang="en-US" sz="2000">
                <a:solidFill>
                  <a:srgbClr val="000000"/>
                </a:solidFill>
                <a:latin typeface="Nunito"/>
                <a:ea typeface="Nunito"/>
                <a:cs typeface="Nunito"/>
                <a:sym typeface="Nunito"/>
              </a:rPr>
              <a:t>She placed her notebook on the bedside table. Beside it, she arranged a pencil, a wooden block, a little spoon, and a clear drinking glass.</a:t>
            </a:r>
          </a:p>
          <a:p>
            <a:pPr algn="l">
              <a:lnSpc>
                <a:spcPts val="2800"/>
              </a:lnSpc>
              <a:spcBef>
                <a:spcPct val="0"/>
              </a:spcBef>
            </a:pPr>
            <a:r>
              <a:rPr lang="en-US" sz="2000">
                <a:solidFill>
                  <a:srgbClr val="000000"/>
                </a:solidFill>
                <a:latin typeface="Nunito"/>
                <a:ea typeface="Nunito"/>
                <a:cs typeface="Nunito"/>
                <a:sym typeface="Nunito"/>
              </a:rPr>
              <a:t>“What are those things for?” Mama asked as she came to say goodnight.</a:t>
            </a:r>
          </a:p>
          <a:p>
            <a:pPr algn="l">
              <a:lnSpc>
                <a:spcPts val="2800"/>
              </a:lnSpc>
              <a:spcBef>
                <a:spcPct val="0"/>
              </a:spcBef>
            </a:pPr>
            <a:r>
              <a:rPr lang="en-US" sz="2000">
                <a:solidFill>
                  <a:srgbClr val="000000"/>
                </a:solidFill>
                <a:latin typeface="Nunito"/>
                <a:ea typeface="Nunito"/>
                <a:cs typeface="Nunito"/>
                <a:sym typeface="Nunito"/>
              </a:rPr>
              <a:t>“Experiments,” Lumi replied.</a:t>
            </a:r>
          </a:p>
          <a:p>
            <a:pPr algn="l">
              <a:lnSpc>
                <a:spcPts val="2800"/>
              </a:lnSpc>
              <a:spcBef>
                <a:spcPct val="0"/>
              </a:spcBef>
            </a:pPr>
            <a:r>
              <a:rPr lang="en-US" sz="2000">
                <a:solidFill>
                  <a:srgbClr val="000000"/>
                </a:solidFill>
                <a:latin typeface="Nunito"/>
                <a:ea typeface="Nunito"/>
                <a:cs typeface="Nunito"/>
                <a:sym typeface="Nunito"/>
              </a:rPr>
              <a:t>Mama raised an eyebrow.</a:t>
            </a:r>
          </a:p>
          <a:p>
            <a:pPr algn="l">
              <a:lnSpc>
                <a:spcPts val="2800"/>
              </a:lnSpc>
              <a:spcBef>
                <a:spcPct val="0"/>
              </a:spcBef>
            </a:pPr>
            <a:r>
              <a:rPr lang="en-US" sz="2000">
                <a:solidFill>
                  <a:srgbClr val="000000"/>
                </a:solidFill>
                <a:latin typeface="Nunito"/>
                <a:ea typeface="Nunito"/>
                <a:cs typeface="Nunito"/>
                <a:sym typeface="Nunito"/>
              </a:rPr>
              <a:t>“Experiments?”</a:t>
            </a:r>
          </a:p>
          <a:p>
            <a:pPr algn="l">
              <a:lnSpc>
                <a:spcPts val="2800"/>
              </a:lnSpc>
              <a:spcBef>
                <a:spcPct val="0"/>
              </a:spcBef>
            </a:pPr>
            <a:r>
              <a:rPr lang="en-US" sz="2000">
                <a:solidFill>
                  <a:srgbClr val="000000"/>
                </a:solidFill>
                <a:latin typeface="Nunito"/>
                <a:ea typeface="Nunito"/>
                <a:cs typeface="Nunito"/>
                <a:sym typeface="Nunito"/>
              </a:rPr>
              <a:t>“I am investigating a light.”</a:t>
            </a:r>
          </a:p>
          <a:p>
            <a:pPr algn="l">
              <a:lnSpc>
                <a:spcPts val="2800"/>
              </a:lnSpc>
              <a:spcBef>
                <a:spcPct val="0"/>
              </a:spcBef>
            </a:pPr>
            <a:r>
              <a:rPr lang="en-US" sz="2000">
                <a:solidFill>
                  <a:srgbClr val="000000"/>
                </a:solidFill>
                <a:latin typeface="Nunito"/>
                <a:ea typeface="Nunito"/>
                <a:cs typeface="Nunito"/>
                <a:sym typeface="Nunito"/>
              </a:rPr>
              <a:t>Mama smiled. “Then I hope you discover something wonderful.”</a:t>
            </a:r>
          </a:p>
          <a:p>
            <a:pPr algn="l">
              <a:lnSpc>
                <a:spcPts val="2800"/>
              </a:lnSpc>
              <a:spcBef>
                <a:spcPct val="0"/>
              </a:spcBef>
            </a:pPr>
            <a:r>
              <a:rPr lang="en-US" sz="2000">
                <a:solidFill>
                  <a:srgbClr val="000000"/>
                </a:solidFill>
                <a:latin typeface="Nunito"/>
                <a:ea typeface="Nunito"/>
                <a:cs typeface="Nunito"/>
                <a:sym typeface="Nunito"/>
              </a:rPr>
              <a:t>“I hope so too!”</a:t>
            </a:r>
          </a:p>
          <a:p>
            <a:pPr algn="l">
              <a:lnSpc>
                <a:spcPts val="2800"/>
              </a:lnSpc>
              <a:spcBef>
                <a:spcPct val="0"/>
              </a:spcBef>
            </a:pPr>
          </a:p>
          <a:p>
            <a:pPr algn="ctr">
              <a:lnSpc>
                <a:spcPts val="2800"/>
              </a:lnSpc>
              <a:spcBef>
                <a:spcPct val="0"/>
              </a:spcBef>
            </a:pPr>
          </a:p>
          <a:p>
            <a:pPr algn="l">
              <a:lnSpc>
                <a:spcPts val="2800"/>
              </a:lnSpc>
              <a:spcBef>
                <a:spcPct val="0"/>
              </a:spcBef>
            </a:pPr>
          </a:p>
          <a:p>
            <a:pPr algn="l">
              <a:lnSpc>
                <a:spcPts val="2800"/>
              </a:lnSpc>
              <a:spcBef>
                <a:spcPct val="0"/>
              </a:spcBef>
            </a:pPr>
          </a:p>
        </p:txBody>
      </p:sp>
      <p:sp>
        <p:nvSpPr>
          <p:cNvPr name="TextBox 3" id="3"/>
          <p:cNvSpPr txBox="true"/>
          <p:nvPr/>
        </p:nvSpPr>
        <p:spPr>
          <a:xfrm rot="0">
            <a:off x="3698938" y="9563255"/>
            <a:ext cx="162123" cy="372745"/>
          </a:xfrm>
          <a:prstGeom prst="rect">
            <a:avLst/>
          </a:prstGeom>
        </p:spPr>
        <p:txBody>
          <a:bodyPr anchor="t" rtlCol="false" tIns="0" lIns="0" bIns="0" rIns="0">
            <a:spAutoFit/>
          </a:bodyPr>
          <a:lstStyle/>
          <a:p>
            <a:pPr algn="ctr">
              <a:lnSpc>
                <a:spcPts val="3079"/>
              </a:lnSpc>
            </a:pPr>
            <a:r>
              <a:rPr lang="en-US" sz="2199">
                <a:solidFill>
                  <a:srgbClr val="000000"/>
                </a:solidFill>
                <a:latin typeface="Canva Sans"/>
                <a:ea typeface="Canva Sans"/>
                <a:cs typeface="Canva Sans"/>
                <a:sym typeface="Canva Sans"/>
              </a:rPr>
              <a:t>3</a:t>
            </a:r>
          </a:p>
        </p:txBody>
      </p:sp>
      <p:sp>
        <p:nvSpPr>
          <p:cNvPr name="AutoShape 4" id="4"/>
          <p:cNvSpPr/>
          <p:nvPr/>
        </p:nvSpPr>
        <p:spPr>
          <a:xfrm>
            <a:off x="756000" y="746475"/>
            <a:ext cx="5751563" cy="0"/>
          </a:xfrm>
          <a:prstGeom prst="line">
            <a:avLst/>
          </a:prstGeom>
          <a:ln cap="flat" w="19050">
            <a:solidFill>
              <a:srgbClr val="7A6200">
                <a:alpha val="84706"/>
              </a:srgbClr>
            </a:solidFill>
            <a:prstDash val="solid"/>
            <a:headEnd type="none" len="sm" w="sm"/>
            <a:tailEnd type="none" len="sm" w="sm"/>
          </a:ln>
        </p:spPr>
      </p:sp>
    </p:spTree>
  </p:cSld>
  <p:clrMapOvr>
    <a:masterClrMapping/>
  </p:clrMapOvr>
</p:sld>
</file>

<file path=ppt/slides/slide7.xml><?xml version="1.0" encoding="utf-8"?>
<p:sld xmlns:p="http://schemas.openxmlformats.org/presentationml/2006/main" xmlns:a="http://schemas.openxmlformats.org/drawingml/2006/main">
  <p:cSld>
    <p:bg>
      <p:bgPr>
        <a:solidFill>
          <a:srgbClr val="CCCCBC"/>
        </a:solidFill>
      </p:bgPr>
    </p:bg>
    <p:spTree>
      <p:nvGrpSpPr>
        <p:cNvPr id="1" name=""/>
        <p:cNvGrpSpPr/>
        <p:nvPr/>
      </p:nvGrpSpPr>
      <p:grpSpPr>
        <a:xfrm>
          <a:off x="0" y="0"/>
          <a:ext cx="0" cy="0"/>
          <a:chOff x="0" y="0"/>
          <a:chExt cx="0" cy="0"/>
        </a:xfrm>
      </p:grpSpPr>
      <p:sp>
        <p:nvSpPr>
          <p:cNvPr name="TextBox 2" id="2"/>
          <p:cNvSpPr txBox="true"/>
          <p:nvPr/>
        </p:nvSpPr>
        <p:spPr>
          <a:xfrm rot="0">
            <a:off x="913007" y="939696"/>
            <a:ext cx="5684452" cy="7778750"/>
          </a:xfrm>
          <a:prstGeom prst="rect">
            <a:avLst/>
          </a:prstGeom>
        </p:spPr>
        <p:txBody>
          <a:bodyPr anchor="t" rtlCol="false" tIns="0" lIns="0" bIns="0" rIns="0">
            <a:spAutoFit/>
          </a:bodyPr>
          <a:lstStyle/>
          <a:p>
            <a:pPr algn="l">
              <a:lnSpc>
                <a:spcPts val="2799"/>
              </a:lnSpc>
            </a:pPr>
          </a:p>
          <a:p>
            <a:pPr algn="l">
              <a:lnSpc>
                <a:spcPts val="2799"/>
              </a:lnSpc>
            </a:pPr>
            <a:r>
              <a:rPr lang="en-US" sz="1999">
                <a:solidFill>
                  <a:srgbClr val="000000"/>
                </a:solidFill>
                <a:latin typeface="Nunito"/>
                <a:ea typeface="Nunito"/>
                <a:cs typeface="Nunito"/>
                <a:sym typeface="Nunito"/>
              </a:rPr>
              <a:t>After Mama left, Lumi switched off her lamp.</a:t>
            </a:r>
          </a:p>
          <a:p>
            <a:pPr algn="ctr">
              <a:lnSpc>
                <a:spcPts val="2799"/>
              </a:lnSpc>
            </a:pPr>
            <a:r>
              <a:rPr lang="en-US" sz="1999" b="true">
                <a:solidFill>
                  <a:srgbClr val="7A6200"/>
                </a:solidFill>
                <a:latin typeface="Nunito Semi-Bold"/>
                <a:ea typeface="Nunito Semi-Bold"/>
                <a:cs typeface="Nunito Semi-Bold"/>
                <a:sym typeface="Nunito Semi-Bold"/>
              </a:rPr>
              <a:t>Click!</a:t>
            </a:r>
          </a:p>
          <a:p>
            <a:pPr algn="l">
              <a:lnSpc>
                <a:spcPts val="2799"/>
              </a:lnSpc>
            </a:pPr>
            <a:r>
              <a:rPr lang="en-US" sz="1999">
                <a:solidFill>
                  <a:srgbClr val="000000"/>
                </a:solidFill>
                <a:latin typeface="Nunito"/>
                <a:ea typeface="Nunito"/>
                <a:cs typeface="Nunito"/>
                <a:sym typeface="Nunito"/>
              </a:rPr>
              <a:t>She waited.</a:t>
            </a:r>
          </a:p>
          <a:p>
            <a:pPr algn="l">
              <a:lnSpc>
                <a:spcPts val="2799"/>
              </a:lnSpc>
            </a:pPr>
            <a:r>
              <a:rPr lang="en-US" sz="1999">
                <a:solidFill>
                  <a:srgbClr val="000000"/>
                </a:solidFill>
                <a:latin typeface="Nunito"/>
                <a:ea typeface="Nunito"/>
                <a:cs typeface="Nunito"/>
                <a:sym typeface="Nunito"/>
              </a:rPr>
              <a:t>One minute passed.</a:t>
            </a:r>
          </a:p>
          <a:p>
            <a:pPr algn="l">
              <a:lnSpc>
                <a:spcPts val="2799"/>
              </a:lnSpc>
            </a:pPr>
            <a:r>
              <a:rPr lang="en-US" sz="1999">
                <a:solidFill>
                  <a:srgbClr val="000000"/>
                </a:solidFill>
                <a:latin typeface="Nunito"/>
                <a:ea typeface="Nunito"/>
                <a:cs typeface="Nunito"/>
                <a:sym typeface="Nunito"/>
              </a:rPr>
              <a:t>Then another.</a:t>
            </a:r>
          </a:p>
          <a:p>
            <a:pPr algn="l">
              <a:lnSpc>
                <a:spcPts val="2799"/>
              </a:lnSpc>
            </a:pPr>
            <a:r>
              <a:rPr lang="en-US" sz="1999">
                <a:solidFill>
                  <a:srgbClr val="000000"/>
                </a:solidFill>
                <a:latin typeface="Nunito"/>
                <a:ea typeface="Nunito"/>
                <a:cs typeface="Nunito"/>
                <a:sym typeface="Nunito"/>
              </a:rPr>
              <a:t>Lumi stared at the corner of her room.</a:t>
            </a:r>
          </a:p>
          <a:p>
            <a:pPr algn="l">
              <a:lnSpc>
                <a:spcPts val="2799"/>
              </a:lnSpc>
            </a:pPr>
            <a:r>
              <a:rPr lang="en-US" sz="1999">
                <a:solidFill>
                  <a:srgbClr val="000000"/>
                </a:solidFill>
                <a:latin typeface="Nunito"/>
                <a:ea typeface="Nunito"/>
                <a:cs typeface="Nunito"/>
                <a:sym typeface="Nunito"/>
              </a:rPr>
              <a:t>Nothing happened.</a:t>
            </a:r>
          </a:p>
          <a:p>
            <a:pPr algn="l">
              <a:lnSpc>
                <a:spcPts val="2799"/>
              </a:lnSpc>
            </a:pPr>
            <a:r>
              <a:rPr lang="en-US" sz="1999">
                <a:solidFill>
                  <a:srgbClr val="000000"/>
                </a:solidFill>
                <a:latin typeface="Nunito"/>
                <a:ea typeface="Nunito"/>
                <a:cs typeface="Nunito"/>
                <a:sym typeface="Nunito"/>
              </a:rPr>
              <a:t>She glanced at her notebook, then back at the bookshelf.</a:t>
            </a:r>
          </a:p>
          <a:p>
            <a:pPr algn="l">
              <a:lnSpc>
                <a:spcPts val="2799"/>
              </a:lnSpc>
            </a:pPr>
            <a:r>
              <a:rPr lang="en-US" sz="1999">
                <a:solidFill>
                  <a:srgbClr val="000000"/>
                </a:solidFill>
                <a:latin typeface="Nunito"/>
                <a:ea typeface="Nunito"/>
                <a:cs typeface="Nunito"/>
                <a:sym typeface="Nunito"/>
              </a:rPr>
              <a:t>Perhaps the little light had gone on holiday.</a:t>
            </a:r>
          </a:p>
          <a:p>
            <a:pPr algn="l">
              <a:lnSpc>
                <a:spcPts val="2799"/>
              </a:lnSpc>
            </a:pPr>
            <a:r>
              <a:rPr lang="en-US" sz="1999">
                <a:solidFill>
                  <a:srgbClr val="000000"/>
                </a:solidFill>
                <a:latin typeface="Nunito"/>
                <a:ea typeface="Nunito"/>
                <a:cs typeface="Nunito"/>
                <a:sym typeface="Nunito"/>
              </a:rPr>
              <a:t>Lumi almost giggled at the thought.</a:t>
            </a:r>
          </a:p>
          <a:p>
            <a:pPr algn="l">
              <a:lnSpc>
                <a:spcPts val="2799"/>
              </a:lnSpc>
            </a:pPr>
            <a:r>
              <a:rPr lang="en-US" sz="1999">
                <a:solidFill>
                  <a:srgbClr val="000000"/>
                </a:solidFill>
                <a:latin typeface="Nunito"/>
                <a:ea typeface="Nunito"/>
                <a:cs typeface="Nunito"/>
                <a:sym typeface="Nunito"/>
              </a:rPr>
              <a:t>Just as she reached for the lamp switch</a:t>
            </a:r>
          </a:p>
          <a:p>
            <a:pPr algn="l">
              <a:lnSpc>
                <a:spcPts val="2799"/>
              </a:lnSpc>
            </a:pPr>
          </a:p>
          <a:p>
            <a:pPr algn="ctr">
              <a:lnSpc>
                <a:spcPts val="3219"/>
              </a:lnSpc>
            </a:pPr>
            <a:r>
              <a:rPr lang="en-US" sz="2299" b="true">
                <a:solidFill>
                  <a:srgbClr val="5A0A0C"/>
                </a:solidFill>
                <a:latin typeface="Nunito Semi-Bold"/>
                <a:ea typeface="Nunito Semi-Bold"/>
                <a:cs typeface="Nunito Semi-Bold"/>
                <a:sym typeface="Nunito Semi-Bold"/>
              </a:rPr>
              <a:t>GLOW!</a:t>
            </a:r>
          </a:p>
          <a:p>
            <a:pPr algn="ctr">
              <a:lnSpc>
                <a:spcPts val="2799"/>
              </a:lnSpc>
            </a:pPr>
            <a:r>
              <a:rPr lang="en-US" sz="1999">
                <a:solidFill>
                  <a:srgbClr val="000000"/>
                </a:solidFill>
                <a:latin typeface="Nunito"/>
                <a:ea typeface="Nunito"/>
                <a:cs typeface="Nunito"/>
                <a:sym typeface="Nunito"/>
              </a:rPr>
              <a:t>There it was!</a:t>
            </a:r>
          </a:p>
          <a:p>
            <a:pPr algn="ctr">
              <a:lnSpc>
                <a:spcPts val="2799"/>
              </a:lnSpc>
            </a:pPr>
          </a:p>
          <a:p>
            <a:pPr algn="ctr">
              <a:lnSpc>
                <a:spcPts val="2799"/>
              </a:lnSpc>
            </a:pPr>
          </a:p>
          <a:p>
            <a:pPr algn="ctr">
              <a:lnSpc>
                <a:spcPts val="2799"/>
              </a:lnSpc>
            </a:pPr>
          </a:p>
          <a:p>
            <a:pPr algn="ctr">
              <a:lnSpc>
                <a:spcPts val="2799"/>
              </a:lnSpc>
            </a:pPr>
          </a:p>
          <a:p>
            <a:pPr algn="ctr">
              <a:lnSpc>
                <a:spcPts val="2799"/>
              </a:lnSpc>
            </a:pPr>
          </a:p>
          <a:p>
            <a:pPr algn="l">
              <a:lnSpc>
                <a:spcPts val="2799"/>
              </a:lnSpc>
            </a:pPr>
          </a:p>
        </p:txBody>
      </p:sp>
      <p:sp>
        <p:nvSpPr>
          <p:cNvPr name="TextBox 3" id="3"/>
          <p:cNvSpPr txBox="true"/>
          <p:nvPr/>
        </p:nvSpPr>
        <p:spPr>
          <a:xfrm rot="0">
            <a:off x="3695466" y="9563255"/>
            <a:ext cx="169069" cy="372745"/>
          </a:xfrm>
          <a:prstGeom prst="rect">
            <a:avLst/>
          </a:prstGeom>
        </p:spPr>
        <p:txBody>
          <a:bodyPr anchor="t" rtlCol="false" tIns="0" lIns="0" bIns="0" rIns="0">
            <a:spAutoFit/>
          </a:bodyPr>
          <a:lstStyle/>
          <a:p>
            <a:pPr algn="ctr">
              <a:lnSpc>
                <a:spcPts val="3079"/>
              </a:lnSpc>
            </a:pPr>
            <a:r>
              <a:rPr lang="en-US" sz="2199">
                <a:solidFill>
                  <a:srgbClr val="000000"/>
                </a:solidFill>
                <a:latin typeface="Canva Sans"/>
                <a:ea typeface="Canva Sans"/>
                <a:cs typeface="Canva Sans"/>
                <a:sym typeface="Canva Sans"/>
              </a:rPr>
              <a:t>4</a:t>
            </a:r>
          </a:p>
        </p:txBody>
      </p:sp>
      <p:sp>
        <p:nvSpPr>
          <p:cNvPr name="AutoShape 4" id="4"/>
          <p:cNvSpPr/>
          <p:nvPr/>
        </p:nvSpPr>
        <p:spPr>
          <a:xfrm>
            <a:off x="845895" y="765525"/>
            <a:ext cx="5751563" cy="0"/>
          </a:xfrm>
          <a:prstGeom prst="line">
            <a:avLst/>
          </a:prstGeom>
          <a:ln cap="flat" w="19050">
            <a:solidFill>
              <a:srgbClr val="7A6200">
                <a:alpha val="84706"/>
              </a:srgbClr>
            </a:solidFill>
            <a:prstDash val="solid"/>
            <a:headEnd type="none" len="sm" w="sm"/>
            <a:tailEnd type="none" len="sm" w="sm"/>
          </a:ln>
        </p:spPr>
      </p:sp>
    </p:spTree>
  </p:cSld>
  <p:clrMapOvr>
    <a:masterClrMapping/>
  </p:clrMapOvr>
</p:sld>
</file>

<file path=ppt/slides/slide8.xml><?xml version="1.0" encoding="utf-8"?>
<p:sld xmlns:p="http://schemas.openxmlformats.org/presentationml/2006/main" xmlns:a="http://schemas.openxmlformats.org/drawingml/2006/main">
  <p:cSld>
    <p:bg>
      <p:bgPr>
        <a:solidFill>
          <a:srgbClr val="CCCCBC"/>
        </a:solidFill>
      </p:bgPr>
    </p:bg>
    <p:spTree>
      <p:nvGrpSpPr>
        <p:cNvPr id="1" name=""/>
        <p:cNvGrpSpPr/>
        <p:nvPr/>
      </p:nvGrpSpPr>
      <p:grpSpPr>
        <a:xfrm>
          <a:off x="0" y="0"/>
          <a:ext cx="0" cy="0"/>
          <a:chOff x="0" y="0"/>
          <a:chExt cx="0" cy="0"/>
        </a:xfrm>
      </p:grpSpPr>
      <p:sp>
        <p:nvSpPr>
          <p:cNvPr name="TextBox 2" id="2"/>
          <p:cNvSpPr txBox="true"/>
          <p:nvPr/>
        </p:nvSpPr>
        <p:spPr>
          <a:xfrm rot="0">
            <a:off x="756000" y="939501"/>
            <a:ext cx="6048000" cy="8004175"/>
          </a:xfrm>
          <a:prstGeom prst="rect">
            <a:avLst/>
          </a:prstGeom>
        </p:spPr>
        <p:txBody>
          <a:bodyPr anchor="t" rtlCol="false" tIns="0" lIns="0" bIns="0" rIns="0">
            <a:spAutoFit/>
          </a:bodyPr>
          <a:lstStyle/>
          <a:p>
            <a:pPr algn="l">
              <a:lnSpc>
                <a:spcPts val="2100"/>
              </a:lnSpc>
            </a:pPr>
            <a:r>
              <a:rPr lang="en-US" sz="1500">
                <a:gradFill>
                  <a:gsLst>
                    <a:gs pos="0">
                      <a:srgbClr val="000000">
                        <a:alpha val="100000"/>
                      </a:srgbClr>
                    </a:gs>
                    <a:gs pos="50000">
                      <a:srgbClr val="555555">
                        <a:alpha val="100000"/>
                      </a:srgbClr>
                    </a:gs>
                    <a:gs pos="100000">
                      <a:srgbClr val="0BB50E">
                        <a:alpha val="100000"/>
                      </a:srgbClr>
                    </a:gs>
                  </a:gsLst>
                  <a:path path="circle">
                    <a:fillToRect l="0" r="100000" t="0" b="100000"/>
                  </a:path>
                  <a:tileRect r="0" l="-100000" b="0" t="-100000"/>
                </a:gradFill>
                <a:latin typeface="Nunito"/>
                <a:ea typeface="Nunito"/>
                <a:cs typeface="Nunito"/>
                <a:sym typeface="Nunito"/>
              </a:rPr>
              <a:t>·</a:t>
            </a:r>
          </a:p>
          <a:p>
            <a:pPr algn="l">
              <a:lnSpc>
                <a:spcPts val="2800"/>
              </a:lnSpc>
            </a:pPr>
            <a:r>
              <a:rPr lang="en-US" sz="2000">
                <a:solidFill>
                  <a:srgbClr val="000000"/>
                </a:solidFill>
                <a:latin typeface="Nunito"/>
                <a:ea typeface="Nunito"/>
                <a:cs typeface="Nunito"/>
                <a:sym typeface="Nunito"/>
              </a:rPr>
              <a:t>The tiny golden light floated beside Lumi’s bookshelf.</a:t>
            </a:r>
          </a:p>
          <a:p>
            <a:pPr algn="l">
              <a:lnSpc>
                <a:spcPts val="2800"/>
              </a:lnSpc>
            </a:pPr>
            <a:r>
              <a:rPr lang="en-US" sz="2000">
                <a:solidFill>
                  <a:srgbClr val="000000"/>
                </a:solidFill>
                <a:latin typeface="Nunito"/>
                <a:ea typeface="Nunito"/>
                <a:cs typeface="Nunito"/>
                <a:sym typeface="Nunito"/>
              </a:rPr>
              <a:t>Lumi sat up straight.</a:t>
            </a:r>
          </a:p>
          <a:p>
            <a:pPr algn="l">
              <a:lnSpc>
                <a:spcPts val="2800"/>
              </a:lnSpc>
            </a:pPr>
            <a:r>
              <a:rPr lang="en-US" sz="2000">
                <a:solidFill>
                  <a:srgbClr val="000000"/>
                </a:solidFill>
                <a:latin typeface="Nunito"/>
                <a:ea typeface="Nunito"/>
                <a:cs typeface="Nunito"/>
                <a:sym typeface="Nunito"/>
              </a:rPr>
              <a:t>“I knew you would come back!”</a:t>
            </a:r>
          </a:p>
          <a:p>
            <a:pPr algn="l">
              <a:lnSpc>
                <a:spcPts val="2800"/>
              </a:lnSpc>
            </a:pPr>
            <a:r>
              <a:rPr lang="en-US" sz="2000">
                <a:solidFill>
                  <a:srgbClr val="000000"/>
                </a:solidFill>
                <a:latin typeface="Nunito"/>
                <a:ea typeface="Nunito"/>
                <a:cs typeface="Nunito"/>
                <a:sym typeface="Nunito"/>
              </a:rPr>
              <a:t>The light bobbed gently in the air, as though it had heard her.</a:t>
            </a:r>
          </a:p>
          <a:p>
            <a:pPr algn="l">
              <a:lnSpc>
                <a:spcPts val="2800"/>
              </a:lnSpc>
            </a:pPr>
            <a:r>
              <a:rPr lang="en-US" sz="2000">
                <a:solidFill>
                  <a:srgbClr val="000000"/>
                </a:solidFill>
                <a:latin typeface="Nunito"/>
                <a:ea typeface="Nunito"/>
                <a:cs typeface="Nunito"/>
                <a:sym typeface="Nunito"/>
              </a:rPr>
              <a:t>Then it moved towards her.</a:t>
            </a:r>
          </a:p>
          <a:p>
            <a:pPr algn="l">
              <a:lnSpc>
                <a:spcPts val="2800"/>
              </a:lnSpc>
            </a:pPr>
            <a:r>
              <a:rPr lang="en-US" sz="2000">
                <a:solidFill>
                  <a:srgbClr val="000000"/>
                </a:solidFill>
                <a:latin typeface="Nunito"/>
                <a:ea typeface="Nunito"/>
                <a:cs typeface="Nunito"/>
                <a:sym typeface="Nunito"/>
              </a:rPr>
              <a:t>Lumi held her breath.</a:t>
            </a:r>
          </a:p>
          <a:p>
            <a:pPr algn="l">
              <a:lnSpc>
                <a:spcPts val="2800"/>
              </a:lnSpc>
            </a:pPr>
            <a:r>
              <a:rPr lang="en-US" sz="2000">
                <a:solidFill>
                  <a:srgbClr val="000000"/>
                </a:solidFill>
                <a:latin typeface="Nunito"/>
                <a:ea typeface="Nunito"/>
                <a:cs typeface="Nunito"/>
                <a:sym typeface="Nunito"/>
              </a:rPr>
              <a:t>The glow grew brighter and brighter until the golden light filled the space between them.</a:t>
            </a:r>
          </a:p>
          <a:p>
            <a:pPr algn="l">
              <a:lnSpc>
                <a:spcPts val="2800"/>
              </a:lnSpc>
            </a:pPr>
            <a:r>
              <a:rPr lang="en-US" sz="2000">
                <a:solidFill>
                  <a:srgbClr val="000000"/>
                </a:solidFill>
                <a:latin typeface="Nunito"/>
                <a:ea typeface="Nunito"/>
                <a:cs typeface="Nunito"/>
                <a:sym typeface="Nunito"/>
              </a:rPr>
              <a:t>Then something extraordinary happened.</a:t>
            </a:r>
          </a:p>
          <a:p>
            <a:pPr algn="l">
              <a:lnSpc>
                <a:spcPts val="2800"/>
              </a:lnSpc>
            </a:pPr>
            <a:r>
              <a:rPr lang="en-US" sz="2000">
                <a:solidFill>
                  <a:srgbClr val="000000"/>
                </a:solidFill>
                <a:latin typeface="Nunito"/>
                <a:ea typeface="Nunito"/>
                <a:cs typeface="Nunito"/>
                <a:sym typeface="Nunito"/>
              </a:rPr>
              <a:t>Two tiny eyes appeared in the golden light.</a:t>
            </a:r>
          </a:p>
          <a:p>
            <a:pPr algn="l">
              <a:lnSpc>
                <a:spcPts val="2800"/>
              </a:lnSpc>
            </a:pPr>
            <a:r>
              <a:rPr lang="en-US" sz="2000">
                <a:solidFill>
                  <a:srgbClr val="000000"/>
                </a:solidFill>
                <a:latin typeface="Nunito"/>
                <a:ea typeface="Nunito"/>
                <a:cs typeface="Nunito"/>
                <a:sym typeface="Nunito"/>
              </a:rPr>
              <a:t>Lumi blinked.</a:t>
            </a:r>
          </a:p>
          <a:p>
            <a:pPr algn="l">
              <a:lnSpc>
                <a:spcPts val="2800"/>
              </a:lnSpc>
            </a:pPr>
            <a:r>
              <a:rPr lang="en-US" sz="2000">
                <a:solidFill>
                  <a:srgbClr val="000000"/>
                </a:solidFill>
                <a:latin typeface="Nunito"/>
                <a:ea typeface="Nunito"/>
                <a:cs typeface="Nunito"/>
                <a:sym typeface="Nunito"/>
              </a:rPr>
              <a:t>A little smiling mouth appeared beneath them.</a:t>
            </a:r>
          </a:p>
          <a:p>
            <a:pPr algn="l">
              <a:lnSpc>
                <a:spcPts val="2800"/>
              </a:lnSpc>
            </a:pPr>
            <a:r>
              <a:rPr lang="en-US" sz="2000">
                <a:solidFill>
                  <a:srgbClr val="000000"/>
                </a:solidFill>
                <a:latin typeface="Nunito"/>
                <a:ea typeface="Nunito"/>
                <a:cs typeface="Nunito"/>
                <a:sym typeface="Nunito"/>
              </a:rPr>
              <a:t>And then, with a delicate shimmer, two tiny wings unfolded from the glow.</a:t>
            </a:r>
          </a:p>
          <a:p>
            <a:pPr algn="l">
              <a:lnSpc>
                <a:spcPts val="2800"/>
              </a:lnSpc>
            </a:pPr>
            <a:r>
              <a:rPr lang="en-US" sz="2000">
                <a:solidFill>
                  <a:srgbClr val="000000"/>
                </a:solidFill>
                <a:latin typeface="Nunito"/>
                <a:ea typeface="Nunito"/>
                <a:cs typeface="Nunito"/>
                <a:sym typeface="Nunito"/>
              </a:rPr>
              <a:t>Lumi stared in amazement.</a:t>
            </a:r>
          </a:p>
          <a:p>
            <a:pPr algn="l">
              <a:lnSpc>
                <a:spcPts val="2800"/>
              </a:lnSpc>
            </a:pPr>
            <a:r>
              <a:rPr lang="en-US" sz="2000">
                <a:solidFill>
                  <a:srgbClr val="000000"/>
                </a:solidFill>
                <a:latin typeface="Nunito"/>
                <a:ea typeface="Nunito"/>
                <a:cs typeface="Nunito"/>
                <a:sym typeface="Nunito"/>
              </a:rPr>
              <a:t>Hovering right in front of her nose was a creature no bigger than a plum.</a:t>
            </a:r>
          </a:p>
          <a:p>
            <a:pPr algn="l">
              <a:lnSpc>
                <a:spcPts val="2800"/>
              </a:lnSpc>
            </a:pPr>
          </a:p>
          <a:p>
            <a:pPr algn="l">
              <a:lnSpc>
                <a:spcPts val="2800"/>
              </a:lnSpc>
            </a:pPr>
            <a:r>
              <a:rPr lang="en-US" sz="2000">
                <a:solidFill>
                  <a:srgbClr val="000000"/>
                </a:solidFill>
                <a:latin typeface="Nunito"/>
                <a:ea typeface="Nunito"/>
                <a:cs typeface="Nunito"/>
                <a:sym typeface="Nunito"/>
              </a:rPr>
              <a:t>                                           </a:t>
            </a:r>
          </a:p>
          <a:p>
            <a:pPr algn="l">
              <a:lnSpc>
                <a:spcPts val="2800"/>
              </a:lnSpc>
            </a:pPr>
          </a:p>
        </p:txBody>
      </p:sp>
      <p:sp>
        <p:nvSpPr>
          <p:cNvPr name="TextBox 3" id="3"/>
          <p:cNvSpPr txBox="true"/>
          <p:nvPr/>
        </p:nvSpPr>
        <p:spPr>
          <a:xfrm rot="0">
            <a:off x="3697450" y="9462071"/>
            <a:ext cx="165100" cy="372745"/>
          </a:xfrm>
          <a:prstGeom prst="rect">
            <a:avLst/>
          </a:prstGeom>
        </p:spPr>
        <p:txBody>
          <a:bodyPr anchor="t" rtlCol="false" tIns="0" lIns="0" bIns="0" rIns="0">
            <a:spAutoFit/>
          </a:bodyPr>
          <a:lstStyle/>
          <a:p>
            <a:pPr algn="ctr">
              <a:lnSpc>
                <a:spcPts val="3079"/>
              </a:lnSpc>
            </a:pPr>
            <a:r>
              <a:rPr lang="en-US" sz="2199">
                <a:solidFill>
                  <a:srgbClr val="000000"/>
                </a:solidFill>
                <a:latin typeface="Canva Sans"/>
                <a:ea typeface="Canva Sans"/>
                <a:cs typeface="Canva Sans"/>
                <a:sym typeface="Canva Sans"/>
              </a:rPr>
              <a:t>5</a:t>
            </a:r>
          </a:p>
        </p:txBody>
      </p:sp>
      <p:sp>
        <p:nvSpPr>
          <p:cNvPr name="AutoShape 4" id="4"/>
          <p:cNvSpPr/>
          <p:nvPr/>
        </p:nvSpPr>
        <p:spPr>
          <a:xfrm>
            <a:off x="756000" y="746475"/>
            <a:ext cx="5751563" cy="0"/>
          </a:xfrm>
          <a:prstGeom prst="line">
            <a:avLst/>
          </a:prstGeom>
          <a:ln cap="flat" w="19050">
            <a:solidFill>
              <a:srgbClr val="7A6200">
                <a:alpha val="84706"/>
              </a:srgbClr>
            </a:solidFill>
            <a:prstDash val="solid"/>
            <a:headEnd type="none" len="sm" w="sm"/>
            <a:tailEnd type="none" len="sm" w="sm"/>
          </a:ln>
        </p:spPr>
      </p:sp>
    </p:spTree>
  </p:cSld>
  <p:clrMapOvr>
    <a:masterClrMapping/>
  </p:clrMapOvr>
</p:sld>
</file>

<file path=ppt/slides/slide9.xml><?xml version="1.0" encoding="utf-8"?>
<p:sld xmlns:p="http://schemas.openxmlformats.org/presentationml/2006/main" xmlns:a="http://schemas.openxmlformats.org/drawingml/2006/main">
  <p:cSld>
    <p:bg>
      <p:bgPr>
        <a:solidFill>
          <a:srgbClr val="CCCCBC"/>
        </a:solidFill>
      </p:bgPr>
    </p:bg>
    <p:spTree>
      <p:nvGrpSpPr>
        <p:cNvPr id="1" name=""/>
        <p:cNvGrpSpPr/>
        <p:nvPr/>
      </p:nvGrpSpPr>
      <p:grpSpPr>
        <a:xfrm>
          <a:off x="0" y="0"/>
          <a:ext cx="0" cy="0"/>
          <a:chOff x="0" y="0"/>
          <a:chExt cx="0" cy="0"/>
        </a:xfrm>
      </p:grpSpPr>
      <p:sp>
        <p:nvSpPr>
          <p:cNvPr name="TextBox 2" id="2"/>
          <p:cNvSpPr txBox="true"/>
          <p:nvPr/>
        </p:nvSpPr>
        <p:spPr>
          <a:xfrm rot="0">
            <a:off x="756000" y="717900"/>
            <a:ext cx="5928250" cy="8093075"/>
          </a:xfrm>
          <a:prstGeom prst="rect">
            <a:avLst/>
          </a:prstGeom>
        </p:spPr>
        <p:txBody>
          <a:bodyPr anchor="t" rtlCol="false" tIns="0" lIns="0" bIns="0" rIns="0">
            <a:spAutoFit/>
          </a:bodyPr>
          <a:lstStyle/>
          <a:p>
            <a:pPr algn="l">
              <a:lnSpc>
                <a:spcPts val="2800"/>
              </a:lnSpc>
            </a:pPr>
          </a:p>
          <a:p>
            <a:pPr algn="l">
              <a:lnSpc>
                <a:spcPts val="2800"/>
              </a:lnSpc>
            </a:pPr>
            <a:r>
              <a:rPr lang="en-US" sz="2000">
                <a:solidFill>
                  <a:srgbClr val="000000"/>
                </a:solidFill>
                <a:latin typeface="Nunito"/>
                <a:ea typeface="Nunito"/>
                <a:cs typeface="Nunito"/>
                <a:sym typeface="Nunito"/>
              </a:rPr>
              <a:t>For several seconds, neither of them moved.</a:t>
            </a:r>
          </a:p>
          <a:p>
            <a:pPr algn="l">
              <a:lnSpc>
                <a:spcPts val="2800"/>
              </a:lnSpc>
            </a:pPr>
            <a:r>
              <a:rPr lang="en-US" sz="2000">
                <a:solidFill>
                  <a:srgbClr val="000000"/>
                </a:solidFill>
                <a:latin typeface="Nunito"/>
                <a:ea typeface="Nunito"/>
                <a:cs typeface="Nunito"/>
                <a:sym typeface="Nunito"/>
              </a:rPr>
              <a:t>Lumi stared at the tiny creature. The creature stared back.</a:t>
            </a:r>
          </a:p>
          <a:p>
            <a:pPr algn="l">
              <a:lnSpc>
                <a:spcPts val="2800"/>
              </a:lnSpc>
            </a:pPr>
            <a:r>
              <a:rPr lang="en-US" sz="2000">
                <a:solidFill>
                  <a:srgbClr val="000000"/>
                </a:solidFill>
                <a:latin typeface="Nunito"/>
                <a:ea typeface="Nunito"/>
                <a:cs typeface="Nunito"/>
                <a:sym typeface="Nunito"/>
              </a:rPr>
              <a:t>Then Lumi leaned forward.</a:t>
            </a:r>
          </a:p>
          <a:p>
            <a:pPr algn="l">
              <a:lnSpc>
                <a:spcPts val="2800"/>
              </a:lnSpc>
            </a:pPr>
            <a:r>
              <a:rPr lang="en-US" sz="2000">
                <a:solidFill>
                  <a:srgbClr val="000000"/>
                </a:solidFill>
                <a:latin typeface="Nunito"/>
                <a:ea typeface="Nunito"/>
                <a:cs typeface="Nunito"/>
                <a:sym typeface="Nunito"/>
              </a:rPr>
              <a:t>“Are you real?”</a:t>
            </a:r>
          </a:p>
          <a:p>
            <a:pPr algn="l">
              <a:lnSpc>
                <a:spcPts val="2800"/>
              </a:lnSpc>
            </a:pPr>
            <a:r>
              <a:rPr lang="en-US" sz="2000">
                <a:solidFill>
                  <a:srgbClr val="000000"/>
                </a:solidFill>
                <a:latin typeface="Nunito"/>
                <a:ea typeface="Nunito"/>
                <a:cs typeface="Nunito"/>
                <a:sym typeface="Nunito"/>
              </a:rPr>
              <a:t>The little creature tilted its head.</a:t>
            </a:r>
          </a:p>
          <a:p>
            <a:pPr algn="l">
              <a:lnSpc>
                <a:spcPts val="2800"/>
              </a:lnSpc>
            </a:pPr>
            <a:r>
              <a:rPr lang="en-US" sz="2000">
                <a:solidFill>
                  <a:srgbClr val="000000"/>
                </a:solidFill>
                <a:latin typeface="Nunito"/>
                <a:ea typeface="Nunito"/>
                <a:cs typeface="Nunito"/>
                <a:sym typeface="Nunito"/>
              </a:rPr>
              <a:t>“Are you?”</a:t>
            </a:r>
          </a:p>
          <a:p>
            <a:pPr algn="l">
              <a:lnSpc>
                <a:spcPts val="2800"/>
              </a:lnSpc>
            </a:pPr>
            <a:r>
              <a:rPr lang="en-US" sz="2000">
                <a:solidFill>
                  <a:srgbClr val="000000"/>
                </a:solidFill>
                <a:latin typeface="Nunito"/>
                <a:ea typeface="Nunito"/>
                <a:cs typeface="Nunito"/>
                <a:sym typeface="Nunito"/>
              </a:rPr>
              <a:t>Lumi's mouth fell open.</a:t>
            </a:r>
          </a:p>
          <a:p>
            <a:pPr algn="l">
              <a:lnSpc>
                <a:spcPts val="2800"/>
              </a:lnSpc>
            </a:pPr>
            <a:r>
              <a:rPr lang="en-US" sz="2000">
                <a:solidFill>
                  <a:srgbClr val="000000"/>
                </a:solidFill>
                <a:latin typeface="Nunito"/>
                <a:ea typeface="Nunito"/>
                <a:cs typeface="Nunito"/>
                <a:sym typeface="Nunito"/>
              </a:rPr>
              <a:t>The creature giggled. Its wings fluttered so quickly that they made a faint, musical buzzing sound.</a:t>
            </a:r>
          </a:p>
          <a:p>
            <a:pPr algn="l">
              <a:lnSpc>
                <a:spcPts val="2800"/>
              </a:lnSpc>
            </a:pPr>
            <a:r>
              <a:rPr lang="en-US" sz="2000">
                <a:solidFill>
                  <a:srgbClr val="000000"/>
                </a:solidFill>
                <a:latin typeface="Nunito"/>
                <a:ea typeface="Nunito"/>
                <a:cs typeface="Nunito"/>
                <a:sym typeface="Nunito"/>
              </a:rPr>
              <a:t>“You can talk!” Lumi whispered.</a:t>
            </a:r>
          </a:p>
          <a:p>
            <a:pPr algn="l">
              <a:lnSpc>
                <a:spcPts val="2800"/>
              </a:lnSpc>
            </a:pPr>
            <a:r>
              <a:rPr lang="en-US" sz="2000">
                <a:solidFill>
                  <a:srgbClr val="000000"/>
                </a:solidFill>
                <a:latin typeface="Nunito"/>
                <a:ea typeface="Nunito"/>
                <a:cs typeface="Nunito"/>
                <a:sym typeface="Nunito"/>
              </a:rPr>
              <a:t>“Of course I can,” the creature replied. “Can you?”</a:t>
            </a:r>
          </a:p>
          <a:p>
            <a:pPr algn="l">
              <a:lnSpc>
                <a:spcPts val="2800"/>
              </a:lnSpc>
            </a:pPr>
            <a:r>
              <a:rPr lang="en-US" sz="2000">
                <a:solidFill>
                  <a:srgbClr val="000000"/>
                </a:solidFill>
                <a:latin typeface="Nunito"/>
                <a:ea typeface="Nunito"/>
                <a:cs typeface="Nunito"/>
                <a:sym typeface="Nunito"/>
              </a:rPr>
              <a:t>Lumi laughed. “I certainly can! My name is Lumi. What's yours?”</a:t>
            </a:r>
          </a:p>
          <a:p>
            <a:pPr algn="l">
              <a:lnSpc>
                <a:spcPts val="2800"/>
              </a:lnSpc>
            </a:pPr>
            <a:r>
              <a:rPr lang="en-US" sz="2000">
                <a:solidFill>
                  <a:srgbClr val="000000"/>
                </a:solidFill>
                <a:latin typeface="Nunito"/>
                <a:ea typeface="Nunito"/>
                <a:cs typeface="Nunito"/>
                <a:sym typeface="Nunito"/>
              </a:rPr>
              <a:t>The creature spun once in the air, leaving a brief golden trail behind it.</a:t>
            </a:r>
          </a:p>
          <a:p>
            <a:pPr algn="l">
              <a:lnSpc>
                <a:spcPts val="2800"/>
              </a:lnSpc>
            </a:pPr>
            <a:r>
              <a:rPr lang="en-US" sz="2000">
                <a:solidFill>
                  <a:srgbClr val="000000"/>
                </a:solidFill>
                <a:latin typeface="Nunito"/>
                <a:ea typeface="Nunito"/>
                <a:cs typeface="Nunito"/>
                <a:sym typeface="Nunito"/>
              </a:rPr>
              <a:t>“Piko!”</a:t>
            </a:r>
          </a:p>
          <a:p>
            <a:pPr algn="l">
              <a:lnSpc>
                <a:spcPts val="2800"/>
              </a:lnSpc>
            </a:pPr>
            <a:r>
              <a:rPr lang="en-US" sz="2000">
                <a:solidFill>
                  <a:srgbClr val="000000"/>
                </a:solidFill>
                <a:latin typeface="Nunito"/>
                <a:ea typeface="Nunito"/>
                <a:cs typeface="Nunito"/>
                <a:sym typeface="Nunito"/>
              </a:rPr>
              <a:t>“Piko,” Lumi repeated, carefully writing the name in her notebook. “And what exactly are you?”</a:t>
            </a:r>
          </a:p>
          <a:p>
            <a:pPr algn="l">
              <a:lnSpc>
                <a:spcPts val="2800"/>
              </a:lnSpc>
            </a:pPr>
            <a:r>
              <a:rPr lang="en-US" sz="2000">
                <a:solidFill>
                  <a:srgbClr val="000000"/>
                </a:solidFill>
                <a:latin typeface="Nunito"/>
                <a:ea typeface="Nunito"/>
                <a:cs typeface="Nunito"/>
                <a:sym typeface="Nunito"/>
              </a:rPr>
              <a:t>Piko's smile grew wider.</a:t>
            </a:r>
          </a:p>
          <a:p>
            <a:pPr algn="l">
              <a:lnSpc>
                <a:spcPts val="2800"/>
              </a:lnSpc>
            </a:pPr>
          </a:p>
          <a:p>
            <a:pPr algn="l">
              <a:lnSpc>
                <a:spcPts val="2800"/>
              </a:lnSpc>
            </a:pPr>
          </a:p>
        </p:txBody>
      </p:sp>
      <p:sp>
        <p:nvSpPr>
          <p:cNvPr name="TextBox 3" id="3"/>
          <p:cNvSpPr txBox="true"/>
          <p:nvPr/>
        </p:nvSpPr>
        <p:spPr>
          <a:xfrm rot="0">
            <a:off x="3630283" y="9563255"/>
            <a:ext cx="179685" cy="372745"/>
          </a:xfrm>
          <a:prstGeom prst="rect">
            <a:avLst/>
          </a:prstGeom>
        </p:spPr>
        <p:txBody>
          <a:bodyPr anchor="t" rtlCol="false" tIns="0" lIns="0" bIns="0" rIns="0">
            <a:spAutoFit/>
          </a:bodyPr>
          <a:lstStyle/>
          <a:p>
            <a:pPr algn="ctr">
              <a:lnSpc>
                <a:spcPts val="3079"/>
              </a:lnSpc>
            </a:pPr>
            <a:r>
              <a:rPr lang="en-US" sz="2199">
                <a:solidFill>
                  <a:srgbClr val="000000"/>
                </a:solidFill>
                <a:latin typeface="Canva Sans"/>
                <a:ea typeface="Canva Sans"/>
                <a:cs typeface="Canva Sans"/>
                <a:sym typeface="Canva Sans"/>
              </a:rPr>
              <a:t>6</a:t>
            </a:r>
          </a:p>
        </p:txBody>
      </p:sp>
      <p:sp>
        <p:nvSpPr>
          <p:cNvPr name="AutoShape 4" id="4"/>
          <p:cNvSpPr/>
          <p:nvPr/>
        </p:nvSpPr>
        <p:spPr>
          <a:xfrm>
            <a:off x="844344" y="746475"/>
            <a:ext cx="5751563" cy="0"/>
          </a:xfrm>
          <a:prstGeom prst="line">
            <a:avLst/>
          </a:prstGeom>
          <a:ln cap="flat" w="19050">
            <a:solidFill>
              <a:srgbClr val="7A6200">
                <a:alpha val="84706"/>
              </a:srgbClr>
            </a:solidFill>
            <a:prstDash val="solid"/>
            <a:headEnd type="none" len="sm" w="sm"/>
            <a:tailEnd type="none" len="sm" w="sm"/>
          </a:ln>
        </p:spPr>
      </p:sp>
    </p:spTree>
  </p:cSld>
  <p:clrMapOvr>
    <a:masterClrMapping/>
  </p:clrMapOvr>
</p:sld>
</file>

<file path=ppt/slides/slide10.xml><?xml version="1.0" encoding="utf-8"?>
<p:sld xmlns:p="http://schemas.openxmlformats.org/presentationml/2006/main" xmlns:a="http://schemas.openxmlformats.org/drawingml/2006/main">
  <p:cSld>
    <p:bg>
      <p:bgPr>
        <a:solidFill>
          <a:srgbClr val="CCCCBC"/>
        </a:solidFill>
      </p:bgPr>
    </p:bg>
    <p:spTree>
      <p:nvGrpSpPr>
        <p:cNvPr id="1" name=""/>
        <p:cNvGrpSpPr/>
        <p:nvPr/>
      </p:nvGrpSpPr>
      <p:grpSpPr>
        <a:xfrm>
          <a:off x="0" y="0"/>
          <a:ext cx="0" cy="0"/>
          <a:chOff x="0" y="0"/>
          <a:chExt cx="0" cy="0"/>
        </a:xfrm>
      </p:grpSpPr>
      <p:sp>
        <p:nvSpPr>
          <p:cNvPr name="TextBox 2" id="2"/>
          <p:cNvSpPr txBox="true"/>
          <p:nvPr/>
        </p:nvSpPr>
        <p:spPr>
          <a:xfrm rot="0">
            <a:off x="756000" y="727425"/>
            <a:ext cx="6048000" cy="8709025"/>
          </a:xfrm>
          <a:prstGeom prst="rect">
            <a:avLst/>
          </a:prstGeom>
        </p:spPr>
        <p:txBody>
          <a:bodyPr anchor="t" rtlCol="false" tIns="0" lIns="0" bIns="0" rIns="0">
            <a:spAutoFit/>
          </a:bodyPr>
          <a:lstStyle/>
          <a:p>
            <a:pPr algn="l">
              <a:lnSpc>
                <a:spcPts val="2100"/>
              </a:lnSpc>
            </a:pPr>
            <a:r>
              <a:rPr lang="en-US" sz="1500">
                <a:solidFill>
                  <a:srgbClr val="000000"/>
                </a:solidFill>
                <a:latin typeface="Nunito"/>
                <a:ea typeface="Nunito"/>
                <a:cs typeface="Nunito"/>
                <a:sym typeface="Nunito"/>
              </a:rPr>
              <a:t> </a:t>
            </a:r>
          </a:p>
          <a:p>
            <a:pPr algn="l">
              <a:lnSpc>
                <a:spcPts val="2799"/>
              </a:lnSpc>
            </a:pPr>
            <a:r>
              <a:rPr lang="en-US" sz="1999">
                <a:solidFill>
                  <a:srgbClr val="000000"/>
                </a:solidFill>
                <a:latin typeface="Nunito"/>
                <a:ea typeface="Nunito"/>
                <a:cs typeface="Nunito"/>
                <a:sym typeface="Nunito"/>
              </a:rPr>
              <a:t>“What exactly are you?” Lumi asked again.</a:t>
            </a:r>
          </a:p>
          <a:p>
            <a:pPr algn="l">
              <a:lnSpc>
                <a:spcPts val="2799"/>
              </a:lnSpc>
            </a:pPr>
            <a:r>
              <a:rPr lang="en-US" sz="1999">
                <a:solidFill>
                  <a:srgbClr val="000000"/>
                </a:solidFill>
                <a:latin typeface="Nunito"/>
                <a:ea typeface="Nunito"/>
                <a:cs typeface="Nunito"/>
                <a:sym typeface="Nunito"/>
              </a:rPr>
              <a:t>Piko floated upside down, folded his tiny wings, and thought for a moment.</a:t>
            </a:r>
          </a:p>
          <a:p>
            <a:pPr algn="l">
              <a:lnSpc>
                <a:spcPts val="2799"/>
              </a:lnSpc>
            </a:pPr>
            <a:r>
              <a:rPr lang="en-US" sz="1999">
                <a:solidFill>
                  <a:srgbClr val="000000"/>
                </a:solidFill>
                <a:latin typeface="Nunito"/>
                <a:ea typeface="Nunito"/>
                <a:cs typeface="Nunito"/>
                <a:sym typeface="Nunito"/>
              </a:rPr>
              <a:t>“I'm Piko,” he said at last. “And I glow!”</a:t>
            </a:r>
          </a:p>
          <a:p>
            <a:pPr algn="l">
              <a:lnSpc>
                <a:spcPts val="2799"/>
              </a:lnSpc>
            </a:pPr>
            <a:r>
              <a:rPr lang="en-US" sz="1999">
                <a:solidFill>
                  <a:srgbClr val="000000"/>
                </a:solidFill>
                <a:latin typeface="Nunito"/>
                <a:ea typeface="Nunito"/>
                <a:cs typeface="Nunito"/>
                <a:sym typeface="Nunito"/>
              </a:rPr>
              <a:t>“I noticed that,” Lumi replied, trying not to giggle. “But how do you do it?”</a:t>
            </a:r>
          </a:p>
          <a:p>
            <a:pPr algn="l">
              <a:lnSpc>
                <a:spcPts val="2799"/>
              </a:lnSpc>
            </a:pPr>
            <a:r>
              <a:rPr lang="en-US" sz="1999">
                <a:solidFill>
                  <a:srgbClr val="000000"/>
                </a:solidFill>
                <a:latin typeface="Nunito"/>
                <a:ea typeface="Nunito"/>
                <a:cs typeface="Nunito"/>
                <a:sym typeface="Nunito"/>
              </a:rPr>
              <a:t>Piko looked at his own glowing body as if he had never considered the question before.</a:t>
            </a:r>
          </a:p>
          <a:p>
            <a:pPr algn="l">
              <a:lnSpc>
                <a:spcPts val="2799"/>
              </a:lnSpc>
            </a:pPr>
            <a:r>
              <a:rPr lang="en-US" sz="1999">
                <a:solidFill>
                  <a:srgbClr val="000000"/>
                </a:solidFill>
                <a:latin typeface="Nunito"/>
                <a:ea typeface="Nunito"/>
                <a:cs typeface="Nunito"/>
                <a:sym typeface="Nunito"/>
              </a:rPr>
              <a:t>“I don't know,” he admitted.</a:t>
            </a:r>
          </a:p>
          <a:p>
            <a:pPr algn="l">
              <a:lnSpc>
                <a:spcPts val="2799"/>
              </a:lnSpc>
            </a:pPr>
            <a:r>
              <a:rPr lang="en-US" sz="1999">
                <a:solidFill>
                  <a:srgbClr val="000000"/>
                </a:solidFill>
                <a:latin typeface="Nunito"/>
                <a:ea typeface="Nunito"/>
                <a:cs typeface="Nunito"/>
                <a:sym typeface="Nunito"/>
              </a:rPr>
              <a:t>Lumi's eyes widened.</a:t>
            </a:r>
          </a:p>
          <a:p>
            <a:pPr algn="l">
              <a:lnSpc>
                <a:spcPts val="2799"/>
              </a:lnSpc>
            </a:pPr>
            <a:r>
              <a:rPr lang="en-US" sz="1999">
                <a:solidFill>
                  <a:srgbClr val="000000"/>
                </a:solidFill>
                <a:latin typeface="Nunito"/>
                <a:ea typeface="Nunito"/>
                <a:cs typeface="Nunito"/>
                <a:sym typeface="Nunito"/>
              </a:rPr>
              <a:t>“You mean you glow, but you don't know why?”</a:t>
            </a:r>
          </a:p>
          <a:p>
            <a:pPr algn="l">
              <a:lnSpc>
                <a:spcPts val="2799"/>
              </a:lnSpc>
            </a:pPr>
            <a:r>
              <a:rPr lang="en-US" sz="1999">
                <a:solidFill>
                  <a:srgbClr val="000000"/>
                </a:solidFill>
                <a:latin typeface="Nunito"/>
                <a:ea typeface="Nunito"/>
                <a:cs typeface="Nunito"/>
                <a:sym typeface="Nunito"/>
              </a:rPr>
              <a:t>“That's right!” Piko said cheerfully.</a:t>
            </a:r>
          </a:p>
          <a:p>
            <a:pPr algn="l">
              <a:lnSpc>
                <a:spcPts val="2799"/>
              </a:lnSpc>
            </a:pPr>
            <a:r>
              <a:rPr lang="en-US" sz="1999">
                <a:solidFill>
                  <a:srgbClr val="000000"/>
                </a:solidFill>
                <a:latin typeface="Nunito"/>
                <a:ea typeface="Nunito"/>
                <a:cs typeface="Nunito"/>
                <a:sym typeface="Nunito"/>
              </a:rPr>
              <a:t>Lumi reached for her notebook and turned to a clean page.</a:t>
            </a:r>
          </a:p>
          <a:p>
            <a:pPr algn="l">
              <a:lnSpc>
                <a:spcPts val="2799"/>
              </a:lnSpc>
            </a:pPr>
            <a:r>
              <a:rPr lang="en-US" sz="1999">
                <a:solidFill>
                  <a:srgbClr val="000000"/>
                </a:solidFill>
                <a:latin typeface="Nunito"/>
                <a:ea typeface="Nunito"/>
                <a:cs typeface="Nunito"/>
                <a:sym typeface="Nunito"/>
              </a:rPr>
              <a:t>“Well, that's all right,” she said. “We can investigate together.”</a:t>
            </a:r>
          </a:p>
          <a:p>
            <a:pPr algn="l">
              <a:lnSpc>
                <a:spcPts val="2799"/>
              </a:lnSpc>
            </a:pPr>
            <a:r>
              <a:rPr lang="en-US" sz="1999">
                <a:solidFill>
                  <a:srgbClr val="000000"/>
                </a:solidFill>
                <a:latin typeface="Nunito"/>
                <a:ea typeface="Nunito"/>
                <a:cs typeface="Nunito"/>
                <a:sym typeface="Nunito"/>
              </a:rPr>
              <a:t>She wrote carefully:</a:t>
            </a:r>
          </a:p>
          <a:p>
            <a:pPr algn="l">
              <a:lnSpc>
                <a:spcPts val="2799"/>
              </a:lnSpc>
            </a:pPr>
            <a:r>
              <a:rPr lang="en-US" sz="1999">
                <a:gradFill>
                  <a:gsLst>
                    <a:gs pos="0">
                      <a:srgbClr val="5A0A0C">
                        <a:alpha val="100000"/>
                      </a:srgbClr>
                    </a:gs>
                    <a:gs pos="50000">
                      <a:srgbClr val="BF628C">
                        <a:alpha val="100000"/>
                      </a:srgbClr>
                    </a:gs>
                    <a:gs pos="100000">
                      <a:srgbClr val="62BF9B">
                        <a:alpha val="100000"/>
                      </a:srgbClr>
                    </a:gs>
                  </a:gsLst>
                  <a:lin ang="0"/>
                </a:gradFill>
                <a:latin typeface="Comic Sans"/>
                <a:ea typeface="Comic Sans"/>
                <a:cs typeface="Comic Sans"/>
                <a:sym typeface="Comic Sans"/>
              </a:rPr>
              <a:t>QUESTION 2</a:t>
            </a:r>
          </a:p>
          <a:p>
            <a:pPr algn="l">
              <a:lnSpc>
                <a:spcPts val="2799"/>
              </a:lnSpc>
            </a:pPr>
            <a:r>
              <a:rPr lang="en-US" sz="1999">
                <a:solidFill>
                  <a:srgbClr val="000000"/>
                </a:solidFill>
                <a:latin typeface="Nunito"/>
                <a:ea typeface="Nunito"/>
                <a:cs typeface="Nunito"/>
                <a:sym typeface="Nunito"/>
              </a:rPr>
              <a:t>Why does Piko glow?</a:t>
            </a:r>
          </a:p>
          <a:p>
            <a:pPr algn="l">
              <a:lnSpc>
                <a:spcPts val="2799"/>
              </a:lnSpc>
            </a:pPr>
            <a:r>
              <a:rPr lang="en-US" sz="1999">
                <a:solidFill>
                  <a:srgbClr val="000000"/>
                </a:solidFill>
                <a:latin typeface="Nunito"/>
                <a:ea typeface="Nunito"/>
                <a:cs typeface="Nunito"/>
                <a:sym typeface="Nunito"/>
              </a:rPr>
              <a:t>Piko peered over the edge of the notebook.</a:t>
            </a:r>
          </a:p>
          <a:p>
            <a:pPr algn="l">
              <a:lnSpc>
                <a:spcPts val="2799"/>
              </a:lnSpc>
            </a:pPr>
            <a:r>
              <a:rPr lang="en-US" sz="1999">
                <a:solidFill>
                  <a:srgbClr val="000000"/>
                </a:solidFill>
                <a:latin typeface="Nunito"/>
                <a:ea typeface="Nunito"/>
                <a:cs typeface="Nunito"/>
                <a:sym typeface="Nunito"/>
              </a:rPr>
              <a:t>“Does this mean I'm an experiment?”</a:t>
            </a:r>
          </a:p>
          <a:p>
            <a:pPr algn="l">
              <a:lnSpc>
                <a:spcPts val="2799"/>
              </a:lnSpc>
            </a:pPr>
            <a:r>
              <a:rPr lang="en-US" sz="1999">
                <a:solidFill>
                  <a:srgbClr val="000000"/>
                </a:solidFill>
                <a:latin typeface="Nunito"/>
                <a:ea typeface="Nunito"/>
                <a:cs typeface="Nunito"/>
                <a:sym typeface="Nunito"/>
              </a:rPr>
              <a:t>“No,” Lumi said with a smile. “It means we're going to discover something wonderful.”</a:t>
            </a:r>
          </a:p>
          <a:p>
            <a:pPr algn="l">
              <a:lnSpc>
                <a:spcPts val="2799"/>
              </a:lnSpc>
            </a:pPr>
          </a:p>
        </p:txBody>
      </p:sp>
      <p:sp>
        <p:nvSpPr>
          <p:cNvPr name="TextBox 3" id="3"/>
          <p:cNvSpPr txBox="true"/>
          <p:nvPr/>
        </p:nvSpPr>
        <p:spPr>
          <a:xfrm rot="0">
            <a:off x="3711093" y="9563255"/>
            <a:ext cx="137815" cy="372745"/>
          </a:xfrm>
          <a:prstGeom prst="rect">
            <a:avLst/>
          </a:prstGeom>
        </p:spPr>
        <p:txBody>
          <a:bodyPr anchor="t" rtlCol="false" tIns="0" lIns="0" bIns="0" rIns="0">
            <a:spAutoFit/>
          </a:bodyPr>
          <a:lstStyle/>
          <a:p>
            <a:pPr algn="ctr">
              <a:lnSpc>
                <a:spcPts val="3079"/>
              </a:lnSpc>
            </a:pPr>
            <a:r>
              <a:rPr lang="en-US" sz="2199">
                <a:solidFill>
                  <a:srgbClr val="000000"/>
                </a:solidFill>
                <a:latin typeface="Canva Sans"/>
                <a:ea typeface="Canva Sans"/>
                <a:cs typeface="Canva Sans"/>
                <a:sym typeface="Canva Sans"/>
              </a:rPr>
              <a:t>7</a:t>
            </a:r>
          </a:p>
        </p:txBody>
      </p:sp>
      <p:sp>
        <p:nvSpPr>
          <p:cNvPr name="AutoShape 4" id="4"/>
          <p:cNvSpPr/>
          <p:nvPr/>
        </p:nvSpPr>
        <p:spPr>
          <a:xfrm>
            <a:off x="756000" y="765525"/>
            <a:ext cx="5751563" cy="0"/>
          </a:xfrm>
          <a:prstGeom prst="line">
            <a:avLst/>
          </a:prstGeom>
          <a:ln cap="flat" w="19050">
            <a:solidFill>
              <a:srgbClr val="7A6200">
                <a:alpha val="84706"/>
              </a:srgbClr>
            </a:solidFill>
            <a:prstDash val="solid"/>
            <a:headEnd type="none" len="sm" w="sm"/>
            <a:tailEnd type="none" len="sm" w="sm"/>
          </a:ln>
        </p:spPr>
      </p:sp>
    </p:spTree>
  </p:cSld>
  <p:clrMapOvr>
    <a:masterClrMapping/>
  </p:clrMapOvr>
</p:sld>
</file>

<file path=ppt/slides/slide11.xml><?xml version="1.0" encoding="utf-8"?>
<p:sld xmlns:p="http://schemas.openxmlformats.org/presentationml/2006/main" xmlns:a="http://schemas.openxmlformats.org/drawingml/2006/main">
  <p:cSld>
    <p:bg>
      <p:bgPr>
        <a:solidFill>
          <a:srgbClr val="CCCCBC"/>
        </a:solidFill>
      </p:bgPr>
    </p:bg>
    <p:spTree>
      <p:nvGrpSpPr>
        <p:cNvPr id="1" name=""/>
        <p:cNvGrpSpPr/>
        <p:nvPr/>
      </p:nvGrpSpPr>
      <p:grpSpPr>
        <a:xfrm>
          <a:off x="0" y="0"/>
          <a:ext cx="0" cy="0"/>
          <a:chOff x="0" y="0"/>
          <a:chExt cx="0" cy="0"/>
        </a:xfrm>
      </p:grpSpPr>
      <p:sp>
        <p:nvSpPr>
          <p:cNvPr name="TextBox 2" id="2"/>
          <p:cNvSpPr txBox="true"/>
          <p:nvPr/>
        </p:nvSpPr>
        <p:spPr>
          <a:xfrm rot="0">
            <a:off x="756000" y="727425"/>
            <a:ext cx="6048000" cy="8253095"/>
          </a:xfrm>
          <a:prstGeom prst="rect">
            <a:avLst/>
          </a:prstGeom>
        </p:spPr>
        <p:txBody>
          <a:bodyPr anchor="t" rtlCol="false" tIns="0" lIns="0" bIns="0" rIns="0">
            <a:spAutoFit/>
          </a:bodyPr>
          <a:lstStyle/>
          <a:p>
            <a:pPr algn="ctr">
              <a:lnSpc>
                <a:spcPts val="2379"/>
              </a:lnSpc>
            </a:pPr>
            <a:r>
              <a:rPr lang="en-US" b="true" sz="1699">
                <a:gradFill>
                  <a:gsLst>
                    <a:gs pos="0">
                      <a:srgbClr val="000000">
                        <a:alpha val="100000"/>
                      </a:srgbClr>
                    </a:gs>
                    <a:gs pos="50000">
                      <a:srgbClr val="555555">
                        <a:alpha val="100000"/>
                      </a:srgbClr>
                    </a:gs>
                    <a:gs pos="100000">
                      <a:srgbClr val="0BB50E">
                        <a:alpha val="100000"/>
                      </a:srgbClr>
                    </a:gs>
                  </a:gsLst>
                  <a:path path="circle">
                    <a:fillToRect l="0" r="100000" t="0" b="100000"/>
                  </a:path>
                  <a:tileRect r="0" l="-100000" b="0" t="-100000"/>
                </a:gradFill>
                <a:latin typeface="Nunito Semi-Bold"/>
                <a:ea typeface="Nunito Semi-Bold"/>
                <a:cs typeface="Nunito Semi-Bold"/>
                <a:sym typeface="Nunito Semi-Bold"/>
              </a:rPr>
              <a:t>CHAPTER TWO </a:t>
            </a:r>
          </a:p>
          <a:p>
            <a:pPr algn="ctr">
              <a:lnSpc>
                <a:spcPts val="2379"/>
              </a:lnSpc>
            </a:pPr>
            <a:r>
              <a:rPr lang="en-US" b="true" sz="1699">
                <a:gradFill>
                  <a:gsLst>
                    <a:gs pos="0">
                      <a:srgbClr val="000000">
                        <a:alpha val="100000"/>
                      </a:srgbClr>
                    </a:gs>
                    <a:gs pos="50000">
                      <a:srgbClr val="555555">
                        <a:alpha val="100000"/>
                      </a:srgbClr>
                    </a:gs>
                    <a:gs pos="100000">
                      <a:srgbClr val="0BB50E">
                        <a:alpha val="100000"/>
                      </a:srgbClr>
                    </a:gs>
                  </a:gsLst>
                  <a:path path="circle">
                    <a:fillToRect l="0" r="100000" t="0" b="100000"/>
                  </a:path>
                  <a:tileRect r="0" l="-100000" b="0" t="-100000"/>
                </a:gradFill>
                <a:latin typeface="Nunito Semi-Bold"/>
                <a:ea typeface="Nunito Semi-Bold"/>
                <a:cs typeface="Nunito Semi-Bold"/>
                <a:sym typeface="Nunito Semi-Bold"/>
              </a:rPr>
              <a:t>Let’s Investigate</a:t>
            </a:r>
          </a:p>
          <a:p>
            <a:pPr algn="l">
              <a:lnSpc>
                <a:spcPts val="2379"/>
              </a:lnSpc>
            </a:pPr>
          </a:p>
          <a:p>
            <a:pPr algn="l">
              <a:lnSpc>
                <a:spcPts val="2379"/>
              </a:lnSpc>
            </a:pPr>
            <a:r>
              <a:rPr lang="en-US" sz="1699">
                <a:solidFill>
                  <a:srgbClr val="000000"/>
                </a:solidFill>
                <a:latin typeface="Nunito"/>
                <a:ea typeface="Nunito"/>
                <a:cs typeface="Nunito"/>
                <a:sym typeface="Nunito"/>
              </a:rPr>
              <a:t>Lumi looked at the little collection of objects she had arranged beside her bed.</a:t>
            </a:r>
          </a:p>
          <a:p>
            <a:pPr algn="l">
              <a:lnSpc>
                <a:spcPts val="2379"/>
              </a:lnSpc>
            </a:pPr>
            <a:r>
              <a:rPr lang="en-US" sz="1699">
                <a:solidFill>
                  <a:srgbClr val="000000"/>
                </a:solidFill>
                <a:latin typeface="Nunito"/>
                <a:ea typeface="Nunito"/>
                <a:cs typeface="Nunito"/>
                <a:sym typeface="Nunito"/>
              </a:rPr>
              <a:t>There was a wooden block, a spoon, a clear glass, and her trusty notebook.</a:t>
            </a:r>
          </a:p>
          <a:p>
            <a:pPr algn="l">
              <a:lnSpc>
                <a:spcPts val="2379"/>
              </a:lnSpc>
            </a:pPr>
            <a:r>
              <a:rPr lang="en-US" sz="1699">
                <a:solidFill>
                  <a:srgbClr val="000000"/>
                </a:solidFill>
                <a:latin typeface="Nunito"/>
                <a:ea typeface="Nunito"/>
                <a:cs typeface="Nunito"/>
                <a:sym typeface="Nunito"/>
              </a:rPr>
              <a:t>Piko hovered above them, glowing like a tiny golden star.</a:t>
            </a:r>
          </a:p>
          <a:p>
            <a:pPr algn="l">
              <a:lnSpc>
                <a:spcPts val="2379"/>
              </a:lnSpc>
            </a:pPr>
            <a:r>
              <a:rPr lang="en-US" sz="1699">
                <a:solidFill>
                  <a:srgbClr val="000000"/>
                </a:solidFill>
                <a:latin typeface="Nunito"/>
                <a:ea typeface="Nunito"/>
                <a:cs typeface="Nunito"/>
                <a:sym typeface="Nunito"/>
              </a:rPr>
              <a:t>“What are we going to do first?” he asked.</a:t>
            </a:r>
          </a:p>
          <a:p>
            <a:pPr algn="l">
              <a:lnSpc>
                <a:spcPts val="2379"/>
              </a:lnSpc>
            </a:pPr>
            <a:r>
              <a:rPr lang="en-US" sz="1699">
                <a:solidFill>
                  <a:srgbClr val="000000"/>
                </a:solidFill>
                <a:latin typeface="Nunito"/>
                <a:ea typeface="Nunito"/>
                <a:cs typeface="Nunito"/>
                <a:sym typeface="Nunito"/>
              </a:rPr>
              <a:t>Lumi tapped her pencil against her chin.</a:t>
            </a:r>
          </a:p>
          <a:p>
            <a:pPr algn="l">
              <a:lnSpc>
                <a:spcPts val="2379"/>
              </a:lnSpc>
            </a:pPr>
            <a:r>
              <a:rPr lang="en-US" sz="1699">
                <a:solidFill>
                  <a:srgbClr val="000000"/>
                </a:solidFill>
                <a:latin typeface="Nunito"/>
                <a:ea typeface="Nunito"/>
                <a:cs typeface="Nunito"/>
                <a:sym typeface="Nunito"/>
              </a:rPr>
              <a:t>“When we want to understand something, we should observe it carefully.”</a:t>
            </a:r>
          </a:p>
          <a:p>
            <a:pPr algn="l">
              <a:lnSpc>
                <a:spcPts val="2379"/>
              </a:lnSpc>
            </a:pPr>
            <a:r>
              <a:rPr lang="en-US" sz="1699">
                <a:solidFill>
                  <a:srgbClr val="000000"/>
                </a:solidFill>
                <a:latin typeface="Nunito"/>
                <a:ea typeface="Nunito"/>
                <a:cs typeface="Nunito"/>
                <a:sym typeface="Nunito"/>
              </a:rPr>
              <a:t>“Observe?” Piko asked.</a:t>
            </a:r>
          </a:p>
          <a:p>
            <a:pPr algn="l">
              <a:lnSpc>
                <a:spcPts val="2379"/>
              </a:lnSpc>
            </a:pPr>
            <a:r>
              <a:rPr lang="en-US" sz="1699">
                <a:solidFill>
                  <a:srgbClr val="000000"/>
                </a:solidFill>
                <a:latin typeface="Nunito"/>
                <a:ea typeface="Nunito"/>
                <a:cs typeface="Nunito"/>
                <a:sym typeface="Nunito"/>
              </a:rPr>
              <a:t>“That means looking closely and noticing what happens.”</a:t>
            </a:r>
          </a:p>
          <a:p>
            <a:pPr algn="l">
              <a:lnSpc>
                <a:spcPts val="2379"/>
              </a:lnSpc>
            </a:pPr>
            <a:r>
              <a:rPr lang="en-US" sz="1699">
                <a:solidFill>
                  <a:srgbClr val="000000"/>
                </a:solidFill>
                <a:latin typeface="Nunito"/>
                <a:ea typeface="Nunito"/>
                <a:cs typeface="Nunito"/>
                <a:sym typeface="Nunito"/>
              </a:rPr>
              <a:t>Lumi held her notebook open.</a:t>
            </a:r>
          </a:p>
          <a:p>
            <a:pPr algn="l">
              <a:lnSpc>
                <a:spcPts val="2379"/>
              </a:lnSpc>
            </a:pPr>
            <a:r>
              <a:rPr lang="en-US" sz="1699">
                <a:solidFill>
                  <a:srgbClr val="000000"/>
                </a:solidFill>
                <a:latin typeface="Nunito"/>
                <a:ea typeface="Nunito"/>
                <a:cs typeface="Nunito"/>
                <a:sym typeface="Nunito"/>
              </a:rPr>
              <a:t>“First, I'll watch you. Then I'll write down what I notice.”</a:t>
            </a:r>
          </a:p>
          <a:p>
            <a:pPr algn="l">
              <a:lnSpc>
                <a:spcPts val="2379"/>
              </a:lnSpc>
            </a:pPr>
            <a:r>
              <a:rPr lang="en-US" sz="1699">
                <a:solidFill>
                  <a:srgbClr val="000000"/>
                </a:solidFill>
                <a:latin typeface="Nunito"/>
                <a:ea typeface="Nunito"/>
                <a:cs typeface="Nunito"/>
                <a:sym typeface="Nunito"/>
              </a:rPr>
              <a:t>She watched Piko hover near the bookshelf.</a:t>
            </a:r>
          </a:p>
          <a:p>
            <a:pPr algn="l">
              <a:lnSpc>
                <a:spcPts val="2379"/>
              </a:lnSpc>
            </a:pPr>
            <a:r>
              <a:rPr lang="en-US" sz="1699">
                <a:solidFill>
                  <a:srgbClr val="000000"/>
                </a:solidFill>
                <a:latin typeface="Nunito"/>
                <a:ea typeface="Nunito"/>
                <a:cs typeface="Nunito"/>
                <a:sym typeface="Nunito"/>
              </a:rPr>
              <a:t>He moved up.</a:t>
            </a:r>
          </a:p>
          <a:p>
            <a:pPr algn="l">
              <a:lnSpc>
                <a:spcPts val="2379"/>
              </a:lnSpc>
            </a:pPr>
            <a:r>
              <a:rPr lang="en-US" sz="1699">
                <a:solidFill>
                  <a:srgbClr val="000000"/>
                </a:solidFill>
                <a:latin typeface="Nunito"/>
                <a:ea typeface="Nunito"/>
                <a:cs typeface="Nunito"/>
                <a:sym typeface="Nunito"/>
              </a:rPr>
              <a:t>He moved down.</a:t>
            </a:r>
          </a:p>
          <a:p>
            <a:pPr algn="l">
              <a:lnSpc>
                <a:spcPts val="2379"/>
              </a:lnSpc>
            </a:pPr>
            <a:r>
              <a:rPr lang="en-US" sz="1699">
                <a:solidFill>
                  <a:srgbClr val="000000"/>
                </a:solidFill>
                <a:latin typeface="Nunito"/>
                <a:ea typeface="Nunito"/>
                <a:cs typeface="Nunito"/>
                <a:sym typeface="Nunito"/>
              </a:rPr>
              <a:t>He spun in a tiny circle and floated back to her shoulder.</a:t>
            </a:r>
          </a:p>
          <a:p>
            <a:pPr algn="l">
              <a:lnSpc>
                <a:spcPts val="2379"/>
              </a:lnSpc>
            </a:pPr>
            <a:r>
              <a:rPr lang="en-US" sz="1699">
                <a:solidFill>
                  <a:srgbClr val="000000"/>
                </a:solidFill>
                <a:latin typeface="Nunito"/>
                <a:ea typeface="Nunito"/>
                <a:cs typeface="Nunito"/>
                <a:sym typeface="Nunito"/>
              </a:rPr>
              <a:t>Lumi wrote:</a:t>
            </a:r>
          </a:p>
          <a:p>
            <a:pPr algn="l">
              <a:lnSpc>
                <a:spcPts val="2379"/>
              </a:lnSpc>
            </a:pPr>
            <a:r>
              <a:rPr lang="en-US" sz="1699">
                <a:gradFill>
                  <a:gsLst>
                    <a:gs pos="0">
                      <a:srgbClr val="5A0A0C">
                        <a:alpha val="100000"/>
                      </a:srgbClr>
                    </a:gs>
                    <a:gs pos="50000">
                      <a:srgbClr val="BF628C">
                        <a:alpha val="100000"/>
                      </a:srgbClr>
                    </a:gs>
                    <a:gs pos="100000">
                      <a:srgbClr val="62BF9B">
                        <a:alpha val="100000"/>
                      </a:srgbClr>
                    </a:gs>
                  </a:gsLst>
                  <a:lin ang="0"/>
                </a:gradFill>
                <a:latin typeface="Comic Sans"/>
                <a:ea typeface="Comic Sans"/>
                <a:cs typeface="Comic Sans"/>
                <a:sym typeface="Comic Sans"/>
              </a:rPr>
              <a:t>OBSERVATION 1</a:t>
            </a:r>
          </a:p>
          <a:p>
            <a:pPr algn="l">
              <a:lnSpc>
                <a:spcPts val="2379"/>
              </a:lnSpc>
            </a:pPr>
            <a:r>
              <a:rPr lang="en-US" sz="1699">
                <a:solidFill>
                  <a:srgbClr val="000000"/>
                </a:solidFill>
                <a:latin typeface="Nunito"/>
                <a:ea typeface="Nunito"/>
                <a:cs typeface="Nunito"/>
                <a:sym typeface="Nunito"/>
              </a:rPr>
              <a:t>Piko glows even when he moves.</a:t>
            </a:r>
          </a:p>
          <a:p>
            <a:pPr algn="l">
              <a:lnSpc>
                <a:spcPts val="2379"/>
              </a:lnSpc>
            </a:pPr>
            <a:r>
              <a:rPr lang="en-US" sz="1699">
                <a:solidFill>
                  <a:srgbClr val="000000"/>
                </a:solidFill>
                <a:latin typeface="Nunito"/>
                <a:ea typeface="Nunito"/>
                <a:cs typeface="Nunito"/>
                <a:sym typeface="Nunito"/>
              </a:rPr>
              <a:t>Piko peered at the page.</a:t>
            </a:r>
          </a:p>
          <a:p>
            <a:pPr algn="l">
              <a:lnSpc>
                <a:spcPts val="2379"/>
              </a:lnSpc>
            </a:pPr>
            <a:r>
              <a:rPr lang="en-US" sz="1699">
                <a:solidFill>
                  <a:srgbClr val="000000"/>
                </a:solidFill>
                <a:latin typeface="Nunito"/>
                <a:ea typeface="Nunito"/>
                <a:cs typeface="Nunito"/>
                <a:sym typeface="Nunito"/>
              </a:rPr>
              <a:t>“You make being observed sound very important!”</a:t>
            </a:r>
          </a:p>
          <a:p>
            <a:pPr algn="l">
              <a:lnSpc>
                <a:spcPts val="2379"/>
              </a:lnSpc>
            </a:pPr>
            <a:r>
              <a:rPr lang="en-US" sz="1699">
                <a:solidFill>
                  <a:srgbClr val="000000"/>
                </a:solidFill>
                <a:latin typeface="Nunito"/>
                <a:ea typeface="Nunito"/>
                <a:cs typeface="Nunito"/>
                <a:sym typeface="Nunito"/>
              </a:rPr>
              <a:t>“It is,” Lumi replied. “Every little detail might help us find an answer.”</a:t>
            </a:r>
          </a:p>
          <a:p>
            <a:pPr algn="l">
              <a:lnSpc>
                <a:spcPts val="2379"/>
              </a:lnSpc>
            </a:pPr>
          </a:p>
        </p:txBody>
      </p:sp>
      <p:sp>
        <p:nvSpPr>
          <p:cNvPr name="TextBox 3" id="3"/>
          <p:cNvSpPr txBox="true"/>
          <p:nvPr/>
        </p:nvSpPr>
        <p:spPr>
          <a:xfrm rot="0">
            <a:off x="3695614" y="9401957"/>
            <a:ext cx="168771" cy="372745"/>
          </a:xfrm>
          <a:prstGeom prst="rect">
            <a:avLst/>
          </a:prstGeom>
        </p:spPr>
        <p:txBody>
          <a:bodyPr anchor="t" rtlCol="false" tIns="0" lIns="0" bIns="0" rIns="0">
            <a:spAutoFit/>
          </a:bodyPr>
          <a:lstStyle/>
          <a:p>
            <a:pPr algn="ctr">
              <a:lnSpc>
                <a:spcPts val="3079"/>
              </a:lnSpc>
            </a:pPr>
            <a:r>
              <a:rPr lang="en-US" sz="2199">
                <a:solidFill>
                  <a:srgbClr val="000000"/>
                </a:solidFill>
                <a:latin typeface="Canva Sans"/>
                <a:ea typeface="Canva Sans"/>
                <a:cs typeface="Canva Sans"/>
                <a:sym typeface="Canva Sans"/>
              </a:rPr>
              <a:t>8</a:t>
            </a:r>
          </a:p>
        </p:txBody>
      </p:sp>
      <p:sp>
        <p:nvSpPr>
          <p:cNvPr name="AutoShape 4" id="4"/>
          <p:cNvSpPr/>
          <p:nvPr/>
        </p:nvSpPr>
        <p:spPr>
          <a:xfrm>
            <a:off x="756000" y="1386277"/>
            <a:ext cx="5751563" cy="0"/>
          </a:xfrm>
          <a:prstGeom prst="line">
            <a:avLst/>
          </a:prstGeom>
          <a:ln cap="flat" w="19050">
            <a:solidFill>
              <a:srgbClr val="7A6200">
                <a:alpha val="84706"/>
              </a:srgbClr>
            </a:solidFill>
            <a:prstDash val="solid"/>
            <a:headEnd type="none" len="sm" w="sm"/>
            <a:tailEnd type="none" len="sm" w="sm"/>
          </a:ln>
        </p:spPr>
      </p:sp>
    </p:spTree>
  </p:cSld>
  <p:clrMapOvr>
    <a:masterClrMapping/>
  </p:clrMapOvr>
</p:sld>
</file>

<file path=ppt/slides/slide12.xml><?xml version="1.0" encoding="utf-8"?>
<p:sld xmlns:p="http://schemas.openxmlformats.org/presentationml/2006/main" xmlns:a="http://schemas.openxmlformats.org/drawingml/2006/main">
  <p:cSld>
    <p:bg>
      <p:bgPr>
        <a:solidFill>
          <a:srgbClr val="CCCCBC"/>
        </a:solidFill>
      </p:bgPr>
    </p:bg>
    <p:spTree>
      <p:nvGrpSpPr>
        <p:cNvPr id="1" name=""/>
        <p:cNvGrpSpPr/>
        <p:nvPr/>
      </p:nvGrpSpPr>
      <p:grpSpPr>
        <a:xfrm>
          <a:off x="0" y="0"/>
          <a:ext cx="0" cy="0"/>
          <a:chOff x="0" y="0"/>
          <a:chExt cx="0" cy="0"/>
        </a:xfrm>
      </p:grpSpPr>
      <p:sp>
        <p:nvSpPr>
          <p:cNvPr name="TextBox 2" id="2"/>
          <p:cNvSpPr txBox="true"/>
          <p:nvPr/>
        </p:nvSpPr>
        <p:spPr>
          <a:xfrm rot="0">
            <a:off x="756000" y="727425"/>
            <a:ext cx="6048000" cy="7931785"/>
          </a:xfrm>
          <a:prstGeom prst="rect">
            <a:avLst/>
          </a:prstGeom>
        </p:spPr>
        <p:txBody>
          <a:bodyPr anchor="t" rtlCol="false" tIns="0" lIns="0" bIns="0" rIns="0">
            <a:spAutoFit/>
          </a:bodyPr>
          <a:lstStyle/>
          <a:p>
            <a:pPr algn="l">
              <a:lnSpc>
                <a:spcPts val="2100"/>
              </a:lnSpc>
            </a:pPr>
            <a:r>
              <a:rPr lang="en-US" sz="1500">
                <a:solidFill>
                  <a:srgbClr val="000000"/>
                </a:solidFill>
                <a:latin typeface="Nunito"/>
                <a:ea typeface="Nunito"/>
                <a:cs typeface="Nunito"/>
                <a:sym typeface="Nunito"/>
              </a:rPr>
              <a:t>·</a:t>
            </a:r>
          </a:p>
          <a:p>
            <a:pPr algn="l">
              <a:lnSpc>
                <a:spcPts val="2379"/>
              </a:lnSpc>
            </a:pPr>
            <a:r>
              <a:rPr lang="en-US" sz="1699">
                <a:solidFill>
                  <a:srgbClr val="000000"/>
                </a:solidFill>
                <a:latin typeface="Nunito"/>
                <a:ea typeface="Nunito"/>
                <a:cs typeface="Nunito"/>
                <a:sym typeface="Nunito"/>
              </a:rPr>
              <a:t>“Let's try something,” Lumi said.</a:t>
            </a:r>
          </a:p>
          <a:p>
            <a:pPr algn="l">
              <a:lnSpc>
                <a:spcPts val="2379"/>
              </a:lnSpc>
            </a:pPr>
            <a:r>
              <a:rPr lang="en-US" sz="1699">
                <a:solidFill>
                  <a:srgbClr val="000000"/>
                </a:solidFill>
                <a:latin typeface="Nunito"/>
                <a:ea typeface="Nunito"/>
                <a:cs typeface="Nunito"/>
                <a:sym typeface="Nunito"/>
              </a:rPr>
              <a:t>She picked up the wooden block and held it between herself and Piko.</a:t>
            </a:r>
          </a:p>
          <a:p>
            <a:pPr algn="l">
              <a:lnSpc>
                <a:spcPts val="2379"/>
              </a:lnSpc>
            </a:pPr>
            <a:r>
              <a:rPr lang="en-US" sz="1699">
                <a:solidFill>
                  <a:srgbClr val="000000"/>
                </a:solidFill>
                <a:latin typeface="Nunito"/>
                <a:ea typeface="Nunito"/>
                <a:cs typeface="Nunito"/>
                <a:sym typeface="Nunito"/>
              </a:rPr>
              <a:t>Piko's golden glow shone around the edges of the block, but a dark shape appeared on the wall behind it.</a:t>
            </a:r>
          </a:p>
          <a:p>
            <a:pPr algn="l">
              <a:lnSpc>
                <a:spcPts val="2379"/>
              </a:lnSpc>
            </a:pPr>
            <a:r>
              <a:rPr lang="en-US" sz="1699">
                <a:solidFill>
                  <a:srgbClr val="000000"/>
                </a:solidFill>
                <a:latin typeface="Nunito"/>
                <a:ea typeface="Nunito"/>
                <a:cs typeface="Nunito"/>
                <a:sym typeface="Nunito"/>
              </a:rPr>
              <a:t>Lumi leaned closer.</a:t>
            </a:r>
          </a:p>
          <a:p>
            <a:pPr algn="l">
              <a:lnSpc>
                <a:spcPts val="2379"/>
              </a:lnSpc>
            </a:pPr>
            <a:r>
              <a:rPr lang="en-US" sz="1699">
                <a:solidFill>
                  <a:srgbClr val="000000"/>
                </a:solidFill>
                <a:latin typeface="Nunito"/>
                <a:ea typeface="Nunito"/>
                <a:cs typeface="Nunito"/>
                <a:sym typeface="Nunito"/>
              </a:rPr>
              <a:t>“What's that dark shape?”</a:t>
            </a:r>
          </a:p>
          <a:p>
            <a:pPr algn="l">
              <a:lnSpc>
                <a:spcPts val="2379"/>
              </a:lnSpc>
            </a:pPr>
            <a:r>
              <a:rPr lang="en-US" sz="1699">
                <a:solidFill>
                  <a:srgbClr val="000000"/>
                </a:solidFill>
                <a:latin typeface="Nunito"/>
                <a:ea typeface="Nunito"/>
                <a:cs typeface="Nunito"/>
                <a:sym typeface="Nunito"/>
              </a:rPr>
              <a:t>“It looks like a little mountain,” Piko said.</a:t>
            </a:r>
          </a:p>
          <a:p>
            <a:pPr algn="l">
              <a:lnSpc>
                <a:spcPts val="2379"/>
              </a:lnSpc>
            </a:pPr>
            <a:r>
              <a:rPr lang="en-US" sz="1699">
                <a:solidFill>
                  <a:srgbClr val="000000"/>
                </a:solidFill>
                <a:latin typeface="Nunito"/>
                <a:ea typeface="Nunito"/>
                <a:cs typeface="Nunito"/>
                <a:sym typeface="Nunito"/>
              </a:rPr>
              <a:t>Lumi moved the block to the left.</a:t>
            </a:r>
          </a:p>
          <a:p>
            <a:pPr algn="l">
              <a:lnSpc>
                <a:spcPts val="2379"/>
              </a:lnSpc>
            </a:pPr>
            <a:r>
              <a:rPr lang="en-US" sz="1699">
                <a:solidFill>
                  <a:srgbClr val="000000"/>
                </a:solidFill>
                <a:latin typeface="Nunito"/>
                <a:ea typeface="Nunito"/>
                <a:cs typeface="Nunito"/>
                <a:sym typeface="Nunito"/>
              </a:rPr>
              <a:t>The dark shape moved too.</a:t>
            </a:r>
          </a:p>
          <a:p>
            <a:pPr algn="l">
              <a:lnSpc>
                <a:spcPts val="2379"/>
              </a:lnSpc>
            </a:pPr>
            <a:r>
              <a:rPr lang="en-US" sz="1699">
                <a:solidFill>
                  <a:srgbClr val="000000"/>
                </a:solidFill>
                <a:latin typeface="Nunito"/>
                <a:ea typeface="Nunito"/>
                <a:cs typeface="Nunito"/>
                <a:sym typeface="Nunito"/>
              </a:rPr>
              <a:t>She moved the block to the right.</a:t>
            </a:r>
          </a:p>
          <a:p>
            <a:pPr algn="l">
              <a:lnSpc>
                <a:spcPts val="2379"/>
              </a:lnSpc>
            </a:pPr>
            <a:r>
              <a:rPr lang="en-US" sz="1699">
                <a:solidFill>
                  <a:srgbClr val="000000"/>
                </a:solidFill>
                <a:latin typeface="Nunito"/>
                <a:ea typeface="Nunito"/>
                <a:cs typeface="Nunito"/>
                <a:sym typeface="Nunito"/>
              </a:rPr>
              <a:t>The shape followed.</a:t>
            </a:r>
          </a:p>
          <a:p>
            <a:pPr algn="l">
              <a:lnSpc>
                <a:spcPts val="2379"/>
              </a:lnSpc>
            </a:pPr>
            <a:r>
              <a:rPr lang="en-US" sz="1699">
                <a:solidFill>
                  <a:srgbClr val="000000"/>
                </a:solidFill>
                <a:latin typeface="Nunito"/>
                <a:ea typeface="Nunito"/>
                <a:cs typeface="Nunito"/>
                <a:sym typeface="Nunito"/>
              </a:rPr>
              <a:t>Lumi's face brightened.</a:t>
            </a:r>
          </a:p>
          <a:p>
            <a:pPr algn="l">
              <a:lnSpc>
                <a:spcPts val="2379"/>
              </a:lnSpc>
            </a:pPr>
            <a:r>
              <a:rPr lang="en-US" sz="1699">
                <a:solidFill>
                  <a:srgbClr val="000000"/>
                </a:solidFill>
                <a:latin typeface="Nunito"/>
                <a:ea typeface="Nunito"/>
                <a:cs typeface="Nunito"/>
                <a:sym typeface="Nunito"/>
              </a:rPr>
              <a:t>“I think it's a shadow!”</a:t>
            </a:r>
          </a:p>
          <a:p>
            <a:pPr algn="l">
              <a:lnSpc>
                <a:spcPts val="2379"/>
              </a:lnSpc>
            </a:pPr>
            <a:r>
              <a:rPr lang="en-US" sz="1699">
                <a:solidFill>
                  <a:srgbClr val="000000"/>
                </a:solidFill>
                <a:latin typeface="Nunito"/>
                <a:ea typeface="Nunito"/>
                <a:cs typeface="Nunito"/>
                <a:sym typeface="Nunito"/>
              </a:rPr>
              <a:t>“A shadow?” Piko asked, turning to look at the wall.</a:t>
            </a:r>
          </a:p>
          <a:p>
            <a:pPr algn="l">
              <a:lnSpc>
                <a:spcPts val="2379"/>
              </a:lnSpc>
            </a:pPr>
            <a:r>
              <a:rPr lang="en-US" sz="1699">
                <a:solidFill>
                  <a:srgbClr val="000000"/>
                </a:solidFill>
                <a:latin typeface="Nunito"/>
                <a:ea typeface="Nunito"/>
                <a:cs typeface="Nunito"/>
                <a:sym typeface="Nunito"/>
              </a:rPr>
              <a:t>“Yes! When something blocks light, a darker area can form behind it.”</a:t>
            </a:r>
          </a:p>
          <a:p>
            <a:pPr algn="l">
              <a:lnSpc>
                <a:spcPts val="2379"/>
              </a:lnSpc>
            </a:pPr>
            <a:r>
              <a:rPr lang="en-US" sz="1699">
                <a:solidFill>
                  <a:srgbClr val="000000"/>
                </a:solidFill>
                <a:latin typeface="Nunito"/>
                <a:ea typeface="Nunito"/>
                <a:cs typeface="Nunito"/>
                <a:sym typeface="Nunito"/>
              </a:rPr>
              <a:t>Lumi placed the block on the bedside table and wrote in her notebook:</a:t>
            </a:r>
          </a:p>
          <a:p>
            <a:pPr algn="l">
              <a:lnSpc>
                <a:spcPts val="2379"/>
              </a:lnSpc>
            </a:pPr>
            <a:r>
              <a:rPr lang="en-US" sz="1699">
                <a:gradFill>
                  <a:gsLst>
                    <a:gs pos="0">
                      <a:srgbClr val="5A0A0C">
                        <a:alpha val="100000"/>
                      </a:srgbClr>
                    </a:gs>
                    <a:gs pos="50000">
                      <a:srgbClr val="BF628C">
                        <a:alpha val="100000"/>
                      </a:srgbClr>
                    </a:gs>
                    <a:gs pos="100000">
                      <a:srgbClr val="62BF9B">
                        <a:alpha val="100000"/>
                      </a:srgbClr>
                    </a:gs>
                  </a:gsLst>
                  <a:lin ang="0"/>
                </a:gradFill>
                <a:latin typeface="Comic Sans"/>
                <a:ea typeface="Comic Sans"/>
                <a:cs typeface="Comic Sans"/>
                <a:sym typeface="Comic Sans"/>
              </a:rPr>
              <a:t>DISCOVERY 1</a:t>
            </a:r>
          </a:p>
          <a:p>
            <a:pPr algn="l">
              <a:lnSpc>
                <a:spcPts val="2379"/>
              </a:lnSpc>
            </a:pPr>
            <a:r>
              <a:rPr lang="en-US" sz="1699">
                <a:solidFill>
                  <a:srgbClr val="000000"/>
                </a:solidFill>
                <a:latin typeface="Nunito"/>
                <a:ea typeface="Nunito"/>
                <a:cs typeface="Nunito"/>
                <a:sym typeface="Nunito"/>
              </a:rPr>
              <a:t>An object can block light and create a shadow.</a:t>
            </a:r>
          </a:p>
          <a:p>
            <a:pPr algn="l">
              <a:lnSpc>
                <a:spcPts val="2379"/>
              </a:lnSpc>
            </a:pPr>
            <a:r>
              <a:rPr lang="en-US" sz="1699">
                <a:solidFill>
                  <a:srgbClr val="000000"/>
                </a:solidFill>
                <a:latin typeface="Nunito"/>
                <a:ea typeface="Nunito"/>
                <a:cs typeface="Nunito"/>
                <a:sym typeface="Nunito"/>
              </a:rPr>
              <a:t>Piko fluttered in front of the wall.</a:t>
            </a:r>
          </a:p>
          <a:p>
            <a:pPr algn="l">
              <a:lnSpc>
                <a:spcPts val="2379"/>
              </a:lnSpc>
            </a:pPr>
            <a:r>
              <a:rPr lang="en-US" sz="1699">
                <a:solidFill>
                  <a:srgbClr val="000000"/>
                </a:solidFill>
                <a:latin typeface="Nunito"/>
                <a:ea typeface="Nunito"/>
                <a:cs typeface="Nunito"/>
                <a:sym typeface="Nunito"/>
              </a:rPr>
              <a:t>“Can I make a shadow too?”</a:t>
            </a:r>
          </a:p>
          <a:p>
            <a:pPr algn="l">
              <a:lnSpc>
                <a:spcPts val="2379"/>
              </a:lnSpc>
            </a:pPr>
            <a:r>
              <a:rPr lang="en-US" sz="1699">
                <a:solidFill>
                  <a:srgbClr val="000000"/>
                </a:solidFill>
                <a:latin typeface="Nunito"/>
                <a:ea typeface="Nunito"/>
                <a:cs typeface="Nunito"/>
                <a:sym typeface="Nunito"/>
              </a:rPr>
              <a:t>Lumi grinned.</a:t>
            </a:r>
          </a:p>
          <a:p>
            <a:pPr algn="l">
              <a:lnSpc>
                <a:spcPts val="2379"/>
              </a:lnSpc>
            </a:pPr>
            <a:r>
              <a:rPr lang="en-US" sz="1699">
                <a:solidFill>
                  <a:srgbClr val="000000"/>
                </a:solidFill>
                <a:latin typeface="Nunito"/>
                <a:ea typeface="Nunito"/>
                <a:cs typeface="Nunito"/>
                <a:sym typeface="Nunito"/>
              </a:rPr>
              <a:t>“There's only one way to find out!”</a:t>
            </a:r>
          </a:p>
          <a:p>
            <a:pPr algn="l">
              <a:lnSpc>
                <a:spcPts val="2379"/>
              </a:lnSpc>
            </a:pPr>
          </a:p>
        </p:txBody>
      </p:sp>
      <p:sp>
        <p:nvSpPr>
          <p:cNvPr name="TextBox 3" id="3"/>
          <p:cNvSpPr txBox="true"/>
          <p:nvPr/>
        </p:nvSpPr>
        <p:spPr>
          <a:xfrm rot="0">
            <a:off x="3690207" y="9563255"/>
            <a:ext cx="179586" cy="372745"/>
          </a:xfrm>
          <a:prstGeom prst="rect">
            <a:avLst/>
          </a:prstGeom>
        </p:spPr>
        <p:txBody>
          <a:bodyPr anchor="t" rtlCol="false" tIns="0" lIns="0" bIns="0" rIns="0">
            <a:spAutoFit/>
          </a:bodyPr>
          <a:lstStyle/>
          <a:p>
            <a:pPr algn="ctr">
              <a:lnSpc>
                <a:spcPts val="3079"/>
              </a:lnSpc>
            </a:pPr>
            <a:r>
              <a:rPr lang="en-US" sz="2199">
                <a:solidFill>
                  <a:srgbClr val="000000"/>
                </a:solidFill>
                <a:latin typeface="Canva Sans"/>
                <a:ea typeface="Canva Sans"/>
                <a:cs typeface="Canva Sans"/>
                <a:sym typeface="Canva Sans"/>
              </a:rPr>
              <a:t>9</a:t>
            </a:r>
          </a:p>
        </p:txBody>
      </p:sp>
      <p:sp>
        <p:nvSpPr>
          <p:cNvPr name="AutoShape 4" id="4"/>
          <p:cNvSpPr/>
          <p:nvPr/>
        </p:nvSpPr>
        <p:spPr>
          <a:xfrm>
            <a:off x="734406" y="746475"/>
            <a:ext cx="5751563" cy="0"/>
          </a:xfrm>
          <a:prstGeom prst="line">
            <a:avLst/>
          </a:prstGeom>
          <a:ln cap="flat" w="19050">
            <a:solidFill>
              <a:srgbClr val="7A6200">
                <a:alpha val="84706"/>
              </a:srgbClr>
            </a:solidFill>
            <a:prstDash val="solid"/>
            <a:headEnd type="none" len="sm" w="sm"/>
            <a:tailEnd type="none" len="sm" w="sm"/>
          </a:ln>
        </p:spPr>
      </p:sp>
    </p:spTree>
  </p:cSld>
  <p:clrMapOvr>
    <a:masterClrMapping/>
  </p:clrMapOvr>
</p:sld>
</file>

<file path=ppt/slides/slide13.xml><?xml version="1.0" encoding="utf-8"?>
<p:sld xmlns:p="http://schemas.openxmlformats.org/presentationml/2006/main" xmlns:a="http://schemas.openxmlformats.org/drawingml/2006/main">
  <p:cSld>
    <p:bg>
      <p:bgPr>
        <a:solidFill>
          <a:srgbClr val="CCCCBC"/>
        </a:solidFill>
      </p:bgPr>
    </p:bg>
    <p:spTree>
      <p:nvGrpSpPr>
        <p:cNvPr id="1" name=""/>
        <p:cNvGrpSpPr/>
        <p:nvPr/>
      </p:nvGrpSpPr>
      <p:grpSpPr>
        <a:xfrm>
          <a:off x="0" y="0"/>
          <a:ext cx="0" cy="0"/>
          <a:chOff x="0" y="0"/>
          <a:chExt cx="0" cy="0"/>
        </a:xfrm>
      </p:grpSpPr>
      <p:sp>
        <p:nvSpPr>
          <p:cNvPr name="TextBox 2" id="2"/>
          <p:cNvSpPr txBox="true"/>
          <p:nvPr/>
        </p:nvSpPr>
        <p:spPr>
          <a:xfrm rot="0">
            <a:off x="756000" y="727425"/>
            <a:ext cx="6048000" cy="8253095"/>
          </a:xfrm>
          <a:prstGeom prst="rect">
            <a:avLst/>
          </a:prstGeom>
        </p:spPr>
        <p:txBody>
          <a:bodyPr anchor="t" rtlCol="false" tIns="0" lIns="0" bIns="0" rIns="0">
            <a:spAutoFit/>
          </a:bodyPr>
          <a:lstStyle/>
          <a:p>
            <a:pPr algn="l">
              <a:lnSpc>
                <a:spcPts val="2379"/>
              </a:lnSpc>
            </a:pPr>
          </a:p>
          <a:p>
            <a:pPr algn="l">
              <a:lnSpc>
                <a:spcPts val="2379"/>
              </a:lnSpc>
            </a:pPr>
            <a:r>
              <a:rPr lang="en-US" sz="1699">
                <a:solidFill>
                  <a:srgbClr val="000000"/>
                </a:solidFill>
                <a:latin typeface="Nunito"/>
                <a:ea typeface="Nunito"/>
                <a:cs typeface="Nunito"/>
                <a:sym typeface="Nunito"/>
              </a:rPr>
              <a:t>Piko flew towards the wall and spread his tiny wings as wide as he could.</a:t>
            </a:r>
          </a:p>
          <a:p>
            <a:pPr algn="l">
              <a:lnSpc>
                <a:spcPts val="2379"/>
              </a:lnSpc>
            </a:pPr>
            <a:r>
              <a:rPr lang="en-US" sz="1699">
                <a:solidFill>
                  <a:srgbClr val="000000"/>
                </a:solidFill>
                <a:latin typeface="Nunito"/>
                <a:ea typeface="Nunito"/>
                <a:cs typeface="Nunito"/>
                <a:sym typeface="Nunito"/>
              </a:rPr>
              <a:t>“Look at me!” he announced. “I'm going to make the biggest shadow in the whole room!”</a:t>
            </a:r>
          </a:p>
          <a:p>
            <a:pPr algn="l">
              <a:lnSpc>
                <a:spcPts val="2379"/>
              </a:lnSpc>
            </a:pPr>
            <a:r>
              <a:rPr lang="en-US" sz="1699">
                <a:solidFill>
                  <a:srgbClr val="000000"/>
                </a:solidFill>
                <a:latin typeface="Nunito"/>
                <a:ea typeface="Nunito"/>
                <a:cs typeface="Nunito"/>
                <a:sym typeface="Nunito"/>
              </a:rPr>
              <a:t>He puffed out his chest.</a:t>
            </a:r>
          </a:p>
          <a:p>
            <a:pPr algn="l">
              <a:lnSpc>
                <a:spcPts val="2379"/>
              </a:lnSpc>
            </a:pPr>
            <a:r>
              <a:rPr lang="en-US" sz="1699">
                <a:solidFill>
                  <a:srgbClr val="000000"/>
                </a:solidFill>
                <a:latin typeface="Nunito"/>
                <a:ea typeface="Nunito"/>
                <a:cs typeface="Nunito"/>
                <a:sym typeface="Nunito"/>
              </a:rPr>
              <a:t>He stretched his wings.</a:t>
            </a:r>
          </a:p>
          <a:p>
            <a:pPr algn="l">
              <a:lnSpc>
                <a:spcPts val="2379"/>
              </a:lnSpc>
            </a:pPr>
            <a:r>
              <a:rPr lang="en-US" sz="1699">
                <a:solidFill>
                  <a:srgbClr val="000000"/>
                </a:solidFill>
                <a:latin typeface="Nunito"/>
                <a:ea typeface="Nunito"/>
                <a:cs typeface="Nunito"/>
                <a:sym typeface="Nunito"/>
              </a:rPr>
              <a:t>He even tried making a fierce face.</a:t>
            </a:r>
          </a:p>
          <a:p>
            <a:pPr algn="l">
              <a:lnSpc>
                <a:spcPts val="2379"/>
              </a:lnSpc>
            </a:pPr>
            <a:r>
              <a:rPr lang="en-US" sz="1699">
                <a:solidFill>
                  <a:srgbClr val="000000"/>
                </a:solidFill>
                <a:latin typeface="Nunito"/>
                <a:ea typeface="Nunito"/>
                <a:cs typeface="Nunito"/>
                <a:sym typeface="Nunito"/>
              </a:rPr>
              <a:t>But the wall remained just as it was.</a:t>
            </a:r>
          </a:p>
          <a:p>
            <a:pPr algn="l">
              <a:lnSpc>
                <a:spcPts val="2379"/>
              </a:lnSpc>
            </a:pPr>
            <a:r>
              <a:rPr lang="en-US" sz="1699">
                <a:solidFill>
                  <a:srgbClr val="000000"/>
                </a:solidFill>
                <a:latin typeface="Nunito"/>
                <a:ea typeface="Nunito"/>
                <a:cs typeface="Nunito"/>
                <a:sym typeface="Nunito"/>
              </a:rPr>
              <a:t>No little shadow appeared.</a:t>
            </a:r>
          </a:p>
          <a:p>
            <a:pPr algn="l">
              <a:lnSpc>
                <a:spcPts val="2379"/>
              </a:lnSpc>
            </a:pPr>
            <a:r>
              <a:rPr lang="en-US" sz="1699">
                <a:solidFill>
                  <a:srgbClr val="000000"/>
                </a:solidFill>
                <a:latin typeface="Nunito"/>
                <a:ea typeface="Nunito"/>
                <a:cs typeface="Nunito"/>
                <a:sym typeface="Nunito"/>
              </a:rPr>
              <a:t>Piko turned around slowly.</a:t>
            </a:r>
          </a:p>
          <a:p>
            <a:pPr algn="l">
              <a:lnSpc>
                <a:spcPts val="2379"/>
              </a:lnSpc>
            </a:pPr>
            <a:r>
              <a:rPr lang="en-US" sz="1699">
                <a:solidFill>
                  <a:srgbClr val="000000"/>
                </a:solidFill>
                <a:latin typeface="Nunito"/>
                <a:ea typeface="Nunito"/>
                <a:cs typeface="Nunito"/>
                <a:sym typeface="Nunito"/>
              </a:rPr>
              <a:t>“That's strange. I have wings, don't I?”</a:t>
            </a:r>
          </a:p>
          <a:p>
            <a:pPr algn="l">
              <a:lnSpc>
                <a:spcPts val="2379"/>
              </a:lnSpc>
            </a:pPr>
            <a:r>
              <a:rPr lang="en-US" sz="1699">
                <a:solidFill>
                  <a:srgbClr val="000000"/>
                </a:solidFill>
                <a:latin typeface="Nunito"/>
                <a:ea typeface="Nunito"/>
                <a:cs typeface="Nunito"/>
                <a:sym typeface="Nunito"/>
              </a:rPr>
              <a:t>“You certainly do,” Lumi replied.</a:t>
            </a:r>
          </a:p>
          <a:p>
            <a:pPr algn="l">
              <a:lnSpc>
                <a:spcPts val="2379"/>
              </a:lnSpc>
            </a:pPr>
            <a:r>
              <a:rPr lang="en-US" sz="1699">
                <a:solidFill>
                  <a:srgbClr val="000000"/>
                </a:solidFill>
                <a:latin typeface="Nunito"/>
                <a:ea typeface="Nunito"/>
                <a:cs typeface="Nunito"/>
                <a:sym typeface="Nunito"/>
              </a:rPr>
              <a:t>“And I have a body?”</a:t>
            </a:r>
          </a:p>
          <a:p>
            <a:pPr algn="l">
              <a:lnSpc>
                <a:spcPts val="2379"/>
              </a:lnSpc>
            </a:pPr>
            <a:r>
              <a:rPr lang="en-US" sz="1699">
                <a:solidFill>
                  <a:srgbClr val="000000"/>
                </a:solidFill>
                <a:latin typeface="Nunito"/>
                <a:ea typeface="Nunito"/>
                <a:cs typeface="Nunito"/>
                <a:sym typeface="Nunito"/>
              </a:rPr>
              <a:t>“Yes, Piko.”</a:t>
            </a:r>
          </a:p>
          <a:p>
            <a:pPr algn="l">
              <a:lnSpc>
                <a:spcPts val="2379"/>
              </a:lnSpc>
            </a:pPr>
            <a:r>
              <a:rPr lang="en-US" sz="1699">
                <a:solidFill>
                  <a:srgbClr val="000000"/>
                </a:solidFill>
                <a:latin typeface="Nunito"/>
                <a:ea typeface="Nunito"/>
                <a:cs typeface="Nunito"/>
                <a:sym typeface="Nunito"/>
              </a:rPr>
              <a:t>“Then where is my shadow?”</a:t>
            </a:r>
          </a:p>
          <a:p>
            <a:pPr algn="l">
              <a:lnSpc>
                <a:spcPts val="2379"/>
              </a:lnSpc>
            </a:pPr>
            <a:r>
              <a:rPr lang="en-US" sz="1699">
                <a:solidFill>
                  <a:srgbClr val="000000"/>
                </a:solidFill>
                <a:latin typeface="Nunito"/>
                <a:ea typeface="Nunito"/>
                <a:cs typeface="Nunito"/>
                <a:sym typeface="Nunito"/>
              </a:rPr>
              <a:t>Lumi studied him carefully. She moved her head from side to side, checking the wall from different angles.</a:t>
            </a:r>
          </a:p>
          <a:p>
            <a:pPr algn="l">
              <a:lnSpc>
                <a:spcPts val="2379"/>
              </a:lnSpc>
            </a:pPr>
            <a:r>
              <a:rPr lang="en-US" sz="1699">
                <a:solidFill>
                  <a:srgbClr val="000000"/>
                </a:solidFill>
                <a:latin typeface="Nunito"/>
                <a:ea typeface="Nunito"/>
                <a:cs typeface="Nunito"/>
                <a:sym typeface="Nunito"/>
              </a:rPr>
              <a:t>“Maybe we need to change something,” she said. “Scientists don't give up when an experiment surprises them. They ask another question.”</a:t>
            </a:r>
          </a:p>
          <a:p>
            <a:pPr algn="l">
              <a:lnSpc>
                <a:spcPts val="2379"/>
              </a:lnSpc>
            </a:pPr>
            <a:r>
              <a:rPr lang="en-US" sz="1699">
                <a:solidFill>
                  <a:srgbClr val="000000"/>
                </a:solidFill>
                <a:latin typeface="Nunito"/>
                <a:ea typeface="Nunito"/>
                <a:cs typeface="Nunito"/>
                <a:sym typeface="Nunito"/>
              </a:rPr>
              <a:t>She opened her notebook and wrote:</a:t>
            </a:r>
          </a:p>
          <a:p>
            <a:pPr algn="l">
              <a:lnSpc>
                <a:spcPts val="2379"/>
              </a:lnSpc>
            </a:pPr>
            <a:r>
              <a:rPr lang="en-US" sz="1699">
                <a:gradFill>
                  <a:gsLst>
                    <a:gs pos="0">
                      <a:srgbClr val="5A0A0C">
                        <a:alpha val="100000"/>
                      </a:srgbClr>
                    </a:gs>
                    <a:gs pos="50000">
                      <a:srgbClr val="BF628C">
                        <a:alpha val="100000"/>
                      </a:srgbClr>
                    </a:gs>
                    <a:gs pos="100000">
                      <a:srgbClr val="62BF9B">
                        <a:alpha val="100000"/>
                      </a:srgbClr>
                    </a:gs>
                  </a:gsLst>
                  <a:lin ang="0"/>
                </a:gradFill>
                <a:latin typeface="Comic Sans"/>
                <a:ea typeface="Comic Sans"/>
                <a:cs typeface="Comic Sans"/>
                <a:sym typeface="Comic Sans"/>
              </a:rPr>
              <a:t>QUESTION 3</a:t>
            </a:r>
          </a:p>
          <a:p>
            <a:pPr algn="l">
              <a:lnSpc>
                <a:spcPts val="2379"/>
              </a:lnSpc>
            </a:pPr>
            <a:r>
              <a:rPr lang="en-US" sz="1699">
                <a:solidFill>
                  <a:srgbClr val="000000"/>
                </a:solidFill>
                <a:latin typeface="Nunito"/>
                <a:ea typeface="Nunito"/>
                <a:cs typeface="Nunito"/>
                <a:sym typeface="Nunito"/>
              </a:rPr>
              <a:t>Why can't we see Piko's shadow?</a:t>
            </a:r>
          </a:p>
          <a:p>
            <a:pPr algn="l">
              <a:lnSpc>
                <a:spcPts val="2379"/>
              </a:lnSpc>
            </a:pPr>
            <a:r>
              <a:rPr lang="en-US" sz="1699">
                <a:solidFill>
                  <a:srgbClr val="000000"/>
                </a:solidFill>
                <a:latin typeface="Nunito"/>
                <a:ea typeface="Nunito"/>
                <a:cs typeface="Nunito"/>
                <a:sym typeface="Nunito"/>
              </a:rPr>
              <a:t>Piko looked at the notebook, then at Lumi.</a:t>
            </a:r>
          </a:p>
          <a:p>
            <a:pPr algn="l">
              <a:lnSpc>
                <a:spcPts val="2379"/>
              </a:lnSpc>
            </a:pPr>
            <a:r>
              <a:rPr lang="en-US" sz="1699">
                <a:solidFill>
                  <a:srgbClr val="000000"/>
                </a:solidFill>
                <a:latin typeface="Nunito"/>
                <a:ea typeface="Nunito"/>
                <a:cs typeface="Nunito"/>
                <a:sym typeface="Nunito"/>
              </a:rPr>
              <a:t>“I hope your next question helps me find it!”</a:t>
            </a:r>
          </a:p>
          <a:p>
            <a:pPr algn="l">
              <a:lnSpc>
                <a:spcPts val="2379"/>
              </a:lnSpc>
            </a:pPr>
          </a:p>
          <a:p>
            <a:pPr algn="l">
              <a:lnSpc>
                <a:spcPts val="2379"/>
              </a:lnSpc>
            </a:pPr>
          </a:p>
        </p:txBody>
      </p:sp>
      <p:sp>
        <p:nvSpPr>
          <p:cNvPr name="TextBox 3" id="3"/>
          <p:cNvSpPr txBox="true"/>
          <p:nvPr/>
        </p:nvSpPr>
        <p:spPr>
          <a:xfrm rot="0">
            <a:off x="3610187" y="9563255"/>
            <a:ext cx="339626" cy="372745"/>
          </a:xfrm>
          <a:prstGeom prst="rect">
            <a:avLst/>
          </a:prstGeom>
        </p:spPr>
        <p:txBody>
          <a:bodyPr anchor="t" rtlCol="false" tIns="0" lIns="0" bIns="0" rIns="0">
            <a:spAutoFit/>
          </a:bodyPr>
          <a:lstStyle/>
          <a:p>
            <a:pPr algn="ctr">
              <a:lnSpc>
                <a:spcPts val="3079"/>
              </a:lnSpc>
            </a:pPr>
            <a:r>
              <a:rPr lang="en-US" sz="2199">
                <a:solidFill>
                  <a:srgbClr val="000000"/>
                </a:solidFill>
                <a:latin typeface="Canva Sans"/>
                <a:ea typeface="Canva Sans"/>
                <a:cs typeface="Canva Sans"/>
                <a:sym typeface="Canva Sans"/>
              </a:rPr>
              <a:t>10</a:t>
            </a:r>
          </a:p>
        </p:txBody>
      </p:sp>
      <p:sp>
        <p:nvSpPr>
          <p:cNvPr name="AutoShape 4" id="4"/>
          <p:cNvSpPr/>
          <p:nvPr/>
        </p:nvSpPr>
        <p:spPr>
          <a:xfrm>
            <a:off x="755539" y="514983"/>
            <a:ext cx="5751563" cy="0"/>
          </a:xfrm>
          <a:prstGeom prst="line">
            <a:avLst/>
          </a:prstGeom>
          <a:ln cap="flat" w="19050">
            <a:solidFill>
              <a:srgbClr val="7A6200">
                <a:alpha val="84706"/>
              </a:srgbClr>
            </a:solidFill>
            <a:prstDash val="solid"/>
            <a:headEnd type="none" len="sm" w="sm"/>
            <a:tailEnd type="none" len="sm" w="sm"/>
          </a:ln>
        </p:spPr>
      </p:sp>
    </p:spTree>
  </p:cSld>
  <p:clrMapOvr>
    <a:masterClrMapping/>
  </p:clrMapOvr>
</p:sld>
</file>

<file path=ppt/slides/slide14.xml><?xml version="1.0" encoding="utf-8"?>
<p:sld xmlns:p="http://schemas.openxmlformats.org/presentationml/2006/main" xmlns:a="http://schemas.openxmlformats.org/drawingml/2006/main">
  <p:cSld>
    <p:bg>
      <p:bgPr>
        <a:solidFill>
          <a:srgbClr val="CCCCBC"/>
        </a:solidFill>
      </p:bgPr>
    </p:bg>
    <p:spTree>
      <p:nvGrpSpPr>
        <p:cNvPr id="1" name=""/>
        <p:cNvGrpSpPr/>
        <p:nvPr/>
      </p:nvGrpSpPr>
      <p:grpSpPr>
        <a:xfrm>
          <a:off x="0" y="0"/>
          <a:ext cx="0" cy="0"/>
          <a:chOff x="0" y="0"/>
          <a:chExt cx="0" cy="0"/>
        </a:xfrm>
      </p:grpSpPr>
      <p:sp>
        <p:nvSpPr>
          <p:cNvPr name="TextBox 2" id="2"/>
          <p:cNvSpPr txBox="true"/>
          <p:nvPr/>
        </p:nvSpPr>
        <p:spPr>
          <a:xfrm rot="0">
            <a:off x="756000" y="727425"/>
            <a:ext cx="6048000" cy="7957820"/>
          </a:xfrm>
          <a:prstGeom prst="rect">
            <a:avLst/>
          </a:prstGeom>
        </p:spPr>
        <p:txBody>
          <a:bodyPr anchor="t" rtlCol="false" tIns="0" lIns="0" bIns="0" rIns="0">
            <a:spAutoFit/>
          </a:bodyPr>
          <a:lstStyle/>
          <a:p>
            <a:pPr algn="l">
              <a:lnSpc>
                <a:spcPts val="2379"/>
              </a:lnSpc>
            </a:pPr>
          </a:p>
          <a:p>
            <a:pPr algn="l">
              <a:lnSpc>
                <a:spcPts val="2379"/>
              </a:lnSpc>
            </a:pPr>
            <a:r>
              <a:rPr lang="en-US" sz="1699">
                <a:solidFill>
                  <a:srgbClr val="000000"/>
                </a:solidFill>
                <a:latin typeface="Nunito"/>
                <a:ea typeface="Nunito"/>
                <a:cs typeface="Nunito"/>
                <a:sym typeface="Nunito"/>
              </a:rPr>
              <a:t>Lumi looked at the wooden block, then at Piko, then at the wall.</a:t>
            </a:r>
          </a:p>
          <a:p>
            <a:pPr algn="l">
              <a:lnSpc>
                <a:spcPts val="2379"/>
              </a:lnSpc>
            </a:pPr>
            <a:r>
              <a:rPr lang="en-US" sz="1699">
                <a:solidFill>
                  <a:srgbClr val="000000"/>
                </a:solidFill>
                <a:latin typeface="Nunito"/>
                <a:ea typeface="Nunito"/>
                <a:cs typeface="Nunito"/>
                <a:sym typeface="Nunito"/>
              </a:rPr>
              <a:t>“When we used the block, we saw a shadow,” she said. “But when you tried, nothing happened.”</a:t>
            </a:r>
          </a:p>
          <a:p>
            <a:pPr algn="l">
              <a:lnSpc>
                <a:spcPts val="2379"/>
              </a:lnSpc>
            </a:pPr>
            <a:r>
              <a:rPr lang="en-US" sz="1699">
                <a:solidFill>
                  <a:srgbClr val="000000"/>
                </a:solidFill>
                <a:latin typeface="Nunito"/>
                <a:ea typeface="Nunito"/>
                <a:cs typeface="Nunito"/>
                <a:sym typeface="Nunito"/>
              </a:rPr>
              <a:t>Piko folded his wings.</a:t>
            </a:r>
          </a:p>
          <a:p>
            <a:pPr algn="l">
              <a:lnSpc>
                <a:spcPts val="2379"/>
              </a:lnSpc>
            </a:pPr>
            <a:r>
              <a:rPr lang="en-US" sz="1699">
                <a:solidFill>
                  <a:srgbClr val="000000"/>
                </a:solidFill>
                <a:latin typeface="Nunito"/>
                <a:ea typeface="Nunito"/>
                <a:cs typeface="Nunito"/>
                <a:sym typeface="Nunito"/>
              </a:rPr>
              <a:t>“Perhaps my shadow is shy.”</a:t>
            </a:r>
          </a:p>
          <a:p>
            <a:pPr algn="l">
              <a:lnSpc>
                <a:spcPts val="2379"/>
              </a:lnSpc>
            </a:pPr>
            <a:r>
              <a:rPr lang="en-US" sz="1699">
                <a:solidFill>
                  <a:srgbClr val="000000"/>
                </a:solidFill>
                <a:latin typeface="Nunito"/>
                <a:ea typeface="Nunito"/>
                <a:cs typeface="Nunito"/>
                <a:sym typeface="Nunito"/>
              </a:rPr>
              <a:t>Lumi giggled.</a:t>
            </a:r>
          </a:p>
          <a:p>
            <a:pPr algn="l">
              <a:lnSpc>
                <a:spcPts val="2379"/>
              </a:lnSpc>
            </a:pPr>
            <a:r>
              <a:rPr lang="en-US" sz="1699">
                <a:solidFill>
                  <a:srgbClr val="000000"/>
                </a:solidFill>
                <a:latin typeface="Nunito"/>
                <a:ea typeface="Nunito"/>
                <a:cs typeface="Nunito"/>
                <a:sym typeface="Nunito"/>
              </a:rPr>
              <a:t>“Perhaps! But let's try changing one thing at a time.”</a:t>
            </a:r>
          </a:p>
          <a:p>
            <a:pPr algn="l">
              <a:lnSpc>
                <a:spcPts val="2379"/>
              </a:lnSpc>
            </a:pPr>
            <a:r>
              <a:rPr lang="en-US" sz="1699">
                <a:solidFill>
                  <a:srgbClr val="000000"/>
                </a:solidFill>
                <a:latin typeface="Nunito"/>
                <a:ea typeface="Nunito"/>
                <a:cs typeface="Nunito"/>
                <a:sym typeface="Nunito"/>
              </a:rPr>
              <a:t>She picked up the little spoon and held it between Piko and the wall.</a:t>
            </a:r>
          </a:p>
          <a:p>
            <a:pPr algn="l">
              <a:lnSpc>
                <a:spcPts val="2379"/>
              </a:lnSpc>
            </a:pPr>
            <a:r>
              <a:rPr lang="en-US" sz="1699">
                <a:solidFill>
                  <a:srgbClr val="000000"/>
                </a:solidFill>
                <a:latin typeface="Nunito"/>
                <a:ea typeface="Nunito"/>
                <a:cs typeface="Nunito"/>
                <a:sym typeface="Nunito"/>
              </a:rPr>
              <a:t>A small shadow appeared.</a:t>
            </a:r>
          </a:p>
          <a:p>
            <a:pPr algn="l">
              <a:lnSpc>
                <a:spcPts val="2379"/>
              </a:lnSpc>
            </a:pPr>
            <a:r>
              <a:rPr lang="en-US" sz="1699">
                <a:solidFill>
                  <a:srgbClr val="000000"/>
                </a:solidFill>
                <a:latin typeface="Nunito"/>
                <a:ea typeface="Nunito"/>
                <a:cs typeface="Nunito"/>
                <a:sym typeface="Nunito"/>
              </a:rPr>
              <a:t>Lumi's eyes widened.</a:t>
            </a:r>
          </a:p>
          <a:p>
            <a:pPr algn="l">
              <a:lnSpc>
                <a:spcPts val="2379"/>
              </a:lnSpc>
            </a:pPr>
            <a:r>
              <a:rPr lang="en-US" sz="1699">
                <a:solidFill>
                  <a:srgbClr val="000000"/>
                </a:solidFill>
                <a:latin typeface="Nunito"/>
                <a:ea typeface="Nunito"/>
                <a:cs typeface="Nunito"/>
                <a:sym typeface="Nunito"/>
              </a:rPr>
              <a:t>She moved the spoon closer to Piko.</a:t>
            </a:r>
          </a:p>
          <a:p>
            <a:pPr algn="l">
              <a:lnSpc>
                <a:spcPts val="2379"/>
              </a:lnSpc>
            </a:pPr>
            <a:r>
              <a:rPr lang="en-US" sz="1699">
                <a:solidFill>
                  <a:srgbClr val="000000"/>
                </a:solidFill>
                <a:latin typeface="Nunito"/>
                <a:ea typeface="Nunito"/>
                <a:cs typeface="Nunito"/>
                <a:sym typeface="Nunito"/>
              </a:rPr>
              <a:t>The shadow changed.</a:t>
            </a:r>
          </a:p>
          <a:p>
            <a:pPr algn="l">
              <a:lnSpc>
                <a:spcPts val="2379"/>
              </a:lnSpc>
            </a:pPr>
            <a:r>
              <a:rPr lang="en-US" sz="1699">
                <a:solidFill>
                  <a:srgbClr val="000000"/>
                </a:solidFill>
                <a:latin typeface="Nunito"/>
                <a:ea typeface="Nunito"/>
                <a:cs typeface="Nunito"/>
                <a:sym typeface="Nunito"/>
              </a:rPr>
              <a:t>Then she moved the spoon closer to the wall.</a:t>
            </a:r>
          </a:p>
          <a:p>
            <a:pPr algn="l">
              <a:lnSpc>
                <a:spcPts val="2379"/>
              </a:lnSpc>
            </a:pPr>
            <a:r>
              <a:rPr lang="en-US" sz="1699">
                <a:solidFill>
                  <a:srgbClr val="000000"/>
                </a:solidFill>
                <a:latin typeface="Nunito"/>
                <a:ea typeface="Nunito"/>
                <a:cs typeface="Nunito"/>
                <a:sym typeface="Nunito"/>
              </a:rPr>
              <a:t>The shadow changed again.</a:t>
            </a:r>
          </a:p>
          <a:p>
            <a:pPr algn="l">
              <a:lnSpc>
                <a:spcPts val="2379"/>
              </a:lnSpc>
            </a:pPr>
            <a:r>
              <a:rPr lang="en-US" sz="1699">
                <a:solidFill>
                  <a:srgbClr val="000000"/>
                </a:solidFill>
                <a:latin typeface="Nunito"/>
                <a:ea typeface="Nunito"/>
                <a:cs typeface="Nunito"/>
                <a:sym typeface="Nunito"/>
              </a:rPr>
              <a:t>“Look, Piko! The distance makes a difference!”</a:t>
            </a:r>
          </a:p>
          <a:p>
            <a:pPr algn="l">
              <a:lnSpc>
                <a:spcPts val="2379"/>
              </a:lnSpc>
            </a:pPr>
            <a:r>
              <a:rPr lang="en-US" sz="1699">
                <a:solidFill>
                  <a:srgbClr val="000000"/>
                </a:solidFill>
                <a:latin typeface="Nunito"/>
                <a:ea typeface="Nunito"/>
                <a:cs typeface="Nunito"/>
                <a:sym typeface="Nunito"/>
              </a:rPr>
              <a:t>Piko floated closer to the spoon.</a:t>
            </a:r>
          </a:p>
          <a:p>
            <a:pPr algn="l">
              <a:lnSpc>
                <a:spcPts val="2379"/>
              </a:lnSpc>
            </a:pPr>
            <a:r>
              <a:rPr lang="en-US" sz="1699">
                <a:solidFill>
                  <a:srgbClr val="000000"/>
                </a:solidFill>
                <a:latin typeface="Nunito"/>
                <a:ea typeface="Nunito"/>
                <a:cs typeface="Nunito"/>
                <a:sym typeface="Nunito"/>
              </a:rPr>
              <a:t>“Does that mean we are getting closer to the answer?”</a:t>
            </a:r>
          </a:p>
          <a:p>
            <a:pPr algn="l">
              <a:lnSpc>
                <a:spcPts val="2379"/>
              </a:lnSpc>
            </a:pPr>
            <a:r>
              <a:rPr lang="en-US" sz="1699">
                <a:solidFill>
                  <a:srgbClr val="000000"/>
                </a:solidFill>
                <a:latin typeface="Nunito"/>
                <a:ea typeface="Nunito"/>
                <a:cs typeface="Nunito"/>
                <a:sym typeface="Nunito"/>
              </a:rPr>
              <a:t>“I think so,” Lumi said. “But we still need to understand what is happening.”</a:t>
            </a:r>
          </a:p>
          <a:p>
            <a:pPr algn="l">
              <a:lnSpc>
                <a:spcPts val="2379"/>
              </a:lnSpc>
            </a:pPr>
            <a:r>
              <a:rPr lang="en-US" sz="1699">
                <a:solidFill>
                  <a:srgbClr val="000000"/>
                </a:solidFill>
                <a:latin typeface="Nunito"/>
                <a:ea typeface="Nunito"/>
                <a:cs typeface="Nunito"/>
                <a:sym typeface="Nunito"/>
              </a:rPr>
              <a:t>She wrote in her notebook:</a:t>
            </a:r>
          </a:p>
          <a:p>
            <a:pPr algn="l">
              <a:lnSpc>
                <a:spcPts val="2379"/>
              </a:lnSpc>
            </a:pPr>
            <a:r>
              <a:rPr lang="en-US" sz="1699">
                <a:gradFill>
                  <a:gsLst>
                    <a:gs pos="0">
                      <a:srgbClr val="5A0A0C">
                        <a:alpha val="100000"/>
                      </a:srgbClr>
                    </a:gs>
                    <a:gs pos="50000">
                      <a:srgbClr val="BF628C">
                        <a:alpha val="100000"/>
                      </a:srgbClr>
                    </a:gs>
                    <a:gs pos="100000">
                      <a:srgbClr val="62BF9B">
                        <a:alpha val="100000"/>
                      </a:srgbClr>
                    </a:gs>
                  </a:gsLst>
                  <a:lin ang="0"/>
                </a:gradFill>
                <a:latin typeface="Comic Sans"/>
                <a:ea typeface="Comic Sans"/>
                <a:cs typeface="Comic Sans"/>
                <a:sym typeface="Comic Sans"/>
              </a:rPr>
              <a:t>OBSERVATION 2</a:t>
            </a:r>
          </a:p>
          <a:p>
            <a:pPr algn="l">
              <a:lnSpc>
                <a:spcPts val="2379"/>
              </a:lnSpc>
            </a:pPr>
            <a:r>
              <a:rPr lang="en-US" sz="1699">
                <a:solidFill>
                  <a:srgbClr val="000000"/>
                </a:solidFill>
                <a:latin typeface="Nunito"/>
                <a:ea typeface="Nunito"/>
                <a:cs typeface="Nunito"/>
                <a:sym typeface="Nunito"/>
              </a:rPr>
              <a:t>Changing an object's position can change its shadow.</a:t>
            </a:r>
          </a:p>
          <a:p>
            <a:pPr algn="l">
              <a:lnSpc>
                <a:spcPts val="2379"/>
              </a:lnSpc>
            </a:pPr>
          </a:p>
          <a:p>
            <a:pPr algn="l">
              <a:lnSpc>
                <a:spcPts val="2379"/>
              </a:lnSpc>
            </a:pPr>
          </a:p>
        </p:txBody>
      </p:sp>
      <p:sp>
        <p:nvSpPr>
          <p:cNvPr name="TextBox 3" id="3"/>
          <p:cNvSpPr txBox="true"/>
          <p:nvPr/>
        </p:nvSpPr>
        <p:spPr>
          <a:xfrm rot="0">
            <a:off x="3631321" y="9563255"/>
            <a:ext cx="297359" cy="372745"/>
          </a:xfrm>
          <a:prstGeom prst="rect">
            <a:avLst/>
          </a:prstGeom>
        </p:spPr>
        <p:txBody>
          <a:bodyPr anchor="t" rtlCol="false" tIns="0" lIns="0" bIns="0" rIns="0">
            <a:spAutoFit/>
          </a:bodyPr>
          <a:lstStyle/>
          <a:p>
            <a:pPr algn="ctr">
              <a:lnSpc>
                <a:spcPts val="3079"/>
              </a:lnSpc>
            </a:pPr>
            <a:r>
              <a:rPr lang="en-US" sz="2199">
                <a:solidFill>
                  <a:srgbClr val="000000"/>
                </a:solidFill>
                <a:latin typeface="Canva Sans"/>
                <a:ea typeface="Canva Sans"/>
                <a:cs typeface="Canva Sans"/>
                <a:sym typeface="Canva Sans"/>
              </a:rPr>
              <a:t>11</a:t>
            </a:r>
          </a:p>
        </p:txBody>
      </p:sp>
      <p:sp>
        <p:nvSpPr>
          <p:cNvPr name="AutoShape 4" id="4"/>
          <p:cNvSpPr/>
          <p:nvPr/>
        </p:nvSpPr>
        <p:spPr>
          <a:xfrm>
            <a:off x="756000" y="746475"/>
            <a:ext cx="5751563" cy="0"/>
          </a:xfrm>
          <a:prstGeom prst="line">
            <a:avLst/>
          </a:prstGeom>
          <a:ln cap="flat" w="19050">
            <a:solidFill>
              <a:srgbClr val="7A6200">
                <a:alpha val="84706"/>
              </a:srgbClr>
            </a:solidFill>
            <a:prstDash val="solid"/>
            <a:headEnd type="none" len="sm" w="sm"/>
            <a:tailEnd type="none" len="sm" w="sm"/>
          </a:ln>
        </p:spPr>
      </p:sp>
    </p:spTree>
  </p:cSld>
  <p:clrMapOvr>
    <a:masterClrMapping/>
  </p:clrMapOvr>
</p:sld>
</file>

<file path=ppt/slides/slide15.xml><?xml version="1.0" encoding="utf-8"?>
<p:sld xmlns:p="http://schemas.openxmlformats.org/presentationml/2006/main" xmlns:a="http://schemas.openxmlformats.org/drawingml/2006/main">
  <p:cSld>
    <p:bg>
      <p:bgPr>
        <a:solidFill>
          <a:srgbClr val="CCCCBC"/>
        </a:solidFill>
      </p:bgPr>
    </p:bg>
    <p:spTree>
      <p:nvGrpSpPr>
        <p:cNvPr id="1" name=""/>
        <p:cNvGrpSpPr/>
        <p:nvPr/>
      </p:nvGrpSpPr>
      <p:grpSpPr>
        <a:xfrm>
          <a:off x="0" y="0"/>
          <a:ext cx="0" cy="0"/>
          <a:chOff x="0" y="0"/>
          <a:chExt cx="0" cy="0"/>
        </a:xfrm>
      </p:grpSpPr>
      <p:sp>
        <p:nvSpPr>
          <p:cNvPr name="TextBox 2" id="2"/>
          <p:cNvSpPr txBox="true"/>
          <p:nvPr/>
        </p:nvSpPr>
        <p:spPr>
          <a:xfrm rot="0">
            <a:off x="756000" y="727425"/>
            <a:ext cx="6048000" cy="8227060"/>
          </a:xfrm>
          <a:prstGeom prst="rect">
            <a:avLst/>
          </a:prstGeom>
        </p:spPr>
        <p:txBody>
          <a:bodyPr anchor="t" rtlCol="false" tIns="0" lIns="0" bIns="0" rIns="0">
            <a:spAutoFit/>
          </a:bodyPr>
          <a:lstStyle/>
          <a:p>
            <a:pPr algn="l">
              <a:lnSpc>
                <a:spcPts val="2100"/>
              </a:lnSpc>
            </a:pPr>
          </a:p>
          <a:p>
            <a:pPr algn="l">
              <a:lnSpc>
                <a:spcPts val="2379"/>
              </a:lnSpc>
            </a:pPr>
          </a:p>
          <a:p>
            <a:pPr algn="l">
              <a:lnSpc>
                <a:spcPts val="2379"/>
              </a:lnSpc>
            </a:pPr>
            <a:r>
              <a:rPr lang="en-US" sz="1699">
                <a:solidFill>
                  <a:srgbClr val="000000"/>
                </a:solidFill>
                <a:latin typeface="Nunito"/>
                <a:ea typeface="Nunito"/>
                <a:cs typeface="Nunito"/>
                <a:sym typeface="Nunito"/>
              </a:rPr>
              <a:t>Lumi was about to try another experiment when something on her bedside table caught her eye.</a:t>
            </a:r>
          </a:p>
          <a:p>
            <a:pPr algn="l">
              <a:lnSpc>
                <a:spcPts val="2379"/>
              </a:lnSpc>
            </a:pPr>
            <a:r>
              <a:rPr lang="en-US" sz="1699">
                <a:solidFill>
                  <a:srgbClr val="000000"/>
                </a:solidFill>
                <a:latin typeface="Nunito"/>
                <a:ea typeface="Nunito"/>
                <a:cs typeface="Nunito"/>
                <a:sym typeface="Nunito"/>
              </a:rPr>
              <a:t>The little spoon was shining.</a:t>
            </a:r>
          </a:p>
          <a:p>
            <a:pPr algn="l">
              <a:lnSpc>
                <a:spcPts val="2379"/>
              </a:lnSpc>
            </a:pPr>
            <a:r>
              <a:rPr lang="en-US" sz="1699">
                <a:solidFill>
                  <a:srgbClr val="000000"/>
                </a:solidFill>
                <a:latin typeface="Nunito"/>
                <a:ea typeface="Nunito"/>
                <a:cs typeface="Nunito"/>
                <a:sym typeface="Nunito"/>
              </a:rPr>
              <a:t>A golden spot danced across its curved surface.</a:t>
            </a:r>
          </a:p>
          <a:p>
            <a:pPr algn="l">
              <a:lnSpc>
                <a:spcPts val="2379"/>
              </a:lnSpc>
            </a:pPr>
            <a:r>
              <a:rPr lang="en-US" sz="1699">
                <a:solidFill>
                  <a:srgbClr val="000000"/>
                </a:solidFill>
                <a:latin typeface="Nunito"/>
                <a:ea typeface="Nunito"/>
                <a:cs typeface="Nunito"/>
                <a:sym typeface="Nunito"/>
              </a:rPr>
              <a:t>“Wait a moment,” Lumi whispered.</a:t>
            </a:r>
          </a:p>
          <a:p>
            <a:pPr algn="l">
              <a:lnSpc>
                <a:spcPts val="2379"/>
              </a:lnSpc>
            </a:pPr>
            <a:r>
              <a:rPr lang="en-US" sz="1699">
                <a:solidFill>
                  <a:srgbClr val="000000"/>
                </a:solidFill>
                <a:latin typeface="Nunito"/>
                <a:ea typeface="Nunito"/>
                <a:cs typeface="Nunito"/>
                <a:sym typeface="Nunito"/>
              </a:rPr>
              <a:t>She lifted the spoon and slowly turned it.</a:t>
            </a:r>
          </a:p>
          <a:p>
            <a:pPr algn="l">
              <a:lnSpc>
                <a:spcPts val="2379"/>
              </a:lnSpc>
            </a:pPr>
            <a:r>
              <a:rPr lang="en-US" sz="1699">
                <a:solidFill>
                  <a:srgbClr val="000000"/>
                </a:solidFill>
                <a:latin typeface="Nunito"/>
                <a:ea typeface="Nunito"/>
                <a:cs typeface="Nunito"/>
                <a:sym typeface="Nunito"/>
              </a:rPr>
              <a:t>The golden spot moved across the wall.</a:t>
            </a:r>
          </a:p>
          <a:p>
            <a:pPr algn="l">
              <a:lnSpc>
                <a:spcPts val="2379"/>
              </a:lnSpc>
            </a:pPr>
            <a:r>
              <a:rPr lang="en-US" sz="1699">
                <a:solidFill>
                  <a:srgbClr val="000000"/>
                </a:solidFill>
                <a:latin typeface="Nunito"/>
                <a:ea typeface="Nunito"/>
                <a:cs typeface="Nunito"/>
                <a:sym typeface="Nunito"/>
              </a:rPr>
              <a:t>Lumi turned the spoon again.</a:t>
            </a:r>
          </a:p>
          <a:p>
            <a:pPr algn="l">
              <a:lnSpc>
                <a:spcPts val="2379"/>
              </a:lnSpc>
            </a:pPr>
            <a:r>
              <a:rPr lang="en-US" sz="1699">
                <a:solidFill>
                  <a:srgbClr val="000000"/>
                </a:solidFill>
                <a:latin typeface="Nunito"/>
                <a:ea typeface="Nunito"/>
                <a:cs typeface="Nunito"/>
                <a:sym typeface="Nunito"/>
              </a:rPr>
              <a:t>The spot darted towards the bookshelf.</a:t>
            </a:r>
          </a:p>
          <a:p>
            <a:pPr algn="l">
              <a:lnSpc>
                <a:spcPts val="2379"/>
              </a:lnSpc>
            </a:pPr>
            <a:r>
              <a:rPr lang="en-US" sz="1699">
                <a:solidFill>
                  <a:srgbClr val="000000"/>
                </a:solidFill>
                <a:latin typeface="Nunito"/>
                <a:ea typeface="Nunito"/>
                <a:cs typeface="Nunito"/>
                <a:sym typeface="Nunito"/>
              </a:rPr>
              <a:t>Piko zipped after it.</a:t>
            </a:r>
          </a:p>
          <a:p>
            <a:pPr algn="l">
              <a:lnSpc>
                <a:spcPts val="2379"/>
              </a:lnSpc>
            </a:pPr>
            <a:r>
              <a:rPr lang="en-US" sz="1699">
                <a:solidFill>
                  <a:srgbClr val="000000"/>
                </a:solidFill>
                <a:latin typeface="Nunito"/>
                <a:ea typeface="Nunito"/>
                <a:cs typeface="Nunito"/>
                <a:sym typeface="Nunito"/>
              </a:rPr>
              <a:t>“Come back, little golden dot!”</a:t>
            </a:r>
          </a:p>
          <a:p>
            <a:pPr algn="l">
              <a:lnSpc>
                <a:spcPts val="2379"/>
              </a:lnSpc>
            </a:pPr>
            <a:r>
              <a:rPr lang="en-US" sz="1699">
                <a:solidFill>
                  <a:srgbClr val="000000"/>
                </a:solidFill>
                <a:latin typeface="Nunito"/>
                <a:ea typeface="Nunito"/>
                <a:cs typeface="Nunito"/>
                <a:sym typeface="Nunito"/>
              </a:rPr>
              <a:t>Lumi burst into laughter.</a:t>
            </a:r>
          </a:p>
          <a:p>
            <a:pPr algn="l">
              <a:lnSpc>
                <a:spcPts val="2379"/>
              </a:lnSpc>
            </a:pPr>
            <a:r>
              <a:rPr lang="en-US" sz="1699">
                <a:solidFill>
                  <a:srgbClr val="000000"/>
                </a:solidFill>
                <a:latin typeface="Nunito"/>
                <a:ea typeface="Nunito"/>
                <a:cs typeface="Nunito"/>
                <a:sym typeface="Nunito"/>
              </a:rPr>
              <a:t>“It's not another creature, Piko. I think the spoon is reflecting your light!”</a:t>
            </a:r>
          </a:p>
          <a:p>
            <a:pPr algn="l">
              <a:lnSpc>
                <a:spcPts val="2379"/>
              </a:lnSpc>
            </a:pPr>
            <a:r>
              <a:rPr lang="en-US" sz="1699">
                <a:solidFill>
                  <a:srgbClr val="000000"/>
                </a:solidFill>
                <a:latin typeface="Nunito"/>
                <a:ea typeface="Nunito"/>
                <a:cs typeface="Nunito"/>
                <a:sym typeface="Nunito"/>
              </a:rPr>
              <a:t>“Reflecting?”</a:t>
            </a:r>
          </a:p>
          <a:p>
            <a:pPr algn="l">
              <a:lnSpc>
                <a:spcPts val="2379"/>
              </a:lnSpc>
            </a:pPr>
            <a:r>
              <a:rPr lang="en-US" sz="1699">
                <a:solidFill>
                  <a:srgbClr val="000000"/>
                </a:solidFill>
                <a:latin typeface="Nunito"/>
                <a:ea typeface="Nunito"/>
                <a:cs typeface="Nunito"/>
                <a:sym typeface="Nunito"/>
              </a:rPr>
              <a:t>“When light hits a surface and bounces off, we call that reflection.”</a:t>
            </a:r>
          </a:p>
          <a:p>
            <a:pPr algn="l">
              <a:lnSpc>
                <a:spcPts val="2379"/>
              </a:lnSpc>
            </a:pPr>
            <a:r>
              <a:rPr lang="en-US" sz="1699">
                <a:solidFill>
                  <a:srgbClr val="000000"/>
                </a:solidFill>
                <a:latin typeface="Nunito"/>
                <a:ea typeface="Nunito"/>
                <a:cs typeface="Nunito"/>
                <a:sym typeface="Nunito"/>
              </a:rPr>
              <a:t>Lumi held the spoon still and watched the bright spot settle.</a:t>
            </a:r>
          </a:p>
          <a:p>
            <a:pPr algn="l">
              <a:lnSpc>
                <a:spcPts val="2379"/>
              </a:lnSpc>
            </a:pPr>
            <a:r>
              <a:rPr lang="en-US" sz="1699">
                <a:solidFill>
                  <a:srgbClr val="000000"/>
                </a:solidFill>
                <a:latin typeface="Nunito"/>
                <a:ea typeface="Nunito"/>
                <a:cs typeface="Nunito"/>
                <a:sym typeface="Nunito"/>
              </a:rPr>
              <a:t>She opened her notebook.</a:t>
            </a:r>
          </a:p>
          <a:p>
            <a:pPr algn="l">
              <a:lnSpc>
                <a:spcPts val="2379"/>
              </a:lnSpc>
            </a:pPr>
            <a:r>
              <a:rPr lang="en-US" sz="1699">
                <a:gradFill>
                  <a:gsLst>
                    <a:gs pos="0">
                      <a:srgbClr val="5A0A0C">
                        <a:alpha val="100000"/>
                      </a:srgbClr>
                    </a:gs>
                    <a:gs pos="50000">
                      <a:srgbClr val="BF628C">
                        <a:alpha val="100000"/>
                      </a:srgbClr>
                    </a:gs>
                    <a:gs pos="100000">
                      <a:srgbClr val="62BF9B">
                        <a:alpha val="100000"/>
                      </a:srgbClr>
                    </a:gs>
                  </a:gsLst>
                  <a:lin ang="0"/>
                </a:gradFill>
                <a:latin typeface="Comic Sans"/>
                <a:ea typeface="Comic Sans"/>
                <a:cs typeface="Comic Sans"/>
                <a:sym typeface="Comic Sans"/>
              </a:rPr>
              <a:t>DISCOVERY 2</a:t>
            </a:r>
          </a:p>
          <a:p>
            <a:pPr algn="l">
              <a:lnSpc>
                <a:spcPts val="2379"/>
              </a:lnSpc>
            </a:pPr>
            <a:r>
              <a:rPr lang="en-US" sz="1699">
                <a:solidFill>
                  <a:srgbClr val="000000"/>
                </a:solidFill>
                <a:latin typeface="Nunito"/>
                <a:ea typeface="Nunito"/>
                <a:cs typeface="Nunito"/>
                <a:sym typeface="Nunito"/>
              </a:rPr>
              <a:t>Light can bounce off a surface. This is called reflection.</a:t>
            </a:r>
          </a:p>
          <a:p>
            <a:pPr algn="l">
              <a:lnSpc>
                <a:spcPts val="2379"/>
              </a:lnSpc>
            </a:pPr>
            <a:r>
              <a:rPr lang="en-US" sz="1699">
                <a:solidFill>
                  <a:srgbClr val="000000"/>
                </a:solidFill>
                <a:latin typeface="Nunito"/>
                <a:ea typeface="Nunito"/>
                <a:cs typeface="Nunito"/>
                <a:sym typeface="Nunito"/>
              </a:rPr>
              <a:t>Piko hovered beside her pencil.</a:t>
            </a:r>
          </a:p>
          <a:p>
            <a:pPr algn="l">
              <a:lnSpc>
                <a:spcPts val="2379"/>
              </a:lnSpc>
            </a:pPr>
            <a:r>
              <a:rPr lang="en-US" sz="1699">
                <a:solidFill>
                  <a:srgbClr val="000000"/>
                </a:solidFill>
                <a:latin typeface="Nunito"/>
                <a:ea typeface="Nunito"/>
                <a:cs typeface="Nunito"/>
                <a:sym typeface="Nunito"/>
              </a:rPr>
              <a:t>“Your room is full of surprises!”</a:t>
            </a:r>
          </a:p>
          <a:p>
            <a:pPr algn="l">
              <a:lnSpc>
                <a:spcPts val="2379"/>
              </a:lnSpc>
            </a:pPr>
            <a:r>
              <a:rPr lang="en-US" sz="1699">
                <a:solidFill>
                  <a:srgbClr val="000000"/>
                </a:solidFill>
                <a:latin typeface="Nunito"/>
                <a:ea typeface="Nunito"/>
                <a:cs typeface="Nunito"/>
                <a:sym typeface="Nunito"/>
              </a:rPr>
              <a:t>“And we've only just begun,” Lumi replied.</a:t>
            </a:r>
          </a:p>
          <a:p>
            <a:pPr algn="l">
              <a:lnSpc>
                <a:spcPts val="2379"/>
              </a:lnSpc>
            </a:pPr>
          </a:p>
          <a:p>
            <a:pPr algn="l">
              <a:lnSpc>
                <a:spcPts val="2379"/>
              </a:lnSpc>
            </a:pPr>
          </a:p>
        </p:txBody>
      </p:sp>
      <p:sp>
        <p:nvSpPr>
          <p:cNvPr name="TextBox 3" id="3"/>
          <p:cNvSpPr txBox="true"/>
          <p:nvPr/>
        </p:nvSpPr>
        <p:spPr>
          <a:xfrm rot="0">
            <a:off x="3628989" y="9386928"/>
            <a:ext cx="302022" cy="372745"/>
          </a:xfrm>
          <a:prstGeom prst="rect">
            <a:avLst/>
          </a:prstGeom>
        </p:spPr>
        <p:txBody>
          <a:bodyPr anchor="t" rtlCol="false" tIns="0" lIns="0" bIns="0" rIns="0">
            <a:spAutoFit/>
          </a:bodyPr>
          <a:lstStyle/>
          <a:p>
            <a:pPr algn="ctr">
              <a:lnSpc>
                <a:spcPts val="3079"/>
              </a:lnSpc>
            </a:pPr>
            <a:r>
              <a:rPr lang="en-US" sz="2199">
                <a:solidFill>
                  <a:srgbClr val="000000"/>
                </a:solidFill>
                <a:latin typeface="Canva Sans"/>
                <a:ea typeface="Canva Sans"/>
                <a:cs typeface="Canva Sans"/>
                <a:sym typeface="Canva Sans"/>
              </a:rPr>
              <a:t>12</a:t>
            </a:r>
          </a:p>
        </p:txBody>
      </p:sp>
      <p:sp>
        <p:nvSpPr>
          <p:cNvPr name="AutoShape 4" id="4"/>
          <p:cNvSpPr/>
          <p:nvPr/>
        </p:nvSpPr>
        <p:spPr>
          <a:xfrm>
            <a:off x="756000" y="746475"/>
            <a:ext cx="5751563" cy="0"/>
          </a:xfrm>
          <a:prstGeom prst="line">
            <a:avLst/>
          </a:prstGeom>
          <a:ln cap="flat" w="19050">
            <a:solidFill>
              <a:srgbClr val="7A6200">
                <a:alpha val="84706"/>
              </a:srgbClr>
            </a:solidFill>
            <a:prstDash val="solid"/>
            <a:headEnd type="none" len="sm" w="sm"/>
            <a:tailEnd type="none" len="sm" w="sm"/>
          </a:ln>
        </p:spPr>
      </p:sp>
    </p:spTree>
  </p:cSld>
  <p:clrMapOvr>
    <a:masterClrMapping/>
  </p:clrMapOvr>
</p:sld>
</file>

<file path=ppt/slides/slide16.xml><?xml version="1.0" encoding="utf-8"?>
<p:sld xmlns:p="http://schemas.openxmlformats.org/presentationml/2006/main" xmlns:a="http://schemas.openxmlformats.org/drawingml/2006/main">
  <p:cSld>
    <p:bg>
      <p:bgPr>
        <a:solidFill>
          <a:srgbClr val="CCCCBC"/>
        </a:solidFill>
      </p:bgPr>
    </p:bg>
    <p:spTree>
      <p:nvGrpSpPr>
        <p:cNvPr id="1" name=""/>
        <p:cNvGrpSpPr/>
        <p:nvPr/>
      </p:nvGrpSpPr>
      <p:grpSpPr>
        <a:xfrm>
          <a:off x="0" y="0"/>
          <a:ext cx="0" cy="0"/>
          <a:chOff x="0" y="0"/>
          <a:chExt cx="0" cy="0"/>
        </a:xfrm>
      </p:grpSpPr>
      <p:sp>
        <p:nvSpPr>
          <p:cNvPr name="TextBox 2" id="2"/>
          <p:cNvSpPr txBox="true"/>
          <p:nvPr/>
        </p:nvSpPr>
        <p:spPr>
          <a:xfrm rot="0">
            <a:off x="756000" y="727425"/>
            <a:ext cx="6048000" cy="8522335"/>
          </a:xfrm>
          <a:prstGeom prst="rect">
            <a:avLst/>
          </a:prstGeom>
        </p:spPr>
        <p:txBody>
          <a:bodyPr anchor="t" rtlCol="false" tIns="0" lIns="0" bIns="0" rIns="0">
            <a:spAutoFit/>
          </a:bodyPr>
          <a:lstStyle/>
          <a:p>
            <a:pPr algn="l">
              <a:lnSpc>
                <a:spcPts val="2100"/>
              </a:lnSpc>
            </a:pPr>
          </a:p>
          <a:p>
            <a:pPr algn="l">
              <a:lnSpc>
                <a:spcPts val="2379"/>
              </a:lnSpc>
            </a:pPr>
          </a:p>
          <a:p>
            <a:pPr algn="l">
              <a:lnSpc>
                <a:spcPts val="2379"/>
              </a:lnSpc>
            </a:pPr>
            <a:r>
              <a:rPr lang="en-US" sz="1699">
                <a:solidFill>
                  <a:srgbClr val="000000"/>
                </a:solidFill>
                <a:latin typeface="Nunito"/>
                <a:ea typeface="Nunito"/>
                <a:cs typeface="Nunito"/>
                <a:sym typeface="Nunito"/>
              </a:rPr>
              <a:t>Lumi put the spoon down and reached for the clear drinking glass.</a:t>
            </a:r>
          </a:p>
          <a:p>
            <a:pPr algn="l">
              <a:lnSpc>
                <a:spcPts val="2379"/>
              </a:lnSpc>
            </a:pPr>
            <a:r>
              <a:rPr lang="en-US" sz="1699">
                <a:solidFill>
                  <a:srgbClr val="000000"/>
                </a:solidFill>
                <a:latin typeface="Nunito"/>
                <a:ea typeface="Nunito"/>
                <a:cs typeface="Nunito"/>
                <a:sym typeface="Nunito"/>
              </a:rPr>
              <a:t>“Let's see what happens when light meets this,” she said.</a:t>
            </a:r>
          </a:p>
          <a:p>
            <a:pPr algn="l">
              <a:lnSpc>
                <a:spcPts val="2379"/>
              </a:lnSpc>
            </a:pPr>
            <a:r>
              <a:rPr lang="en-US" sz="1699">
                <a:solidFill>
                  <a:srgbClr val="000000"/>
                </a:solidFill>
                <a:latin typeface="Nunito"/>
                <a:ea typeface="Nunito"/>
                <a:cs typeface="Nunito"/>
                <a:sym typeface="Nunito"/>
              </a:rPr>
              <a:t>Piko floated beside the glass, his golden glow shining against its smooth sides.</a:t>
            </a:r>
          </a:p>
          <a:p>
            <a:pPr algn="l">
              <a:lnSpc>
                <a:spcPts val="2379"/>
              </a:lnSpc>
            </a:pPr>
            <a:r>
              <a:rPr lang="en-US" sz="1699">
                <a:solidFill>
                  <a:srgbClr val="000000"/>
                </a:solidFill>
                <a:latin typeface="Nunito"/>
                <a:ea typeface="Nunito"/>
                <a:cs typeface="Nunito"/>
                <a:sym typeface="Nunito"/>
              </a:rPr>
              <a:t>Lumi watched carefully.</a:t>
            </a:r>
          </a:p>
          <a:p>
            <a:pPr algn="l">
              <a:lnSpc>
                <a:spcPts val="2379"/>
              </a:lnSpc>
            </a:pPr>
            <a:r>
              <a:rPr lang="en-US" sz="1699">
                <a:solidFill>
                  <a:srgbClr val="000000"/>
                </a:solidFill>
                <a:latin typeface="Nunito"/>
                <a:ea typeface="Nunito"/>
                <a:cs typeface="Nunito"/>
                <a:sym typeface="Nunito"/>
              </a:rPr>
              <a:t>Some of Piko's light seemed to pass through the glass. A faint golden shimmer appeared on the other side.</a:t>
            </a:r>
          </a:p>
          <a:p>
            <a:pPr algn="l">
              <a:lnSpc>
                <a:spcPts val="2379"/>
              </a:lnSpc>
            </a:pPr>
            <a:r>
              <a:rPr lang="en-US" sz="1699">
                <a:solidFill>
                  <a:srgbClr val="000000"/>
                </a:solidFill>
                <a:latin typeface="Nunito"/>
                <a:ea typeface="Nunito"/>
                <a:cs typeface="Nunito"/>
                <a:sym typeface="Nunito"/>
              </a:rPr>
              <a:t>“Look!” Lumi exclaimed. “The glass lets some light through!”</a:t>
            </a:r>
          </a:p>
          <a:p>
            <a:pPr algn="l">
              <a:lnSpc>
                <a:spcPts val="2379"/>
              </a:lnSpc>
            </a:pPr>
            <a:r>
              <a:rPr lang="en-US" sz="1699">
                <a:solidFill>
                  <a:srgbClr val="000000"/>
                </a:solidFill>
                <a:latin typeface="Nunito"/>
                <a:ea typeface="Nunito"/>
                <a:cs typeface="Nunito"/>
                <a:sym typeface="Nunito"/>
              </a:rPr>
              <a:t>She moved the glass slowly from side to side.</a:t>
            </a:r>
          </a:p>
          <a:p>
            <a:pPr algn="l">
              <a:lnSpc>
                <a:spcPts val="2379"/>
              </a:lnSpc>
            </a:pPr>
            <a:r>
              <a:rPr lang="en-US" sz="1699">
                <a:solidFill>
                  <a:srgbClr val="000000"/>
                </a:solidFill>
                <a:latin typeface="Nunito"/>
                <a:ea typeface="Nunito"/>
                <a:cs typeface="Nunito"/>
                <a:sym typeface="Nunito"/>
              </a:rPr>
              <a:t>The shimmer shifted with it.</a:t>
            </a:r>
          </a:p>
          <a:p>
            <a:pPr algn="l">
              <a:lnSpc>
                <a:spcPts val="2379"/>
              </a:lnSpc>
            </a:pPr>
            <a:r>
              <a:rPr lang="en-US" sz="1699">
                <a:solidFill>
                  <a:srgbClr val="000000"/>
                </a:solidFill>
                <a:latin typeface="Nunito"/>
                <a:ea typeface="Nunito"/>
                <a:cs typeface="Nunito"/>
                <a:sym typeface="Nunito"/>
              </a:rPr>
              <a:t>Then Lumi placed the wooden block in front of Piko again.</a:t>
            </a:r>
          </a:p>
          <a:p>
            <a:pPr algn="l">
              <a:lnSpc>
                <a:spcPts val="2379"/>
              </a:lnSpc>
            </a:pPr>
            <a:r>
              <a:rPr lang="en-US" sz="1699">
                <a:solidFill>
                  <a:srgbClr val="000000"/>
                </a:solidFill>
                <a:latin typeface="Nunito"/>
                <a:ea typeface="Nunito"/>
                <a:cs typeface="Nunito"/>
                <a:sym typeface="Nunito"/>
              </a:rPr>
              <a:t>This time, the block stopped the light from reaching the wall behind it.</a:t>
            </a:r>
          </a:p>
          <a:p>
            <a:pPr algn="l">
              <a:lnSpc>
                <a:spcPts val="2379"/>
              </a:lnSpc>
            </a:pPr>
            <a:r>
              <a:rPr lang="en-US" sz="1699">
                <a:solidFill>
                  <a:srgbClr val="000000"/>
                </a:solidFill>
                <a:latin typeface="Nunito"/>
                <a:ea typeface="Nunito"/>
                <a:cs typeface="Nunito"/>
                <a:sym typeface="Nunito"/>
              </a:rPr>
              <a:t>Lumi looked from the block to the glass.</a:t>
            </a:r>
          </a:p>
          <a:p>
            <a:pPr algn="l">
              <a:lnSpc>
                <a:spcPts val="2379"/>
              </a:lnSpc>
            </a:pPr>
            <a:r>
              <a:rPr lang="en-US" sz="1699">
                <a:solidFill>
                  <a:srgbClr val="000000"/>
                </a:solidFill>
                <a:latin typeface="Nunito"/>
                <a:ea typeface="Nunito"/>
                <a:cs typeface="Nunito"/>
                <a:sym typeface="Nunito"/>
              </a:rPr>
              <a:t>“One blocks the light, and the other lets some through!”</a:t>
            </a:r>
          </a:p>
          <a:p>
            <a:pPr algn="l">
              <a:lnSpc>
                <a:spcPts val="2379"/>
              </a:lnSpc>
            </a:pPr>
            <a:r>
              <a:rPr lang="en-US" sz="1699">
                <a:solidFill>
                  <a:srgbClr val="000000"/>
                </a:solidFill>
                <a:latin typeface="Nunito"/>
                <a:ea typeface="Nunito"/>
                <a:cs typeface="Nunito"/>
                <a:sym typeface="Nunito"/>
              </a:rPr>
              <a:t>“Does that mean objects have different light powers?” Piko asked.</a:t>
            </a:r>
          </a:p>
          <a:p>
            <a:pPr algn="l">
              <a:lnSpc>
                <a:spcPts val="2379"/>
              </a:lnSpc>
            </a:pPr>
            <a:r>
              <a:rPr lang="en-US" sz="1699">
                <a:solidFill>
                  <a:srgbClr val="000000"/>
                </a:solidFill>
                <a:latin typeface="Nunito"/>
                <a:ea typeface="Nunito"/>
                <a:cs typeface="Nunito"/>
                <a:sym typeface="Nunito"/>
              </a:rPr>
              <a:t>“Not quite,” Lumi said. “Different materials interact with light in different ways.”</a:t>
            </a:r>
          </a:p>
          <a:p>
            <a:pPr algn="l">
              <a:lnSpc>
                <a:spcPts val="2379"/>
              </a:lnSpc>
            </a:pPr>
            <a:r>
              <a:rPr lang="en-US" sz="1699">
                <a:solidFill>
                  <a:srgbClr val="000000"/>
                </a:solidFill>
                <a:latin typeface="Nunito"/>
                <a:ea typeface="Nunito"/>
                <a:cs typeface="Nunito"/>
                <a:sym typeface="Nunito"/>
              </a:rPr>
              <a:t>She carefully recorded her observation.</a:t>
            </a:r>
          </a:p>
          <a:p>
            <a:pPr algn="l">
              <a:lnSpc>
                <a:spcPts val="2379"/>
              </a:lnSpc>
            </a:pPr>
            <a:r>
              <a:rPr lang="en-US" sz="1699">
                <a:gradFill>
                  <a:gsLst>
                    <a:gs pos="0">
                      <a:srgbClr val="5A0A0C">
                        <a:alpha val="100000"/>
                      </a:srgbClr>
                    </a:gs>
                    <a:gs pos="50000">
                      <a:srgbClr val="BF628C">
                        <a:alpha val="100000"/>
                      </a:srgbClr>
                    </a:gs>
                    <a:gs pos="100000">
                      <a:srgbClr val="62BF9B">
                        <a:alpha val="100000"/>
                      </a:srgbClr>
                    </a:gs>
                  </a:gsLst>
                  <a:lin ang="0"/>
                </a:gradFill>
                <a:latin typeface="Comic Sans"/>
                <a:ea typeface="Comic Sans"/>
                <a:cs typeface="Comic Sans"/>
                <a:sym typeface="Comic Sans"/>
              </a:rPr>
              <a:t>OBSERVATION 3</a:t>
            </a:r>
          </a:p>
          <a:p>
            <a:pPr algn="l">
              <a:lnSpc>
                <a:spcPts val="2379"/>
              </a:lnSpc>
            </a:pPr>
            <a:r>
              <a:rPr lang="en-US" sz="1699">
                <a:solidFill>
                  <a:srgbClr val="000000"/>
                </a:solidFill>
                <a:latin typeface="Nunito"/>
                <a:ea typeface="Nunito"/>
                <a:cs typeface="Nunito"/>
                <a:sym typeface="Nunito"/>
              </a:rPr>
              <a:t>Some materials block light, while others let some light pass through.</a:t>
            </a:r>
          </a:p>
          <a:p>
            <a:pPr algn="l">
              <a:lnSpc>
                <a:spcPts val="2379"/>
              </a:lnSpc>
            </a:pPr>
            <a:r>
              <a:rPr lang="en-US" sz="1699">
                <a:solidFill>
                  <a:srgbClr val="000000"/>
                </a:solidFill>
                <a:latin typeface="Nunito"/>
                <a:ea typeface="Nunito"/>
                <a:cs typeface="Nunito"/>
                <a:sym typeface="Nunito"/>
              </a:rPr>
              <a:t>Piko spun happily in the air.</a:t>
            </a:r>
          </a:p>
          <a:p>
            <a:pPr algn="l">
              <a:lnSpc>
                <a:spcPts val="2379"/>
              </a:lnSpc>
            </a:pPr>
            <a:r>
              <a:rPr lang="en-US" sz="1699">
                <a:solidFill>
                  <a:srgbClr val="000000"/>
                </a:solidFill>
                <a:latin typeface="Nunito"/>
                <a:ea typeface="Nunito"/>
                <a:cs typeface="Nunito"/>
                <a:sym typeface="Nunito"/>
              </a:rPr>
              <a:t>“I never knew my glow could teach us so much!”</a:t>
            </a:r>
          </a:p>
          <a:p>
            <a:pPr algn="l">
              <a:lnSpc>
                <a:spcPts val="2379"/>
              </a:lnSpc>
            </a:pPr>
          </a:p>
        </p:txBody>
      </p:sp>
      <p:sp>
        <p:nvSpPr>
          <p:cNvPr name="TextBox 3" id="3"/>
          <p:cNvSpPr txBox="true"/>
          <p:nvPr/>
        </p:nvSpPr>
        <p:spPr>
          <a:xfrm rot="0">
            <a:off x="3624623" y="9563255"/>
            <a:ext cx="310753" cy="372745"/>
          </a:xfrm>
          <a:prstGeom prst="rect">
            <a:avLst/>
          </a:prstGeom>
        </p:spPr>
        <p:txBody>
          <a:bodyPr anchor="t" rtlCol="false" tIns="0" lIns="0" bIns="0" rIns="0">
            <a:spAutoFit/>
          </a:bodyPr>
          <a:lstStyle/>
          <a:p>
            <a:pPr algn="ctr">
              <a:lnSpc>
                <a:spcPts val="3079"/>
              </a:lnSpc>
            </a:pPr>
            <a:r>
              <a:rPr lang="en-US" sz="2199">
                <a:solidFill>
                  <a:srgbClr val="000000"/>
                </a:solidFill>
                <a:latin typeface="Canva Sans"/>
                <a:ea typeface="Canva Sans"/>
                <a:cs typeface="Canva Sans"/>
                <a:sym typeface="Canva Sans"/>
              </a:rPr>
              <a:t>13</a:t>
            </a:r>
          </a:p>
        </p:txBody>
      </p:sp>
      <p:sp>
        <p:nvSpPr>
          <p:cNvPr name="AutoShape 4" id="4"/>
          <p:cNvSpPr/>
          <p:nvPr/>
        </p:nvSpPr>
        <p:spPr>
          <a:xfrm>
            <a:off x="745369" y="746475"/>
            <a:ext cx="5751563" cy="0"/>
          </a:xfrm>
          <a:prstGeom prst="line">
            <a:avLst/>
          </a:prstGeom>
          <a:ln cap="flat" w="19050">
            <a:solidFill>
              <a:srgbClr val="7A6200">
                <a:alpha val="84706"/>
              </a:srgbClr>
            </a:solidFill>
            <a:prstDash val="solid"/>
            <a:headEnd type="none" len="sm" w="sm"/>
            <a:tailEnd type="none" len="sm" w="sm"/>
          </a:ln>
        </p:spPr>
      </p:sp>
    </p:spTree>
  </p:cSld>
  <p:clrMapOvr>
    <a:masterClrMapping/>
  </p:clrMapOvr>
</p:sld>
</file>

<file path=ppt/slides/slide17.xml><?xml version="1.0" encoding="utf-8"?>
<p:sld xmlns:p="http://schemas.openxmlformats.org/presentationml/2006/main" xmlns:a="http://schemas.openxmlformats.org/drawingml/2006/main">
  <p:cSld>
    <p:bg>
      <p:bgPr>
        <a:solidFill>
          <a:srgbClr val="CCCCBC"/>
        </a:solidFill>
      </p:bgPr>
    </p:bg>
    <p:spTree>
      <p:nvGrpSpPr>
        <p:cNvPr id="1" name=""/>
        <p:cNvGrpSpPr/>
        <p:nvPr/>
      </p:nvGrpSpPr>
      <p:grpSpPr>
        <a:xfrm>
          <a:off x="0" y="0"/>
          <a:ext cx="0" cy="0"/>
          <a:chOff x="0" y="0"/>
          <a:chExt cx="0" cy="0"/>
        </a:xfrm>
      </p:grpSpPr>
      <p:sp>
        <p:nvSpPr>
          <p:cNvPr name="TextBox 2" id="2"/>
          <p:cNvSpPr txBox="true"/>
          <p:nvPr/>
        </p:nvSpPr>
        <p:spPr>
          <a:xfrm rot="0">
            <a:off x="756000" y="727425"/>
            <a:ext cx="6048000" cy="8843645"/>
          </a:xfrm>
          <a:prstGeom prst="rect">
            <a:avLst/>
          </a:prstGeom>
        </p:spPr>
        <p:txBody>
          <a:bodyPr anchor="t" rtlCol="false" tIns="0" lIns="0" bIns="0" rIns="0">
            <a:spAutoFit/>
          </a:bodyPr>
          <a:lstStyle/>
          <a:p>
            <a:pPr algn="l">
              <a:lnSpc>
                <a:spcPts val="2379"/>
              </a:lnSpc>
            </a:pPr>
          </a:p>
          <a:p>
            <a:pPr algn="l">
              <a:lnSpc>
                <a:spcPts val="2379"/>
              </a:lnSpc>
            </a:pPr>
            <a:r>
              <a:rPr lang="en-US" sz="1699">
                <a:solidFill>
                  <a:srgbClr val="000000"/>
                </a:solidFill>
                <a:latin typeface="Nunito"/>
                <a:ea typeface="Nunito"/>
                <a:cs typeface="Nunito"/>
                <a:sym typeface="Nunito"/>
              </a:rPr>
              <a:t>Lumi sat quietly for a moment, looking at the golden glow around Piko.</a:t>
            </a:r>
          </a:p>
          <a:p>
            <a:pPr algn="l">
              <a:lnSpc>
                <a:spcPts val="2379"/>
              </a:lnSpc>
            </a:pPr>
            <a:r>
              <a:rPr lang="en-US" sz="1699">
                <a:solidFill>
                  <a:srgbClr val="000000"/>
                </a:solidFill>
                <a:latin typeface="Nunito"/>
                <a:ea typeface="Nunito"/>
                <a:cs typeface="Nunito"/>
                <a:sym typeface="Nunito"/>
              </a:rPr>
              <a:t>She had discovered shadows. She had watched light bounce off the spoon. And she had seen some light pass through the glass.</a:t>
            </a:r>
          </a:p>
          <a:p>
            <a:pPr algn="l">
              <a:lnSpc>
                <a:spcPts val="2379"/>
              </a:lnSpc>
            </a:pPr>
            <a:r>
              <a:rPr lang="en-US" sz="1699">
                <a:solidFill>
                  <a:srgbClr val="000000"/>
                </a:solidFill>
                <a:latin typeface="Nunito"/>
                <a:ea typeface="Nunito"/>
                <a:cs typeface="Nunito"/>
                <a:sym typeface="Nunito"/>
              </a:rPr>
              <a:t>But one question still puzzled her.</a:t>
            </a:r>
          </a:p>
          <a:p>
            <a:pPr algn="l">
              <a:lnSpc>
                <a:spcPts val="2379"/>
              </a:lnSpc>
            </a:pPr>
            <a:r>
              <a:rPr lang="en-US" sz="1699">
                <a:solidFill>
                  <a:srgbClr val="000000"/>
                </a:solidFill>
                <a:latin typeface="Nunito"/>
                <a:ea typeface="Nunito"/>
                <a:cs typeface="Nunito"/>
                <a:sym typeface="Nunito"/>
              </a:rPr>
              <a:t>“Piko, where does your light go when something blocks it?”</a:t>
            </a:r>
          </a:p>
          <a:p>
            <a:pPr algn="l">
              <a:lnSpc>
                <a:spcPts val="2379"/>
              </a:lnSpc>
            </a:pPr>
            <a:r>
              <a:rPr lang="en-US" sz="1699">
                <a:solidFill>
                  <a:srgbClr val="000000"/>
                </a:solidFill>
                <a:latin typeface="Nunito"/>
                <a:ea typeface="Nunito"/>
                <a:cs typeface="Nunito"/>
                <a:sym typeface="Nunito"/>
              </a:rPr>
              <a:t>Piko blinked.</a:t>
            </a:r>
          </a:p>
          <a:p>
            <a:pPr algn="l">
              <a:lnSpc>
                <a:spcPts val="2379"/>
              </a:lnSpc>
            </a:pPr>
            <a:r>
              <a:rPr lang="en-US" sz="1699">
                <a:solidFill>
                  <a:srgbClr val="000000"/>
                </a:solidFill>
                <a:latin typeface="Nunito"/>
                <a:ea typeface="Nunito"/>
                <a:cs typeface="Nunito"/>
                <a:sym typeface="Nunito"/>
              </a:rPr>
              <a:t>“Does it go somewhere else?”</a:t>
            </a:r>
          </a:p>
          <a:p>
            <a:pPr algn="l">
              <a:lnSpc>
                <a:spcPts val="2379"/>
              </a:lnSpc>
            </a:pPr>
            <a:r>
              <a:rPr lang="en-US" sz="1699">
                <a:solidFill>
                  <a:srgbClr val="000000"/>
                </a:solidFill>
                <a:latin typeface="Nunito"/>
                <a:ea typeface="Nunito"/>
                <a:cs typeface="Nunito"/>
                <a:sym typeface="Nunito"/>
              </a:rPr>
              <a:t>Lumi thought carefully.</a:t>
            </a:r>
          </a:p>
          <a:p>
            <a:pPr algn="l">
              <a:lnSpc>
                <a:spcPts val="2379"/>
              </a:lnSpc>
            </a:pPr>
            <a:r>
              <a:rPr lang="en-US" sz="1699">
                <a:solidFill>
                  <a:srgbClr val="000000"/>
                </a:solidFill>
                <a:latin typeface="Nunito"/>
                <a:ea typeface="Nunito"/>
                <a:cs typeface="Nunito"/>
                <a:sym typeface="Nunito"/>
              </a:rPr>
              <a:t>“When the wooden block stops your light from reaching the wall, the wall behind it becomes darker. But that doesn't mean the light has disappeared everywhere.”</a:t>
            </a:r>
          </a:p>
          <a:p>
            <a:pPr algn="l">
              <a:lnSpc>
                <a:spcPts val="2379"/>
              </a:lnSpc>
            </a:pPr>
            <a:r>
              <a:rPr lang="en-US" sz="1699">
                <a:solidFill>
                  <a:srgbClr val="000000"/>
                </a:solidFill>
                <a:latin typeface="Nunito"/>
                <a:ea typeface="Nunito"/>
                <a:cs typeface="Nunito"/>
                <a:sym typeface="Nunito"/>
              </a:rPr>
              <a:t>She held the block up again and watched the shadow form.</a:t>
            </a:r>
          </a:p>
          <a:p>
            <a:pPr algn="l">
              <a:lnSpc>
                <a:spcPts val="2379"/>
              </a:lnSpc>
            </a:pPr>
            <a:r>
              <a:rPr lang="en-US" sz="1699">
                <a:solidFill>
                  <a:srgbClr val="000000"/>
                </a:solidFill>
                <a:latin typeface="Nunito"/>
                <a:ea typeface="Nunito"/>
                <a:cs typeface="Nunito"/>
                <a:sym typeface="Nunito"/>
              </a:rPr>
              <a:t>“The block is in the way,” she explained. “The light cannot pass through it easily, so the area behind it receives less light.”</a:t>
            </a:r>
          </a:p>
          <a:p>
            <a:pPr algn="l">
              <a:lnSpc>
                <a:spcPts val="2379"/>
              </a:lnSpc>
            </a:pPr>
            <a:r>
              <a:rPr lang="en-US" sz="1699">
                <a:solidFill>
                  <a:srgbClr val="000000"/>
                </a:solidFill>
                <a:latin typeface="Nunito"/>
                <a:ea typeface="Nunito"/>
                <a:cs typeface="Nunito"/>
                <a:sym typeface="Nunito"/>
              </a:rPr>
              <a:t>Piko floated around the block and looked at the shadow from the other side.</a:t>
            </a:r>
          </a:p>
          <a:p>
            <a:pPr algn="l">
              <a:lnSpc>
                <a:spcPts val="2379"/>
              </a:lnSpc>
            </a:pPr>
            <a:r>
              <a:rPr lang="en-US" sz="1699">
                <a:solidFill>
                  <a:srgbClr val="000000"/>
                </a:solidFill>
                <a:latin typeface="Nunito"/>
                <a:ea typeface="Nunito"/>
                <a:cs typeface="Nunito"/>
                <a:sym typeface="Nunito"/>
              </a:rPr>
              <a:t>“So a shadow is a place where less light reaches!”</a:t>
            </a:r>
          </a:p>
          <a:p>
            <a:pPr algn="l">
              <a:lnSpc>
                <a:spcPts val="2379"/>
              </a:lnSpc>
            </a:pPr>
            <a:r>
              <a:rPr lang="en-US" sz="1699">
                <a:solidFill>
                  <a:srgbClr val="000000"/>
                </a:solidFill>
                <a:latin typeface="Nunito"/>
                <a:ea typeface="Nunito"/>
                <a:cs typeface="Nunito"/>
                <a:sym typeface="Nunito"/>
              </a:rPr>
              <a:t>“Exactly!” Lumi said.</a:t>
            </a:r>
          </a:p>
          <a:p>
            <a:pPr algn="l">
              <a:lnSpc>
                <a:spcPts val="2379"/>
              </a:lnSpc>
            </a:pPr>
            <a:r>
              <a:rPr lang="en-US" sz="1699">
                <a:solidFill>
                  <a:srgbClr val="000000"/>
                </a:solidFill>
                <a:latin typeface="Nunito"/>
                <a:ea typeface="Nunito"/>
                <a:cs typeface="Nunito"/>
                <a:sym typeface="Nunito"/>
              </a:rPr>
              <a:t>She opened her notebook and wrote:</a:t>
            </a:r>
          </a:p>
          <a:p>
            <a:pPr algn="l">
              <a:lnSpc>
                <a:spcPts val="2379"/>
              </a:lnSpc>
            </a:pPr>
            <a:r>
              <a:rPr lang="en-US" sz="1699">
                <a:gradFill>
                  <a:gsLst>
                    <a:gs pos="0">
                      <a:srgbClr val="5A0A0C">
                        <a:alpha val="100000"/>
                      </a:srgbClr>
                    </a:gs>
                    <a:gs pos="50000">
                      <a:srgbClr val="BF628C">
                        <a:alpha val="100000"/>
                      </a:srgbClr>
                    </a:gs>
                    <a:gs pos="100000">
                      <a:srgbClr val="62BF9B">
                        <a:alpha val="100000"/>
                      </a:srgbClr>
                    </a:gs>
                  </a:gsLst>
                  <a:lin ang="0"/>
                </a:gradFill>
                <a:latin typeface="Comic Sans"/>
                <a:ea typeface="Comic Sans"/>
                <a:cs typeface="Comic Sans"/>
                <a:sym typeface="Comic Sans"/>
              </a:rPr>
              <a:t>DISCOVERY 3</a:t>
            </a:r>
          </a:p>
          <a:p>
            <a:pPr algn="l">
              <a:lnSpc>
                <a:spcPts val="2379"/>
              </a:lnSpc>
            </a:pPr>
            <a:r>
              <a:rPr lang="en-US" sz="1699">
                <a:solidFill>
                  <a:srgbClr val="000000"/>
                </a:solidFill>
                <a:latin typeface="Nunito"/>
                <a:ea typeface="Nunito"/>
                <a:cs typeface="Nunito"/>
                <a:sym typeface="Nunito"/>
              </a:rPr>
              <a:t>A shadow forms where an object blocks some or all of the light.</a:t>
            </a:r>
          </a:p>
          <a:p>
            <a:pPr algn="l">
              <a:lnSpc>
                <a:spcPts val="2379"/>
              </a:lnSpc>
            </a:pPr>
            <a:r>
              <a:rPr lang="en-US" sz="1699">
                <a:solidFill>
                  <a:srgbClr val="000000"/>
                </a:solidFill>
                <a:latin typeface="Nunito"/>
                <a:ea typeface="Nunito"/>
                <a:cs typeface="Nunito"/>
                <a:sym typeface="Nunito"/>
              </a:rPr>
              <a:t>Piko smiled proudly.</a:t>
            </a:r>
          </a:p>
          <a:p>
            <a:pPr algn="l">
              <a:lnSpc>
                <a:spcPts val="2379"/>
              </a:lnSpc>
            </a:pPr>
            <a:r>
              <a:rPr lang="en-US" sz="1699">
                <a:solidFill>
                  <a:srgbClr val="000000"/>
                </a:solidFill>
                <a:latin typeface="Nunito"/>
                <a:ea typeface="Nunito"/>
                <a:cs typeface="Nunito"/>
                <a:sym typeface="Nunito"/>
              </a:rPr>
              <a:t>“Lumi, you're very good at asking questions.”</a:t>
            </a:r>
          </a:p>
          <a:p>
            <a:pPr algn="l">
              <a:lnSpc>
                <a:spcPts val="2379"/>
              </a:lnSpc>
            </a:pPr>
            <a:r>
              <a:rPr lang="en-US" sz="1699">
                <a:solidFill>
                  <a:srgbClr val="000000"/>
                </a:solidFill>
                <a:latin typeface="Nunito"/>
                <a:ea typeface="Nunito"/>
                <a:cs typeface="Nunito"/>
                <a:sym typeface="Nunito"/>
              </a:rPr>
              <a:t>She hugged her notebook close.</a:t>
            </a:r>
          </a:p>
          <a:p>
            <a:pPr algn="l">
              <a:lnSpc>
                <a:spcPts val="2379"/>
              </a:lnSpc>
            </a:pPr>
            <a:r>
              <a:rPr lang="en-US" sz="1699">
                <a:solidFill>
                  <a:srgbClr val="000000"/>
                </a:solidFill>
                <a:latin typeface="Nunito"/>
                <a:ea typeface="Nunito"/>
                <a:cs typeface="Nunito"/>
                <a:sym typeface="Nunito"/>
              </a:rPr>
              <a:t>“And you're very good at giving me reasons to ask them!”</a:t>
            </a:r>
          </a:p>
          <a:p>
            <a:pPr algn="l">
              <a:lnSpc>
                <a:spcPts val="2379"/>
              </a:lnSpc>
            </a:pPr>
          </a:p>
        </p:txBody>
      </p:sp>
      <p:sp>
        <p:nvSpPr>
          <p:cNvPr name="TextBox 3" id="3"/>
          <p:cNvSpPr txBox="true"/>
          <p:nvPr/>
        </p:nvSpPr>
        <p:spPr>
          <a:xfrm rot="0">
            <a:off x="3621151" y="9532970"/>
            <a:ext cx="317698" cy="372745"/>
          </a:xfrm>
          <a:prstGeom prst="rect">
            <a:avLst/>
          </a:prstGeom>
        </p:spPr>
        <p:txBody>
          <a:bodyPr anchor="t" rtlCol="false" tIns="0" lIns="0" bIns="0" rIns="0">
            <a:spAutoFit/>
          </a:bodyPr>
          <a:lstStyle/>
          <a:p>
            <a:pPr algn="ctr">
              <a:lnSpc>
                <a:spcPts val="3079"/>
              </a:lnSpc>
            </a:pPr>
            <a:r>
              <a:rPr lang="en-US" sz="2199">
                <a:solidFill>
                  <a:srgbClr val="000000"/>
                </a:solidFill>
                <a:latin typeface="Canva Sans"/>
                <a:ea typeface="Canva Sans"/>
                <a:cs typeface="Canva Sans"/>
                <a:sym typeface="Canva Sans"/>
              </a:rPr>
              <a:t>14</a:t>
            </a:r>
          </a:p>
        </p:txBody>
      </p:sp>
      <p:sp>
        <p:nvSpPr>
          <p:cNvPr name="AutoShape 4" id="4"/>
          <p:cNvSpPr/>
          <p:nvPr/>
        </p:nvSpPr>
        <p:spPr>
          <a:xfrm>
            <a:off x="747354" y="746475"/>
            <a:ext cx="5751563" cy="0"/>
          </a:xfrm>
          <a:prstGeom prst="line">
            <a:avLst/>
          </a:prstGeom>
          <a:ln cap="flat" w="19050">
            <a:solidFill>
              <a:srgbClr val="7A6200">
                <a:alpha val="84706"/>
              </a:srgbClr>
            </a:solidFill>
            <a:prstDash val="solid"/>
            <a:headEnd type="none" len="sm" w="sm"/>
            <a:tailEnd type="none" len="sm" w="sm"/>
          </a:ln>
        </p:spPr>
      </p:sp>
    </p:spTree>
  </p:cSld>
  <p:clrMapOvr>
    <a:masterClrMapping/>
  </p:clrMapOvr>
</p:sld>
</file>

<file path=ppt/slides/slide18.xml><?xml version="1.0" encoding="utf-8"?>
<p:sld xmlns:p="http://schemas.openxmlformats.org/presentationml/2006/main" xmlns:a="http://schemas.openxmlformats.org/drawingml/2006/main">
  <p:cSld>
    <p:bg>
      <p:bgPr>
        <a:solidFill>
          <a:srgbClr val="CCCCBC"/>
        </a:solidFill>
      </p:bgPr>
    </p:bg>
    <p:spTree>
      <p:nvGrpSpPr>
        <p:cNvPr id="1" name=""/>
        <p:cNvGrpSpPr/>
        <p:nvPr/>
      </p:nvGrpSpPr>
      <p:grpSpPr>
        <a:xfrm>
          <a:off x="0" y="0"/>
          <a:ext cx="0" cy="0"/>
          <a:chOff x="0" y="0"/>
          <a:chExt cx="0" cy="0"/>
        </a:xfrm>
      </p:grpSpPr>
      <p:sp>
        <p:nvSpPr>
          <p:cNvPr name="TextBox 2" id="2"/>
          <p:cNvSpPr txBox="true"/>
          <p:nvPr/>
        </p:nvSpPr>
        <p:spPr>
          <a:xfrm rot="0">
            <a:off x="756000" y="727425"/>
            <a:ext cx="6048000" cy="8363585"/>
          </a:xfrm>
          <a:prstGeom prst="rect">
            <a:avLst/>
          </a:prstGeom>
        </p:spPr>
        <p:txBody>
          <a:bodyPr anchor="t" rtlCol="false" tIns="0" lIns="0" bIns="0" rIns="0">
            <a:spAutoFit/>
          </a:bodyPr>
          <a:lstStyle/>
          <a:p>
            <a:pPr algn="ctr">
              <a:lnSpc>
                <a:spcPts val="2799"/>
              </a:lnSpc>
            </a:pPr>
            <a:r>
              <a:rPr lang="en-US" b="true" sz="1999">
                <a:gradFill>
                  <a:gsLst>
                    <a:gs pos="0">
                      <a:srgbClr val="000000">
                        <a:alpha val="100000"/>
                      </a:srgbClr>
                    </a:gs>
                    <a:gs pos="50000">
                      <a:srgbClr val="555555">
                        <a:alpha val="100000"/>
                      </a:srgbClr>
                    </a:gs>
                    <a:gs pos="100000">
                      <a:srgbClr val="0BB50E">
                        <a:alpha val="100000"/>
                      </a:srgbClr>
                    </a:gs>
                  </a:gsLst>
                  <a:path path="circle">
                    <a:fillToRect l="0" r="100000" t="0" b="100000"/>
                  </a:path>
                  <a:tileRect r="0" l="-100000" b="0" t="-100000"/>
                </a:gradFill>
                <a:latin typeface="Nunito Semi-Bold"/>
                <a:ea typeface="Nunito Semi-Bold"/>
                <a:cs typeface="Nunito Semi-Bold"/>
                <a:sym typeface="Nunito Semi-Bold"/>
              </a:rPr>
              <a:t>CHAPTER THREE </a:t>
            </a:r>
          </a:p>
          <a:p>
            <a:pPr algn="ctr">
              <a:lnSpc>
                <a:spcPts val="2799"/>
              </a:lnSpc>
            </a:pPr>
            <a:r>
              <a:rPr lang="en-US" b="true" sz="1999">
                <a:gradFill>
                  <a:gsLst>
                    <a:gs pos="0">
                      <a:srgbClr val="000000">
                        <a:alpha val="100000"/>
                      </a:srgbClr>
                    </a:gs>
                    <a:gs pos="50000">
                      <a:srgbClr val="555555">
                        <a:alpha val="100000"/>
                      </a:srgbClr>
                    </a:gs>
                    <a:gs pos="100000">
                      <a:srgbClr val="0BB50E">
                        <a:alpha val="100000"/>
                      </a:srgbClr>
                    </a:gs>
                  </a:gsLst>
                  <a:path path="circle">
                    <a:fillToRect l="0" r="100000" t="0" b="100000"/>
                  </a:path>
                  <a:tileRect r="0" l="-100000" b="0" t="-100000"/>
                </a:gradFill>
                <a:latin typeface="Nunito Semi-Bold"/>
                <a:ea typeface="Nunito Semi-Bold"/>
                <a:cs typeface="Nunito Semi-Bold"/>
                <a:sym typeface="Nunito Semi-Bold"/>
              </a:rPr>
              <a:t>THE Strange Glow</a:t>
            </a:r>
          </a:p>
          <a:p>
            <a:pPr algn="l">
              <a:lnSpc>
                <a:spcPts val="2379"/>
              </a:lnSpc>
            </a:pPr>
          </a:p>
          <a:p>
            <a:pPr algn="l">
              <a:lnSpc>
                <a:spcPts val="2379"/>
              </a:lnSpc>
            </a:pPr>
            <a:r>
              <a:rPr lang="en-US" sz="1699">
                <a:solidFill>
                  <a:srgbClr val="000000"/>
                </a:solidFill>
                <a:latin typeface="Nunito"/>
                <a:ea typeface="Nunito"/>
                <a:cs typeface="Nunito"/>
                <a:sym typeface="Nunito"/>
              </a:rPr>
              <a:t>Lumi closed her notebook with a satisfied smile.</a:t>
            </a:r>
          </a:p>
          <a:p>
            <a:pPr algn="l">
              <a:lnSpc>
                <a:spcPts val="2379"/>
              </a:lnSpc>
            </a:pPr>
            <a:r>
              <a:rPr lang="en-US" sz="1699">
                <a:solidFill>
                  <a:srgbClr val="000000"/>
                </a:solidFill>
                <a:latin typeface="Nunito"/>
                <a:ea typeface="Nunito"/>
                <a:cs typeface="Nunito"/>
                <a:sym typeface="Nunito"/>
              </a:rPr>
              <a:t>“We've learned so much tonight!”</a:t>
            </a:r>
          </a:p>
          <a:p>
            <a:pPr algn="l">
              <a:lnSpc>
                <a:spcPts val="2379"/>
              </a:lnSpc>
            </a:pPr>
            <a:r>
              <a:rPr lang="en-US" sz="1699">
                <a:solidFill>
                  <a:srgbClr val="000000"/>
                </a:solidFill>
                <a:latin typeface="Nunito"/>
                <a:ea typeface="Nunito"/>
                <a:cs typeface="Nunito"/>
                <a:sym typeface="Nunito"/>
              </a:rPr>
              <a:t>Piko fluttered happily around her head, leaving tiny golden sparkles in the air.</a:t>
            </a:r>
          </a:p>
          <a:p>
            <a:pPr algn="l">
              <a:lnSpc>
                <a:spcPts val="2379"/>
              </a:lnSpc>
            </a:pPr>
            <a:r>
              <a:rPr lang="en-US" sz="1699">
                <a:solidFill>
                  <a:srgbClr val="000000"/>
                </a:solidFill>
                <a:latin typeface="Nunito"/>
                <a:ea typeface="Nunito"/>
                <a:cs typeface="Nunito"/>
                <a:sym typeface="Nunito"/>
              </a:rPr>
              <a:t>Then, suddenly, he stopped.</a:t>
            </a:r>
          </a:p>
          <a:p>
            <a:pPr algn="l">
              <a:lnSpc>
                <a:spcPts val="2379"/>
              </a:lnSpc>
            </a:pPr>
            <a:r>
              <a:rPr lang="en-US" sz="1699">
                <a:solidFill>
                  <a:srgbClr val="000000"/>
                </a:solidFill>
                <a:latin typeface="Nunito"/>
                <a:ea typeface="Nunito"/>
                <a:cs typeface="Nunito"/>
                <a:sym typeface="Nunito"/>
              </a:rPr>
              <a:t>His glow flickered.</a:t>
            </a:r>
          </a:p>
          <a:p>
            <a:pPr algn="l">
              <a:lnSpc>
                <a:spcPts val="2379"/>
              </a:lnSpc>
            </a:pPr>
            <a:r>
              <a:rPr lang="en-US" sz="1699">
                <a:solidFill>
                  <a:srgbClr val="000000"/>
                </a:solidFill>
                <a:latin typeface="Nunito"/>
                <a:ea typeface="Nunito"/>
                <a:cs typeface="Nunito"/>
                <a:sym typeface="Nunito"/>
              </a:rPr>
              <a:t>Once.</a:t>
            </a:r>
          </a:p>
          <a:p>
            <a:pPr algn="l">
              <a:lnSpc>
                <a:spcPts val="2379"/>
              </a:lnSpc>
            </a:pPr>
            <a:r>
              <a:rPr lang="en-US" sz="1699">
                <a:solidFill>
                  <a:srgbClr val="000000"/>
                </a:solidFill>
                <a:latin typeface="Nunito"/>
                <a:ea typeface="Nunito"/>
                <a:cs typeface="Nunito"/>
                <a:sym typeface="Nunito"/>
              </a:rPr>
              <a:t>Twice.</a:t>
            </a:r>
          </a:p>
          <a:p>
            <a:pPr algn="l">
              <a:lnSpc>
                <a:spcPts val="2379"/>
              </a:lnSpc>
            </a:pPr>
            <a:r>
              <a:rPr lang="en-US" sz="1699">
                <a:solidFill>
                  <a:srgbClr val="000000"/>
                </a:solidFill>
                <a:latin typeface="Nunito"/>
                <a:ea typeface="Nunito"/>
                <a:cs typeface="Nunito"/>
                <a:sym typeface="Nunito"/>
              </a:rPr>
              <a:t>Then it grew faint.</a:t>
            </a:r>
          </a:p>
          <a:p>
            <a:pPr algn="l">
              <a:lnSpc>
                <a:spcPts val="2379"/>
              </a:lnSpc>
            </a:pPr>
            <a:r>
              <a:rPr lang="en-US" sz="1699">
                <a:solidFill>
                  <a:srgbClr val="000000"/>
                </a:solidFill>
                <a:latin typeface="Nunito"/>
                <a:ea typeface="Nunito"/>
                <a:cs typeface="Nunito"/>
                <a:sym typeface="Nunito"/>
              </a:rPr>
              <a:t>Lumi's smile disappeared.</a:t>
            </a:r>
          </a:p>
          <a:p>
            <a:pPr algn="l">
              <a:lnSpc>
                <a:spcPts val="2379"/>
              </a:lnSpc>
            </a:pPr>
            <a:r>
              <a:rPr lang="en-US" sz="1699">
                <a:solidFill>
                  <a:srgbClr val="000000"/>
                </a:solidFill>
                <a:latin typeface="Nunito"/>
                <a:ea typeface="Nunito"/>
                <a:cs typeface="Nunito"/>
                <a:sym typeface="Nunito"/>
              </a:rPr>
              <a:t>“Piko? Are you all right?”</a:t>
            </a:r>
          </a:p>
          <a:p>
            <a:pPr algn="l">
              <a:lnSpc>
                <a:spcPts val="2379"/>
              </a:lnSpc>
            </a:pPr>
            <a:r>
              <a:rPr lang="en-US" sz="1699">
                <a:solidFill>
                  <a:srgbClr val="000000"/>
                </a:solidFill>
                <a:latin typeface="Nunito"/>
                <a:ea typeface="Nunito"/>
                <a:cs typeface="Nunito"/>
                <a:sym typeface="Nunito"/>
              </a:rPr>
              <a:t>“I think so,” he whispered. “But something feels different.”</a:t>
            </a:r>
          </a:p>
          <a:p>
            <a:pPr algn="l">
              <a:lnSpc>
                <a:spcPts val="2379"/>
              </a:lnSpc>
            </a:pPr>
            <a:r>
              <a:rPr lang="en-US" sz="1699">
                <a:solidFill>
                  <a:srgbClr val="000000"/>
                </a:solidFill>
                <a:latin typeface="Nunito"/>
                <a:ea typeface="Nunito"/>
                <a:cs typeface="Nunito"/>
                <a:sym typeface="Nunito"/>
              </a:rPr>
              <a:t>Lumi looked around the room. The curtains were still. The glass stood on the bedside table, and the wooden block rested beside her notebook.</a:t>
            </a:r>
          </a:p>
          <a:p>
            <a:pPr algn="l">
              <a:lnSpc>
                <a:spcPts val="2379"/>
              </a:lnSpc>
            </a:pPr>
            <a:r>
              <a:rPr lang="en-US" sz="1699">
                <a:solidFill>
                  <a:srgbClr val="000000"/>
                </a:solidFill>
                <a:latin typeface="Nunito"/>
                <a:ea typeface="Nunito"/>
                <a:cs typeface="Nunito"/>
                <a:sym typeface="Nunito"/>
              </a:rPr>
              <a:t>Nothing seemed unusual.</a:t>
            </a:r>
          </a:p>
          <a:p>
            <a:pPr algn="l">
              <a:lnSpc>
                <a:spcPts val="2379"/>
              </a:lnSpc>
            </a:pPr>
            <a:r>
              <a:rPr lang="en-US" sz="1699">
                <a:solidFill>
                  <a:srgbClr val="000000"/>
                </a:solidFill>
                <a:latin typeface="Nunito"/>
                <a:ea typeface="Nunito"/>
                <a:cs typeface="Nunito"/>
                <a:sym typeface="Nunito"/>
              </a:rPr>
              <a:t>Then she noticed a tiny golden spot on the wall.</a:t>
            </a:r>
          </a:p>
          <a:p>
            <a:pPr algn="l">
              <a:lnSpc>
                <a:spcPts val="2379"/>
              </a:lnSpc>
            </a:pPr>
            <a:r>
              <a:rPr lang="en-US" sz="1699">
                <a:solidFill>
                  <a:srgbClr val="000000"/>
                </a:solidFill>
                <a:latin typeface="Nunito"/>
                <a:ea typeface="Nunito"/>
                <a:cs typeface="Nunito"/>
                <a:sym typeface="Nunito"/>
              </a:rPr>
              <a:t>It was far away from Piko.</a:t>
            </a:r>
          </a:p>
          <a:p>
            <a:pPr algn="l">
              <a:lnSpc>
                <a:spcPts val="2379"/>
              </a:lnSpc>
            </a:pPr>
            <a:r>
              <a:rPr lang="en-US" sz="1699">
                <a:solidFill>
                  <a:srgbClr val="000000"/>
                </a:solidFill>
                <a:latin typeface="Nunito"/>
                <a:ea typeface="Nunito"/>
                <a:cs typeface="Nunito"/>
                <a:sym typeface="Nunito"/>
              </a:rPr>
              <a:t>Lumi stared at it.</a:t>
            </a:r>
          </a:p>
          <a:p>
            <a:pPr algn="l">
              <a:lnSpc>
                <a:spcPts val="2379"/>
              </a:lnSpc>
            </a:pPr>
            <a:r>
              <a:rPr lang="en-US" sz="1699">
                <a:solidFill>
                  <a:srgbClr val="000000"/>
                </a:solidFill>
                <a:latin typeface="Nunito"/>
                <a:ea typeface="Nunito"/>
                <a:cs typeface="Nunito"/>
                <a:sym typeface="Nunito"/>
              </a:rPr>
              <a:t>Piko was hovering beside her shoulder, but his light seemed to be shining somewhere else.</a:t>
            </a:r>
          </a:p>
          <a:p>
            <a:pPr algn="l">
              <a:lnSpc>
                <a:spcPts val="2379"/>
              </a:lnSpc>
            </a:pPr>
            <a:r>
              <a:rPr lang="en-US" sz="1699">
                <a:solidFill>
                  <a:srgbClr val="000000"/>
                </a:solidFill>
                <a:latin typeface="Nunito"/>
                <a:ea typeface="Nunito"/>
                <a:cs typeface="Nunito"/>
                <a:sym typeface="Nunito"/>
              </a:rPr>
              <a:t>“That's impossible,” Lumi murmured. “How can your glow be over there when you're over here?”</a:t>
            </a:r>
          </a:p>
          <a:p>
            <a:pPr algn="l">
              <a:lnSpc>
                <a:spcPts val="2379"/>
              </a:lnSpc>
            </a:pPr>
            <a:r>
              <a:rPr lang="en-US" sz="1699">
                <a:solidFill>
                  <a:srgbClr val="000000"/>
                </a:solidFill>
                <a:latin typeface="Nunito"/>
                <a:ea typeface="Nunito"/>
                <a:cs typeface="Nunito"/>
                <a:sym typeface="Nunito"/>
              </a:rPr>
              <a:t>She reached for her notebook again.</a:t>
            </a:r>
          </a:p>
          <a:p>
            <a:pPr algn="l">
              <a:lnSpc>
                <a:spcPts val="2379"/>
              </a:lnSpc>
            </a:pPr>
          </a:p>
        </p:txBody>
      </p:sp>
      <p:sp>
        <p:nvSpPr>
          <p:cNvPr name="TextBox 3" id="3"/>
          <p:cNvSpPr txBox="true"/>
          <p:nvPr/>
        </p:nvSpPr>
        <p:spPr>
          <a:xfrm rot="0">
            <a:off x="3623135" y="9563255"/>
            <a:ext cx="313730" cy="372745"/>
          </a:xfrm>
          <a:prstGeom prst="rect">
            <a:avLst/>
          </a:prstGeom>
        </p:spPr>
        <p:txBody>
          <a:bodyPr anchor="t" rtlCol="false" tIns="0" lIns="0" bIns="0" rIns="0">
            <a:spAutoFit/>
          </a:bodyPr>
          <a:lstStyle/>
          <a:p>
            <a:pPr algn="ctr">
              <a:lnSpc>
                <a:spcPts val="3079"/>
              </a:lnSpc>
            </a:pPr>
            <a:r>
              <a:rPr lang="en-US" sz="2199">
                <a:solidFill>
                  <a:srgbClr val="000000"/>
                </a:solidFill>
                <a:latin typeface="Canva Sans"/>
                <a:ea typeface="Canva Sans"/>
                <a:cs typeface="Canva Sans"/>
                <a:sym typeface="Canva Sans"/>
              </a:rPr>
              <a:t>15</a:t>
            </a:r>
          </a:p>
        </p:txBody>
      </p:sp>
      <p:sp>
        <p:nvSpPr>
          <p:cNvPr name="AutoShape 4" id="4"/>
          <p:cNvSpPr/>
          <p:nvPr/>
        </p:nvSpPr>
        <p:spPr>
          <a:xfrm>
            <a:off x="756000" y="1489940"/>
            <a:ext cx="5751563" cy="0"/>
          </a:xfrm>
          <a:prstGeom prst="line">
            <a:avLst/>
          </a:prstGeom>
          <a:ln cap="flat" w="19050">
            <a:solidFill>
              <a:srgbClr val="7A6200">
                <a:alpha val="84706"/>
              </a:srgbClr>
            </a:solidFill>
            <a:prstDash val="solid"/>
            <a:headEnd type="none" len="sm" w="sm"/>
            <a:tailEnd type="none" len="sm" w="sm"/>
          </a:ln>
        </p:spPr>
      </p:sp>
    </p:spTree>
  </p:cSld>
  <p:clrMapOvr>
    <a:masterClrMapping/>
  </p:clrMapOvr>
</p:sld>
</file>

<file path=ppt/slides/slide19.xml><?xml version="1.0" encoding="utf-8"?>
<p:sld xmlns:p="http://schemas.openxmlformats.org/presentationml/2006/main" xmlns:a="http://schemas.openxmlformats.org/drawingml/2006/main">
  <p:cSld>
    <p:bg>
      <p:bgPr>
        <a:solidFill>
          <a:srgbClr val="CCCCBC"/>
        </a:solidFill>
      </p:bgPr>
    </p:bg>
    <p:spTree>
      <p:nvGrpSpPr>
        <p:cNvPr id="1" name=""/>
        <p:cNvGrpSpPr/>
        <p:nvPr/>
      </p:nvGrpSpPr>
      <p:grpSpPr>
        <a:xfrm>
          <a:off x="0" y="0"/>
          <a:ext cx="0" cy="0"/>
          <a:chOff x="0" y="0"/>
          <a:chExt cx="0" cy="0"/>
        </a:xfrm>
      </p:grpSpPr>
      <p:sp>
        <p:nvSpPr>
          <p:cNvPr name="TextBox 2" id="2"/>
          <p:cNvSpPr txBox="true"/>
          <p:nvPr/>
        </p:nvSpPr>
        <p:spPr>
          <a:xfrm rot="0">
            <a:off x="787256" y="727425"/>
            <a:ext cx="6016744" cy="7636510"/>
          </a:xfrm>
          <a:prstGeom prst="rect">
            <a:avLst/>
          </a:prstGeom>
        </p:spPr>
        <p:txBody>
          <a:bodyPr anchor="t" rtlCol="false" tIns="0" lIns="0" bIns="0" rIns="0">
            <a:spAutoFit/>
          </a:bodyPr>
          <a:lstStyle/>
          <a:p>
            <a:pPr algn="l">
              <a:lnSpc>
                <a:spcPts val="2100"/>
              </a:lnSpc>
            </a:pPr>
            <a:r>
              <a:rPr lang="en-US" sz="1500">
                <a:gradFill>
                  <a:gsLst>
                    <a:gs pos="0">
                      <a:srgbClr val="000000">
                        <a:alpha val="100000"/>
                      </a:srgbClr>
                    </a:gs>
                    <a:gs pos="50000">
                      <a:srgbClr val="555555">
                        <a:alpha val="100000"/>
                      </a:srgbClr>
                    </a:gs>
                    <a:gs pos="100000">
                      <a:srgbClr val="0BB50E">
                        <a:alpha val="100000"/>
                      </a:srgbClr>
                    </a:gs>
                  </a:gsLst>
                  <a:path path="circle">
                    <a:fillToRect l="0" r="100000" t="0" b="100000"/>
                  </a:path>
                  <a:tileRect r="0" l="-100000" b="0" t="-100000"/>
                </a:gradFill>
                <a:latin typeface="Nunito"/>
                <a:ea typeface="Nunito"/>
                <a:cs typeface="Nunito"/>
                <a:sym typeface="Nunito"/>
              </a:rPr>
              <a:t> </a:t>
            </a:r>
          </a:p>
          <a:p>
            <a:pPr algn="l">
              <a:lnSpc>
                <a:spcPts val="2379"/>
              </a:lnSpc>
            </a:pPr>
          </a:p>
          <a:p>
            <a:pPr algn="l">
              <a:lnSpc>
                <a:spcPts val="2379"/>
              </a:lnSpc>
            </a:pPr>
            <a:r>
              <a:rPr lang="en-US" sz="1699">
                <a:solidFill>
                  <a:srgbClr val="000000"/>
                </a:solidFill>
                <a:latin typeface="Nunito"/>
                <a:ea typeface="Nunito"/>
                <a:cs typeface="Nunito"/>
                <a:sym typeface="Nunito"/>
              </a:rPr>
              <a:t>Lumi opened her notebook and quickly wrote down what she had seen.</a:t>
            </a:r>
          </a:p>
          <a:p>
            <a:pPr algn="l">
              <a:lnSpc>
                <a:spcPts val="2379"/>
              </a:lnSpc>
            </a:pPr>
            <a:r>
              <a:rPr lang="en-US" sz="1699">
                <a:gradFill>
                  <a:gsLst>
                    <a:gs pos="0">
                      <a:srgbClr val="5A0A0C">
                        <a:alpha val="100000"/>
                      </a:srgbClr>
                    </a:gs>
                    <a:gs pos="50000">
                      <a:srgbClr val="BF628C">
                        <a:alpha val="100000"/>
                      </a:srgbClr>
                    </a:gs>
                    <a:gs pos="100000">
                      <a:srgbClr val="62BF9B">
                        <a:alpha val="100000"/>
                      </a:srgbClr>
                    </a:gs>
                  </a:gsLst>
                  <a:lin ang="0"/>
                </a:gradFill>
                <a:latin typeface="Comic Sans"/>
                <a:ea typeface="Comic Sans"/>
                <a:cs typeface="Comic Sans"/>
                <a:sym typeface="Comic Sans"/>
              </a:rPr>
              <a:t>OBSERVATION 4</a:t>
            </a:r>
          </a:p>
          <a:p>
            <a:pPr algn="l">
              <a:lnSpc>
                <a:spcPts val="2379"/>
              </a:lnSpc>
            </a:pPr>
            <a:r>
              <a:rPr lang="en-US" sz="1699">
                <a:solidFill>
                  <a:srgbClr val="000000"/>
                </a:solidFill>
                <a:latin typeface="Nunito"/>
                <a:ea typeface="Nunito"/>
                <a:cs typeface="Nunito"/>
                <a:sym typeface="Nunito"/>
              </a:rPr>
              <a:t>Piko is beside me, but a golden spot is shining on the wall far away from him.</a:t>
            </a:r>
          </a:p>
          <a:p>
            <a:pPr algn="l">
              <a:lnSpc>
                <a:spcPts val="2379"/>
              </a:lnSpc>
            </a:pPr>
            <a:r>
              <a:rPr lang="en-US" sz="1699">
                <a:solidFill>
                  <a:srgbClr val="000000"/>
                </a:solidFill>
                <a:latin typeface="Nunito"/>
                <a:ea typeface="Nunito"/>
                <a:cs typeface="Nunito"/>
                <a:sym typeface="Nunito"/>
              </a:rPr>
              <a:t>She looked up again.</a:t>
            </a:r>
          </a:p>
          <a:p>
            <a:pPr algn="l">
              <a:lnSpc>
                <a:spcPts val="2379"/>
              </a:lnSpc>
            </a:pPr>
            <a:r>
              <a:rPr lang="en-US" sz="1699">
                <a:solidFill>
                  <a:srgbClr val="000000"/>
                </a:solidFill>
                <a:latin typeface="Nunito"/>
                <a:ea typeface="Nunito"/>
                <a:cs typeface="Nunito"/>
                <a:sym typeface="Nunito"/>
              </a:rPr>
              <a:t>The golden spot was still there.</a:t>
            </a:r>
          </a:p>
          <a:p>
            <a:pPr algn="l">
              <a:lnSpc>
                <a:spcPts val="2379"/>
              </a:lnSpc>
            </a:pPr>
            <a:r>
              <a:rPr lang="en-US" sz="1699">
                <a:solidFill>
                  <a:srgbClr val="000000"/>
                </a:solidFill>
                <a:latin typeface="Nunito"/>
                <a:ea typeface="Nunito"/>
                <a:cs typeface="Nunito"/>
                <a:sym typeface="Nunito"/>
              </a:rPr>
              <a:t>“Let's investigate,” she said.</a:t>
            </a:r>
          </a:p>
          <a:p>
            <a:pPr algn="l">
              <a:lnSpc>
                <a:spcPts val="2379"/>
              </a:lnSpc>
            </a:pPr>
            <a:r>
              <a:rPr lang="en-US" sz="1699">
                <a:solidFill>
                  <a:srgbClr val="000000"/>
                </a:solidFill>
                <a:latin typeface="Nunito"/>
                <a:ea typeface="Nunito"/>
                <a:cs typeface="Nunito"/>
                <a:sym typeface="Nunito"/>
              </a:rPr>
              <a:t>Lumi walked towards the wall, holding her notebook close to her chest. Piko followed, his little wings beating softly.</a:t>
            </a:r>
          </a:p>
          <a:p>
            <a:pPr algn="l">
              <a:lnSpc>
                <a:spcPts val="2379"/>
              </a:lnSpc>
            </a:pPr>
            <a:r>
              <a:rPr lang="en-US" sz="1699">
                <a:solidFill>
                  <a:srgbClr val="000000"/>
                </a:solidFill>
                <a:latin typeface="Nunito"/>
                <a:ea typeface="Nunito"/>
                <a:cs typeface="Nunito"/>
                <a:sym typeface="Nunito"/>
              </a:rPr>
              <a:t>When Lumi moved closer to the golden spot, it seemed to slide away.</a:t>
            </a:r>
          </a:p>
          <a:p>
            <a:pPr algn="l">
              <a:lnSpc>
                <a:spcPts val="2379"/>
              </a:lnSpc>
            </a:pPr>
            <a:r>
              <a:rPr lang="en-US" sz="1699">
                <a:solidFill>
                  <a:srgbClr val="000000"/>
                </a:solidFill>
                <a:latin typeface="Nunito"/>
                <a:ea typeface="Nunito"/>
                <a:cs typeface="Nunito"/>
                <a:sym typeface="Nunito"/>
              </a:rPr>
              <a:t>She took a step to the left.</a:t>
            </a:r>
          </a:p>
          <a:p>
            <a:pPr algn="l">
              <a:lnSpc>
                <a:spcPts val="2379"/>
              </a:lnSpc>
            </a:pPr>
            <a:r>
              <a:rPr lang="en-US" sz="1699">
                <a:solidFill>
                  <a:srgbClr val="000000"/>
                </a:solidFill>
                <a:latin typeface="Nunito"/>
                <a:ea typeface="Nunito"/>
                <a:cs typeface="Nunito"/>
                <a:sym typeface="Nunito"/>
              </a:rPr>
              <a:t>The spot shifted.</a:t>
            </a:r>
          </a:p>
          <a:p>
            <a:pPr algn="l">
              <a:lnSpc>
                <a:spcPts val="2379"/>
              </a:lnSpc>
            </a:pPr>
            <a:r>
              <a:rPr lang="en-US" sz="1699">
                <a:solidFill>
                  <a:srgbClr val="000000"/>
                </a:solidFill>
                <a:latin typeface="Nunito"/>
                <a:ea typeface="Nunito"/>
                <a:cs typeface="Nunito"/>
                <a:sym typeface="Nunito"/>
              </a:rPr>
              <a:t>She took a step to the right.</a:t>
            </a:r>
          </a:p>
          <a:p>
            <a:pPr algn="l">
              <a:lnSpc>
                <a:spcPts val="2379"/>
              </a:lnSpc>
            </a:pPr>
            <a:r>
              <a:rPr lang="en-US" sz="1699">
                <a:solidFill>
                  <a:srgbClr val="000000"/>
                </a:solidFill>
                <a:latin typeface="Nunito"/>
                <a:ea typeface="Nunito"/>
                <a:cs typeface="Nunito"/>
                <a:sym typeface="Nunito"/>
              </a:rPr>
              <a:t>It shifted again.</a:t>
            </a:r>
          </a:p>
          <a:p>
            <a:pPr algn="l">
              <a:lnSpc>
                <a:spcPts val="2379"/>
              </a:lnSpc>
            </a:pPr>
            <a:r>
              <a:rPr lang="en-US" sz="1699">
                <a:solidFill>
                  <a:srgbClr val="000000"/>
                </a:solidFill>
                <a:latin typeface="Nunito"/>
                <a:ea typeface="Nunito"/>
                <a:cs typeface="Nunito"/>
                <a:sym typeface="Nunito"/>
              </a:rPr>
              <a:t>“It's moving!” Piko squeaked.</a:t>
            </a:r>
          </a:p>
          <a:p>
            <a:pPr algn="l">
              <a:lnSpc>
                <a:spcPts val="2379"/>
              </a:lnSpc>
            </a:pPr>
            <a:r>
              <a:rPr lang="en-US" sz="1699">
                <a:solidFill>
                  <a:srgbClr val="000000"/>
                </a:solidFill>
                <a:latin typeface="Nunito"/>
                <a:ea typeface="Nunito"/>
                <a:cs typeface="Nunito"/>
                <a:sym typeface="Nunito"/>
              </a:rPr>
              <a:t>“Maybe it only looks as if it's moving,” Lumi replied. “We need to find out what's making it appear there.”</a:t>
            </a:r>
          </a:p>
          <a:p>
            <a:pPr algn="l">
              <a:lnSpc>
                <a:spcPts val="2379"/>
              </a:lnSpc>
            </a:pPr>
            <a:r>
              <a:rPr lang="en-US" sz="1699">
                <a:solidFill>
                  <a:srgbClr val="000000"/>
                </a:solidFill>
                <a:latin typeface="Nunito"/>
                <a:ea typeface="Nunito"/>
                <a:cs typeface="Nunito"/>
                <a:sym typeface="Nunito"/>
              </a:rPr>
              <a:t>She turned back towards the bedside table.</a:t>
            </a:r>
          </a:p>
          <a:p>
            <a:pPr algn="l">
              <a:lnSpc>
                <a:spcPts val="2379"/>
              </a:lnSpc>
            </a:pPr>
            <a:r>
              <a:rPr lang="en-US" sz="1699">
                <a:solidFill>
                  <a:srgbClr val="000000"/>
                </a:solidFill>
                <a:latin typeface="Nunito"/>
                <a:ea typeface="Nunito"/>
                <a:cs typeface="Nunito"/>
                <a:sym typeface="Nunito"/>
              </a:rPr>
              <a:t>The spoon was still lying where she had left it.</a:t>
            </a:r>
          </a:p>
          <a:p>
            <a:pPr algn="l">
              <a:lnSpc>
                <a:spcPts val="2379"/>
              </a:lnSpc>
            </a:pPr>
            <a:r>
              <a:rPr lang="en-US" sz="1699">
                <a:solidFill>
                  <a:srgbClr val="000000"/>
                </a:solidFill>
                <a:latin typeface="Nunito"/>
                <a:ea typeface="Nunito"/>
                <a:cs typeface="Nunito"/>
                <a:sym typeface="Nunito"/>
              </a:rPr>
              <a:t>Lumi's eyes widened.</a:t>
            </a:r>
          </a:p>
          <a:p>
            <a:pPr algn="l">
              <a:lnSpc>
                <a:spcPts val="2379"/>
              </a:lnSpc>
            </a:pPr>
            <a:r>
              <a:rPr lang="en-US" sz="1699">
                <a:solidFill>
                  <a:srgbClr val="000000"/>
                </a:solidFill>
                <a:latin typeface="Nunito"/>
                <a:ea typeface="Nunito"/>
                <a:cs typeface="Nunito"/>
                <a:sym typeface="Nunito"/>
              </a:rPr>
              <a:t>“Piko, I think our spoon might be involved!”</a:t>
            </a:r>
          </a:p>
          <a:p>
            <a:pPr algn="l">
              <a:lnSpc>
                <a:spcPts val="2379"/>
              </a:lnSpc>
            </a:pPr>
          </a:p>
        </p:txBody>
      </p:sp>
      <p:sp>
        <p:nvSpPr>
          <p:cNvPr name="TextBox 3" id="3"/>
          <p:cNvSpPr txBox="true"/>
          <p:nvPr/>
        </p:nvSpPr>
        <p:spPr>
          <a:xfrm rot="0">
            <a:off x="3634050" y="9563255"/>
            <a:ext cx="323155" cy="372745"/>
          </a:xfrm>
          <a:prstGeom prst="rect">
            <a:avLst/>
          </a:prstGeom>
        </p:spPr>
        <p:txBody>
          <a:bodyPr anchor="t" rtlCol="false" tIns="0" lIns="0" bIns="0" rIns="0">
            <a:spAutoFit/>
          </a:bodyPr>
          <a:lstStyle/>
          <a:p>
            <a:pPr algn="ctr">
              <a:lnSpc>
                <a:spcPts val="3079"/>
              </a:lnSpc>
            </a:pPr>
            <a:r>
              <a:rPr lang="en-US" sz="2199">
                <a:solidFill>
                  <a:srgbClr val="000000"/>
                </a:solidFill>
                <a:latin typeface="Canva Sans"/>
                <a:ea typeface="Canva Sans"/>
                <a:cs typeface="Canva Sans"/>
                <a:sym typeface="Canva Sans"/>
              </a:rPr>
              <a:t>16</a:t>
            </a:r>
          </a:p>
        </p:txBody>
      </p:sp>
      <p:sp>
        <p:nvSpPr>
          <p:cNvPr name="AutoShape 4" id="4"/>
          <p:cNvSpPr/>
          <p:nvPr/>
        </p:nvSpPr>
        <p:spPr>
          <a:xfrm>
            <a:off x="904218" y="687986"/>
            <a:ext cx="5751563" cy="0"/>
          </a:xfrm>
          <a:prstGeom prst="line">
            <a:avLst/>
          </a:prstGeom>
          <a:ln cap="flat" w="19050">
            <a:solidFill>
              <a:srgbClr val="7A6200">
                <a:alpha val="84706"/>
              </a:srgbClr>
            </a:solidFill>
            <a:prstDash val="solid"/>
            <a:headEnd type="none" len="sm" w="sm"/>
            <a:tailEnd type="none" len="sm" w="sm"/>
          </a:ln>
        </p:spPr>
      </p:sp>
    </p:spTree>
  </p:cSld>
  <p:clrMapOvr>
    <a:masterClrMapping/>
  </p:clrMapOvr>
</p:sld>
</file>

<file path=ppt/slides/slide20.xml><?xml version="1.0" encoding="utf-8"?>
<p:sld xmlns:p="http://schemas.openxmlformats.org/presentationml/2006/main" xmlns:a="http://schemas.openxmlformats.org/drawingml/2006/main">
  <p:cSld>
    <p:bg>
      <p:bgPr>
        <a:solidFill>
          <a:srgbClr val="CCCCBC"/>
        </a:solidFill>
      </p:bgPr>
    </p:bg>
    <p:spTree>
      <p:nvGrpSpPr>
        <p:cNvPr id="1" name=""/>
        <p:cNvGrpSpPr/>
        <p:nvPr/>
      </p:nvGrpSpPr>
      <p:grpSpPr>
        <a:xfrm>
          <a:off x="0" y="0"/>
          <a:ext cx="0" cy="0"/>
          <a:chOff x="0" y="0"/>
          <a:chExt cx="0" cy="0"/>
        </a:xfrm>
      </p:grpSpPr>
      <p:sp>
        <p:nvSpPr>
          <p:cNvPr name="TextBox 2" id="2"/>
          <p:cNvSpPr txBox="true"/>
          <p:nvPr/>
        </p:nvSpPr>
        <p:spPr>
          <a:xfrm rot="0">
            <a:off x="756000" y="727425"/>
            <a:ext cx="6048000" cy="8548370"/>
          </a:xfrm>
          <a:prstGeom prst="rect">
            <a:avLst/>
          </a:prstGeom>
        </p:spPr>
        <p:txBody>
          <a:bodyPr anchor="t" rtlCol="false" tIns="0" lIns="0" bIns="0" rIns="0">
            <a:spAutoFit/>
          </a:bodyPr>
          <a:lstStyle/>
          <a:p>
            <a:pPr algn="l">
              <a:lnSpc>
                <a:spcPts val="2379"/>
              </a:lnSpc>
            </a:pPr>
          </a:p>
          <a:p>
            <a:pPr algn="l">
              <a:lnSpc>
                <a:spcPts val="2379"/>
              </a:lnSpc>
            </a:pPr>
            <a:r>
              <a:rPr lang="en-US" sz="1699">
                <a:solidFill>
                  <a:srgbClr val="000000"/>
                </a:solidFill>
                <a:latin typeface="Nunito"/>
                <a:ea typeface="Nunito"/>
                <a:cs typeface="Nunito"/>
                <a:sym typeface="Nunito"/>
              </a:rPr>
              <a:t>Lumi hurried back to the bedside table and picked up the spoon.</a:t>
            </a:r>
          </a:p>
          <a:p>
            <a:pPr algn="l">
              <a:lnSpc>
                <a:spcPts val="2379"/>
              </a:lnSpc>
            </a:pPr>
            <a:r>
              <a:rPr lang="en-US" sz="1699">
                <a:solidFill>
                  <a:srgbClr val="000000"/>
                </a:solidFill>
                <a:latin typeface="Nunito"/>
                <a:ea typeface="Nunito"/>
                <a:cs typeface="Nunito"/>
                <a:sym typeface="Nunito"/>
              </a:rPr>
              <a:t>“Let's try the experiment again,” she said.</a:t>
            </a:r>
          </a:p>
          <a:p>
            <a:pPr algn="l">
              <a:lnSpc>
                <a:spcPts val="2379"/>
              </a:lnSpc>
            </a:pPr>
            <a:r>
              <a:rPr lang="en-US" sz="1699">
                <a:solidFill>
                  <a:srgbClr val="000000"/>
                </a:solidFill>
                <a:latin typeface="Nunito"/>
                <a:ea typeface="Nunito"/>
                <a:cs typeface="Nunito"/>
                <a:sym typeface="Nunito"/>
              </a:rPr>
              <a:t>Piko hovered nearby, watching with wide eyes.</a:t>
            </a:r>
          </a:p>
          <a:p>
            <a:pPr algn="l">
              <a:lnSpc>
                <a:spcPts val="2379"/>
              </a:lnSpc>
            </a:pPr>
            <a:r>
              <a:rPr lang="en-US" sz="1699">
                <a:solidFill>
                  <a:srgbClr val="000000"/>
                </a:solidFill>
                <a:latin typeface="Nunito"/>
                <a:ea typeface="Nunito"/>
                <a:cs typeface="Nunito"/>
                <a:sym typeface="Nunito"/>
              </a:rPr>
              <a:t>Lumi slowly turned the spoon towards him.</a:t>
            </a:r>
          </a:p>
          <a:p>
            <a:pPr algn="l">
              <a:lnSpc>
                <a:spcPts val="2379"/>
              </a:lnSpc>
            </a:pPr>
            <a:r>
              <a:rPr lang="en-US" sz="1699">
                <a:solidFill>
                  <a:srgbClr val="000000"/>
                </a:solidFill>
                <a:latin typeface="Nunito"/>
                <a:ea typeface="Nunito"/>
                <a:cs typeface="Nunito"/>
                <a:sym typeface="Nunito"/>
              </a:rPr>
              <a:t>A golden spot appeared on the wall.</a:t>
            </a:r>
          </a:p>
          <a:p>
            <a:pPr algn="l">
              <a:lnSpc>
                <a:spcPts val="2379"/>
              </a:lnSpc>
            </a:pPr>
            <a:r>
              <a:rPr lang="en-US" sz="1699">
                <a:solidFill>
                  <a:srgbClr val="000000"/>
                </a:solidFill>
                <a:latin typeface="Nunito"/>
                <a:ea typeface="Nunito"/>
                <a:cs typeface="Nunito"/>
                <a:sym typeface="Nunito"/>
              </a:rPr>
              <a:t>She tilted the spoon a little.</a:t>
            </a:r>
          </a:p>
          <a:p>
            <a:pPr algn="l">
              <a:lnSpc>
                <a:spcPts val="2379"/>
              </a:lnSpc>
            </a:pPr>
            <a:r>
              <a:rPr lang="en-US" sz="1699">
                <a:solidFill>
                  <a:srgbClr val="000000"/>
                </a:solidFill>
                <a:latin typeface="Nunito"/>
                <a:ea typeface="Nunito"/>
                <a:cs typeface="Nunito"/>
                <a:sym typeface="Nunito"/>
              </a:rPr>
              <a:t>The spot moved.</a:t>
            </a:r>
          </a:p>
          <a:p>
            <a:pPr algn="l">
              <a:lnSpc>
                <a:spcPts val="2379"/>
              </a:lnSpc>
            </a:pPr>
            <a:r>
              <a:rPr lang="en-US" sz="1699">
                <a:solidFill>
                  <a:srgbClr val="000000"/>
                </a:solidFill>
                <a:latin typeface="Nunito"/>
                <a:ea typeface="Nunito"/>
                <a:cs typeface="Nunito"/>
                <a:sym typeface="Nunito"/>
              </a:rPr>
              <a:t>She tilted it again.</a:t>
            </a:r>
          </a:p>
          <a:p>
            <a:pPr algn="l">
              <a:lnSpc>
                <a:spcPts val="2379"/>
              </a:lnSpc>
            </a:pPr>
            <a:r>
              <a:rPr lang="en-US" sz="1699">
                <a:solidFill>
                  <a:srgbClr val="000000"/>
                </a:solidFill>
                <a:latin typeface="Nunito"/>
                <a:ea typeface="Nunito"/>
                <a:cs typeface="Nunito"/>
                <a:sym typeface="Nunito"/>
              </a:rPr>
              <a:t>The spot darted across the wall like a tiny dancing star.</a:t>
            </a:r>
          </a:p>
          <a:p>
            <a:pPr algn="l">
              <a:lnSpc>
                <a:spcPts val="2379"/>
              </a:lnSpc>
            </a:pPr>
            <a:r>
              <a:rPr lang="en-US" sz="1699">
                <a:solidFill>
                  <a:srgbClr val="000000"/>
                </a:solidFill>
                <a:latin typeface="Nunito"/>
                <a:ea typeface="Nunito"/>
                <a:cs typeface="Nunito"/>
                <a:sym typeface="Nunito"/>
              </a:rPr>
              <a:t>Lumi gasped.</a:t>
            </a:r>
          </a:p>
          <a:p>
            <a:pPr algn="l">
              <a:lnSpc>
                <a:spcPts val="2379"/>
              </a:lnSpc>
            </a:pPr>
            <a:r>
              <a:rPr lang="en-US" sz="1699">
                <a:solidFill>
                  <a:srgbClr val="000000"/>
                </a:solidFill>
                <a:latin typeface="Nunito"/>
                <a:ea typeface="Nunito"/>
                <a:cs typeface="Nunito"/>
                <a:sym typeface="Nunito"/>
              </a:rPr>
              <a:t>“The spoon is bouncing your light onto the wall!”</a:t>
            </a:r>
          </a:p>
          <a:p>
            <a:pPr algn="l">
              <a:lnSpc>
                <a:spcPts val="2379"/>
              </a:lnSpc>
            </a:pPr>
            <a:r>
              <a:rPr lang="en-US" sz="1699">
                <a:solidFill>
                  <a:srgbClr val="000000"/>
                </a:solidFill>
                <a:latin typeface="Nunito"/>
                <a:ea typeface="Nunito"/>
                <a:cs typeface="Nunito"/>
                <a:sym typeface="Nunito"/>
              </a:rPr>
              <a:t>Piko flew closer to inspect the spoon.</a:t>
            </a:r>
          </a:p>
          <a:p>
            <a:pPr algn="l">
              <a:lnSpc>
                <a:spcPts val="2379"/>
              </a:lnSpc>
            </a:pPr>
            <a:r>
              <a:rPr lang="en-US" sz="1699">
                <a:solidFill>
                  <a:srgbClr val="000000"/>
                </a:solidFill>
                <a:latin typeface="Nunito"/>
                <a:ea typeface="Nunito"/>
                <a:cs typeface="Nunito"/>
                <a:sym typeface="Nunito"/>
              </a:rPr>
              <a:t>“So my light isn't really leaving me?”</a:t>
            </a:r>
          </a:p>
          <a:p>
            <a:pPr algn="l">
              <a:lnSpc>
                <a:spcPts val="2379"/>
              </a:lnSpc>
            </a:pPr>
            <a:r>
              <a:rPr lang="en-US" sz="1699">
                <a:solidFill>
                  <a:srgbClr val="000000"/>
                </a:solidFill>
                <a:latin typeface="Nunito"/>
                <a:ea typeface="Nunito"/>
                <a:cs typeface="Nunito"/>
                <a:sym typeface="Nunito"/>
              </a:rPr>
              <a:t>“Not in the way we thought,” Lumi explained. “Your light travels to the spoon, and some of it reflects towards the wall.”</a:t>
            </a:r>
          </a:p>
          <a:p>
            <a:pPr algn="l">
              <a:lnSpc>
                <a:spcPts val="2379"/>
              </a:lnSpc>
            </a:pPr>
            <a:r>
              <a:rPr lang="en-US" sz="1699">
                <a:solidFill>
                  <a:srgbClr val="000000"/>
                </a:solidFill>
                <a:latin typeface="Nunito"/>
                <a:ea typeface="Nunito"/>
                <a:cs typeface="Nunito"/>
                <a:sym typeface="Nunito"/>
              </a:rPr>
              <a:t>She turned the spoon once more, watching the spot change direction.</a:t>
            </a:r>
          </a:p>
          <a:p>
            <a:pPr algn="l">
              <a:lnSpc>
                <a:spcPts val="2379"/>
              </a:lnSpc>
            </a:pPr>
            <a:r>
              <a:rPr lang="en-US" sz="1699">
                <a:solidFill>
                  <a:srgbClr val="000000"/>
                </a:solidFill>
                <a:latin typeface="Nunito"/>
                <a:ea typeface="Nunito"/>
                <a:cs typeface="Nunito"/>
                <a:sym typeface="Nunito"/>
              </a:rPr>
              <a:t>The mystery was beginning to make sense.</a:t>
            </a:r>
          </a:p>
          <a:p>
            <a:pPr algn="l">
              <a:lnSpc>
                <a:spcPts val="2379"/>
              </a:lnSpc>
            </a:pPr>
            <a:r>
              <a:rPr lang="en-US" sz="1699">
                <a:solidFill>
                  <a:srgbClr val="000000"/>
                </a:solidFill>
                <a:latin typeface="Nunito"/>
                <a:ea typeface="Nunito"/>
                <a:cs typeface="Nunito"/>
                <a:sym typeface="Nunito"/>
              </a:rPr>
              <a:t>Lumi opened her notebook and recorded the result.</a:t>
            </a:r>
          </a:p>
          <a:p>
            <a:pPr algn="l">
              <a:lnSpc>
                <a:spcPts val="2379"/>
              </a:lnSpc>
            </a:pPr>
            <a:r>
              <a:rPr lang="en-US" sz="1699">
                <a:gradFill>
                  <a:gsLst>
                    <a:gs pos="0">
                      <a:srgbClr val="5A0A0C">
                        <a:alpha val="100000"/>
                      </a:srgbClr>
                    </a:gs>
                    <a:gs pos="50000">
                      <a:srgbClr val="BF628C">
                        <a:alpha val="100000"/>
                      </a:srgbClr>
                    </a:gs>
                    <a:gs pos="100000">
                      <a:srgbClr val="62BF9B">
                        <a:alpha val="100000"/>
                      </a:srgbClr>
                    </a:gs>
                  </a:gsLst>
                  <a:lin ang="0"/>
                </a:gradFill>
                <a:latin typeface="Comic Sans"/>
                <a:ea typeface="Comic Sans"/>
                <a:cs typeface="Comic Sans"/>
                <a:sym typeface="Comic Sans"/>
              </a:rPr>
              <a:t>DISCOVERY 4</a:t>
            </a:r>
          </a:p>
          <a:p>
            <a:pPr algn="l">
              <a:lnSpc>
                <a:spcPts val="2379"/>
              </a:lnSpc>
            </a:pPr>
            <a:r>
              <a:rPr lang="en-US" sz="1699">
                <a:solidFill>
                  <a:srgbClr val="000000"/>
                </a:solidFill>
                <a:latin typeface="Nunito"/>
                <a:ea typeface="Nunito"/>
                <a:cs typeface="Nunito"/>
                <a:sym typeface="Nunito"/>
              </a:rPr>
              <a:t>A reflective surface can redirect light. Changing its angle can change where the light goes.</a:t>
            </a:r>
          </a:p>
          <a:p>
            <a:pPr algn="l">
              <a:lnSpc>
                <a:spcPts val="2379"/>
              </a:lnSpc>
            </a:pPr>
            <a:r>
              <a:rPr lang="en-US" sz="1699">
                <a:solidFill>
                  <a:srgbClr val="000000"/>
                </a:solidFill>
                <a:latin typeface="Nunito"/>
                <a:ea typeface="Nunito"/>
                <a:cs typeface="Nunito"/>
                <a:sym typeface="Nunito"/>
              </a:rPr>
              <a:t>Piko twirled happily.</a:t>
            </a:r>
          </a:p>
          <a:p>
            <a:pPr algn="l">
              <a:lnSpc>
                <a:spcPts val="2379"/>
              </a:lnSpc>
            </a:pPr>
            <a:r>
              <a:rPr lang="en-US" sz="1699">
                <a:solidFill>
                  <a:srgbClr val="000000"/>
                </a:solidFill>
                <a:latin typeface="Nunito"/>
                <a:ea typeface="Nunito"/>
                <a:cs typeface="Nunito"/>
                <a:sym typeface="Nunito"/>
              </a:rPr>
              <a:t>“Our spoon is a little light explorer!”</a:t>
            </a:r>
          </a:p>
          <a:p>
            <a:pPr algn="l">
              <a:lnSpc>
                <a:spcPts val="2379"/>
              </a:lnSpc>
            </a:pPr>
            <a:r>
              <a:rPr lang="en-US" sz="1699">
                <a:solidFill>
                  <a:srgbClr val="000000"/>
                </a:solidFill>
                <a:latin typeface="Nunito"/>
                <a:ea typeface="Nunito"/>
                <a:cs typeface="Nunito"/>
                <a:sym typeface="Nunito"/>
              </a:rPr>
              <a:t>“And so are we,” Lumi replied.</a:t>
            </a:r>
          </a:p>
          <a:p>
            <a:pPr algn="l">
              <a:lnSpc>
                <a:spcPts val="2379"/>
              </a:lnSpc>
            </a:pPr>
          </a:p>
          <a:p>
            <a:pPr algn="l">
              <a:lnSpc>
                <a:spcPts val="2379"/>
              </a:lnSpc>
            </a:pPr>
          </a:p>
        </p:txBody>
      </p:sp>
      <p:sp>
        <p:nvSpPr>
          <p:cNvPr name="TextBox 3" id="3"/>
          <p:cNvSpPr txBox="true"/>
          <p:nvPr/>
        </p:nvSpPr>
        <p:spPr>
          <a:xfrm rot="0">
            <a:off x="1119565" y="9563255"/>
            <a:ext cx="5320870" cy="372745"/>
          </a:xfrm>
          <a:prstGeom prst="rect">
            <a:avLst/>
          </a:prstGeom>
        </p:spPr>
        <p:txBody>
          <a:bodyPr anchor="t" rtlCol="false" tIns="0" lIns="0" bIns="0" rIns="0">
            <a:spAutoFit/>
          </a:bodyPr>
          <a:lstStyle/>
          <a:p>
            <a:pPr algn="ctr">
              <a:lnSpc>
                <a:spcPts val="3079"/>
              </a:lnSpc>
            </a:pPr>
            <a:r>
              <a:rPr lang="en-US" sz="2199">
                <a:solidFill>
                  <a:srgbClr val="000000"/>
                </a:solidFill>
                <a:latin typeface="Canva Sans"/>
                <a:ea typeface="Canva Sans"/>
                <a:cs typeface="Canva Sans"/>
                <a:sym typeface="Canva Sans"/>
              </a:rPr>
              <a:t>17</a:t>
            </a:r>
          </a:p>
        </p:txBody>
      </p:sp>
      <p:sp>
        <p:nvSpPr>
          <p:cNvPr name="AutoShape 4" id="4"/>
          <p:cNvSpPr/>
          <p:nvPr/>
        </p:nvSpPr>
        <p:spPr>
          <a:xfrm>
            <a:off x="756000" y="746475"/>
            <a:ext cx="5751563" cy="0"/>
          </a:xfrm>
          <a:prstGeom prst="line">
            <a:avLst/>
          </a:prstGeom>
          <a:ln cap="flat" w="19050">
            <a:solidFill>
              <a:srgbClr val="7A6200">
                <a:alpha val="84706"/>
              </a:srgbClr>
            </a:solidFill>
            <a:prstDash val="solid"/>
            <a:headEnd type="none" len="sm" w="sm"/>
            <a:tailEnd type="none" len="sm" w="sm"/>
          </a:ln>
        </p:spPr>
      </p:sp>
    </p:spTree>
  </p:cSld>
  <p:clrMapOvr>
    <a:masterClrMapping/>
  </p:clrMapOvr>
</p:sld>
</file>

<file path=ppt/slides/slide21.xml><?xml version="1.0" encoding="utf-8"?>
<p:sld xmlns:p="http://schemas.openxmlformats.org/presentationml/2006/main" xmlns:a="http://schemas.openxmlformats.org/drawingml/2006/main">
  <p:cSld>
    <p:bg>
      <p:bgPr>
        <a:solidFill>
          <a:srgbClr val="CCCCBC"/>
        </a:solidFill>
      </p:bgPr>
    </p:bg>
    <p:spTree>
      <p:nvGrpSpPr>
        <p:cNvPr id="1" name=""/>
        <p:cNvGrpSpPr/>
        <p:nvPr/>
      </p:nvGrpSpPr>
      <p:grpSpPr>
        <a:xfrm>
          <a:off x="0" y="0"/>
          <a:ext cx="0" cy="0"/>
          <a:chOff x="0" y="0"/>
          <a:chExt cx="0" cy="0"/>
        </a:xfrm>
      </p:grpSpPr>
      <p:sp>
        <p:nvSpPr>
          <p:cNvPr name="TextBox 2" id="2"/>
          <p:cNvSpPr txBox="true"/>
          <p:nvPr/>
        </p:nvSpPr>
        <p:spPr>
          <a:xfrm rot="0">
            <a:off x="756000" y="727425"/>
            <a:ext cx="6020927" cy="8522335"/>
          </a:xfrm>
          <a:prstGeom prst="rect">
            <a:avLst/>
          </a:prstGeom>
        </p:spPr>
        <p:txBody>
          <a:bodyPr anchor="t" rtlCol="false" tIns="0" lIns="0" bIns="0" rIns="0">
            <a:spAutoFit/>
          </a:bodyPr>
          <a:lstStyle/>
          <a:p>
            <a:pPr algn="l">
              <a:lnSpc>
                <a:spcPts val="2100"/>
              </a:lnSpc>
            </a:pPr>
            <a:r>
              <a:rPr lang="en-US" sz="1500">
                <a:solidFill>
                  <a:srgbClr val="000000"/>
                </a:solidFill>
                <a:latin typeface="Nunito"/>
                <a:ea typeface="Nunito"/>
                <a:cs typeface="Nunito"/>
                <a:sym typeface="Nunito"/>
              </a:rPr>
              <a:t> </a:t>
            </a:r>
          </a:p>
          <a:p>
            <a:pPr algn="l">
              <a:lnSpc>
                <a:spcPts val="2379"/>
              </a:lnSpc>
            </a:pPr>
            <a:r>
              <a:rPr lang="en-US" sz="1699">
                <a:solidFill>
                  <a:srgbClr val="000000"/>
                </a:solidFill>
                <a:latin typeface="Nunito"/>
                <a:ea typeface="Nunito"/>
                <a:cs typeface="Nunito"/>
                <a:sym typeface="Nunito"/>
              </a:rPr>
              <a:t>Lumi was pleased with her discovery, but she wasn't ready to stop.</a:t>
            </a:r>
          </a:p>
          <a:p>
            <a:pPr algn="l">
              <a:lnSpc>
                <a:spcPts val="2379"/>
              </a:lnSpc>
            </a:pPr>
            <a:r>
              <a:rPr lang="en-US" sz="1699">
                <a:solidFill>
                  <a:srgbClr val="000000"/>
                </a:solidFill>
                <a:latin typeface="Nunito"/>
                <a:ea typeface="Nunito"/>
                <a:cs typeface="Nunito"/>
                <a:sym typeface="Nunito"/>
              </a:rPr>
              <a:t>“If the spoon redirects your light,” she said, “then changing the spoon's position should change where the light lands.”</a:t>
            </a:r>
          </a:p>
          <a:p>
            <a:pPr algn="l">
              <a:lnSpc>
                <a:spcPts val="2379"/>
              </a:lnSpc>
            </a:pPr>
            <a:r>
              <a:rPr lang="en-US" sz="1699">
                <a:solidFill>
                  <a:srgbClr val="000000"/>
                </a:solidFill>
                <a:latin typeface="Nunito"/>
                <a:ea typeface="Nunito"/>
                <a:cs typeface="Nunito"/>
                <a:sym typeface="Nunito"/>
              </a:rPr>
              <a:t>Piko fluttered excitedly.</a:t>
            </a:r>
          </a:p>
          <a:p>
            <a:pPr algn="l">
              <a:lnSpc>
                <a:spcPts val="2379"/>
              </a:lnSpc>
            </a:pPr>
            <a:r>
              <a:rPr lang="en-US" sz="1699">
                <a:solidFill>
                  <a:srgbClr val="000000"/>
                </a:solidFill>
                <a:latin typeface="Nunito"/>
                <a:ea typeface="Nunito"/>
                <a:cs typeface="Nunito"/>
                <a:sym typeface="Nunito"/>
              </a:rPr>
              <a:t>“Let's test it!”</a:t>
            </a:r>
          </a:p>
          <a:p>
            <a:pPr algn="l">
              <a:lnSpc>
                <a:spcPts val="2379"/>
              </a:lnSpc>
            </a:pPr>
            <a:r>
              <a:rPr lang="en-US" sz="1699">
                <a:solidFill>
                  <a:srgbClr val="000000"/>
                </a:solidFill>
                <a:latin typeface="Nunito"/>
                <a:ea typeface="Nunito"/>
                <a:cs typeface="Nunito"/>
                <a:sym typeface="Nunito"/>
              </a:rPr>
              <a:t>Lumi held the spoon steady and watched the golden spot on the wall.</a:t>
            </a:r>
          </a:p>
          <a:p>
            <a:pPr algn="l">
              <a:lnSpc>
                <a:spcPts val="2379"/>
              </a:lnSpc>
            </a:pPr>
            <a:r>
              <a:rPr lang="en-US" sz="1699">
                <a:solidFill>
                  <a:srgbClr val="000000"/>
                </a:solidFill>
                <a:latin typeface="Nunito"/>
                <a:ea typeface="Nunito"/>
                <a:cs typeface="Nunito"/>
                <a:sym typeface="Nunito"/>
              </a:rPr>
              <a:t>Then she tilted the spoon slightly upwards.</a:t>
            </a:r>
          </a:p>
          <a:p>
            <a:pPr algn="l">
              <a:lnSpc>
                <a:spcPts val="2379"/>
              </a:lnSpc>
            </a:pPr>
            <a:r>
              <a:rPr lang="en-US" sz="1699">
                <a:solidFill>
                  <a:srgbClr val="000000"/>
                </a:solidFill>
                <a:latin typeface="Nunito"/>
                <a:ea typeface="Nunito"/>
                <a:cs typeface="Nunito"/>
                <a:sym typeface="Nunito"/>
              </a:rPr>
              <a:t>The spot moved higher.</a:t>
            </a:r>
          </a:p>
          <a:p>
            <a:pPr algn="l">
              <a:lnSpc>
                <a:spcPts val="2379"/>
              </a:lnSpc>
            </a:pPr>
            <a:r>
              <a:rPr lang="en-US" sz="1699">
                <a:solidFill>
                  <a:srgbClr val="000000"/>
                </a:solidFill>
                <a:latin typeface="Nunito"/>
                <a:ea typeface="Nunito"/>
                <a:cs typeface="Nunito"/>
                <a:sym typeface="Nunito"/>
              </a:rPr>
              <a:t>She tilted it downwards.</a:t>
            </a:r>
          </a:p>
          <a:p>
            <a:pPr algn="l">
              <a:lnSpc>
                <a:spcPts val="2379"/>
              </a:lnSpc>
            </a:pPr>
            <a:r>
              <a:rPr lang="en-US" sz="1699">
                <a:solidFill>
                  <a:srgbClr val="000000"/>
                </a:solidFill>
                <a:latin typeface="Nunito"/>
                <a:ea typeface="Nunito"/>
                <a:cs typeface="Nunito"/>
                <a:sym typeface="Nunito"/>
              </a:rPr>
              <a:t>The spot moved lower.</a:t>
            </a:r>
          </a:p>
          <a:p>
            <a:pPr algn="l">
              <a:lnSpc>
                <a:spcPts val="2379"/>
              </a:lnSpc>
            </a:pPr>
            <a:r>
              <a:rPr lang="en-US" sz="1699">
                <a:solidFill>
                  <a:srgbClr val="000000"/>
                </a:solidFill>
                <a:latin typeface="Nunito"/>
                <a:ea typeface="Nunito"/>
                <a:cs typeface="Nunito"/>
                <a:sym typeface="Nunito"/>
              </a:rPr>
              <a:t>She turned the spoon sideways.</a:t>
            </a:r>
          </a:p>
          <a:p>
            <a:pPr algn="l">
              <a:lnSpc>
                <a:spcPts val="2379"/>
              </a:lnSpc>
            </a:pPr>
            <a:r>
              <a:rPr lang="en-US" sz="1699">
                <a:solidFill>
                  <a:srgbClr val="000000"/>
                </a:solidFill>
                <a:latin typeface="Nunito"/>
                <a:ea typeface="Nunito"/>
                <a:cs typeface="Nunito"/>
                <a:sym typeface="Nunito"/>
              </a:rPr>
              <a:t>The spot slid towards the bookshelf.</a:t>
            </a:r>
          </a:p>
          <a:p>
            <a:pPr algn="l">
              <a:lnSpc>
                <a:spcPts val="2379"/>
              </a:lnSpc>
            </a:pPr>
            <a:r>
              <a:rPr lang="en-US" sz="1699">
                <a:solidFill>
                  <a:srgbClr val="000000"/>
                </a:solidFill>
                <a:latin typeface="Nunito"/>
                <a:ea typeface="Nunito"/>
                <a:cs typeface="Nunito"/>
                <a:sym typeface="Nunito"/>
              </a:rPr>
              <a:t>Lumi smiled and made one final note.</a:t>
            </a:r>
          </a:p>
          <a:p>
            <a:pPr algn="l">
              <a:lnSpc>
                <a:spcPts val="2379"/>
              </a:lnSpc>
            </a:pPr>
            <a:r>
              <a:rPr lang="en-US" sz="1699">
                <a:gradFill>
                  <a:gsLst>
                    <a:gs pos="0">
                      <a:srgbClr val="5A0A0C">
                        <a:alpha val="100000"/>
                      </a:srgbClr>
                    </a:gs>
                    <a:gs pos="50000">
                      <a:srgbClr val="BF628C">
                        <a:alpha val="100000"/>
                      </a:srgbClr>
                    </a:gs>
                    <a:gs pos="100000">
                      <a:srgbClr val="62BF9B">
                        <a:alpha val="100000"/>
                      </a:srgbClr>
                    </a:gs>
                  </a:gsLst>
                  <a:lin ang="0"/>
                </a:gradFill>
                <a:latin typeface="Comic Sans"/>
                <a:ea typeface="Comic Sans"/>
                <a:cs typeface="Comic Sans"/>
                <a:sym typeface="Comic Sans"/>
              </a:rPr>
              <a:t>TEST RESULT</a:t>
            </a:r>
          </a:p>
          <a:p>
            <a:pPr algn="l">
              <a:lnSpc>
                <a:spcPts val="2379"/>
              </a:lnSpc>
            </a:pPr>
            <a:r>
              <a:rPr lang="en-US" sz="1699">
                <a:solidFill>
                  <a:srgbClr val="000000"/>
                </a:solidFill>
                <a:latin typeface="Nunito"/>
                <a:ea typeface="Nunito"/>
                <a:cs typeface="Nunito"/>
                <a:sym typeface="Nunito"/>
              </a:rPr>
              <a:t>When I change the spoon's angle, the reflected light changes direction.</a:t>
            </a:r>
          </a:p>
          <a:p>
            <a:pPr algn="l">
              <a:lnSpc>
                <a:spcPts val="2379"/>
              </a:lnSpc>
            </a:pPr>
            <a:r>
              <a:rPr lang="en-US" sz="1699">
                <a:solidFill>
                  <a:srgbClr val="000000"/>
                </a:solidFill>
                <a:latin typeface="Nunito"/>
                <a:ea typeface="Nunito"/>
                <a:cs typeface="Nunito"/>
                <a:sym typeface="Nunito"/>
              </a:rPr>
              <a:t>Piko watched the golden spot settle near the edge of the bookshelf.</a:t>
            </a:r>
          </a:p>
          <a:p>
            <a:pPr algn="l">
              <a:lnSpc>
                <a:spcPts val="2379"/>
              </a:lnSpc>
            </a:pPr>
            <a:r>
              <a:rPr lang="en-US" sz="1699">
                <a:solidFill>
                  <a:srgbClr val="000000"/>
                </a:solidFill>
                <a:latin typeface="Nunito"/>
                <a:ea typeface="Nunito"/>
                <a:cs typeface="Nunito"/>
                <a:sym typeface="Nunito"/>
              </a:rPr>
              <a:t>“So asking a question isn't enough,” he said. “We have to test our ideas too!”</a:t>
            </a:r>
          </a:p>
          <a:p>
            <a:pPr algn="l">
              <a:lnSpc>
                <a:spcPts val="2379"/>
              </a:lnSpc>
            </a:pPr>
            <a:r>
              <a:rPr lang="en-US" sz="1699">
                <a:solidFill>
                  <a:srgbClr val="000000"/>
                </a:solidFill>
                <a:latin typeface="Nunito"/>
                <a:ea typeface="Nunito"/>
                <a:cs typeface="Nunito"/>
                <a:sym typeface="Nunito"/>
              </a:rPr>
              <a:t>“Exactly,” Lumi replied. “An idea is a beginning. An experiment helps us find out whether it makes sense.”</a:t>
            </a:r>
          </a:p>
          <a:p>
            <a:pPr algn="l">
              <a:lnSpc>
                <a:spcPts val="2379"/>
              </a:lnSpc>
            </a:pPr>
            <a:r>
              <a:rPr lang="en-US" sz="1699">
                <a:solidFill>
                  <a:srgbClr val="000000"/>
                </a:solidFill>
                <a:latin typeface="Nunito"/>
                <a:ea typeface="Nunito"/>
                <a:cs typeface="Nunito"/>
                <a:sym typeface="Nunito"/>
              </a:rPr>
              <a:t>Piko glowed a little brighter.</a:t>
            </a:r>
          </a:p>
          <a:p>
            <a:pPr algn="l">
              <a:lnSpc>
                <a:spcPts val="2379"/>
              </a:lnSpc>
            </a:pPr>
            <a:r>
              <a:rPr lang="en-US" sz="1699">
                <a:solidFill>
                  <a:srgbClr val="000000"/>
                </a:solidFill>
                <a:latin typeface="Nunito"/>
                <a:ea typeface="Nunito"/>
                <a:cs typeface="Nunito"/>
                <a:sym typeface="Nunito"/>
              </a:rPr>
              <a:t>For the first time that night, he looked less puzzled and more proud.</a:t>
            </a:r>
          </a:p>
          <a:p>
            <a:pPr algn="l">
              <a:lnSpc>
                <a:spcPts val="2379"/>
              </a:lnSpc>
            </a:pPr>
          </a:p>
        </p:txBody>
      </p:sp>
      <p:sp>
        <p:nvSpPr>
          <p:cNvPr name="TextBox 3" id="3"/>
          <p:cNvSpPr txBox="true"/>
          <p:nvPr/>
        </p:nvSpPr>
        <p:spPr>
          <a:xfrm rot="0">
            <a:off x="769536" y="9563255"/>
            <a:ext cx="6020927" cy="372745"/>
          </a:xfrm>
          <a:prstGeom prst="rect">
            <a:avLst/>
          </a:prstGeom>
        </p:spPr>
        <p:txBody>
          <a:bodyPr anchor="t" rtlCol="false" tIns="0" lIns="0" bIns="0" rIns="0">
            <a:spAutoFit/>
          </a:bodyPr>
          <a:lstStyle/>
          <a:p>
            <a:pPr algn="ctr">
              <a:lnSpc>
                <a:spcPts val="3079"/>
              </a:lnSpc>
            </a:pPr>
            <a:r>
              <a:rPr lang="en-US" sz="2199">
                <a:solidFill>
                  <a:srgbClr val="000000"/>
                </a:solidFill>
                <a:latin typeface="Canva Sans"/>
                <a:ea typeface="Canva Sans"/>
                <a:cs typeface="Canva Sans"/>
                <a:sym typeface="Canva Sans"/>
              </a:rPr>
              <a:t>18</a:t>
            </a:r>
          </a:p>
        </p:txBody>
      </p:sp>
      <p:sp>
        <p:nvSpPr>
          <p:cNvPr name="AutoShape 4" id="4"/>
          <p:cNvSpPr/>
          <p:nvPr/>
        </p:nvSpPr>
        <p:spPr>
          <a:xfrm>
            <a:off x="769536" y="765525"/>
            <a:ext cx="5751563" cy="0"/>
          </a:xfrm>
          <a:prstGeom prst="line">
            <a:avLst/>
          </a:prstGeom>
          <a:ln cap="flat" w="19050">
            <a:solidFill>
              <a:srgbClr val="7A6200">
                <a:alpha val="84706"/>
              </a:srgbClr>
            </a:solidFill>
            <a:prstDash val="solid"/>
            <a:headEnd type="none" len="sm" w="sm"/>
            <a:tailEnd type="none" len="sm" w="sm"/>
          </a:ln>
        </p:spPr>
      </p:sp>
    </p:spTree>
  </p:cSld>
  <p:clrMapOvr>
    <a:masterClrMapping/>
  </p:clrMapOvr>
</p:sld>
</file>

<file path=ppt/slides/slide22.xml><?xml version="1.0" encoding="utf-8"?>
<p:sld xmlns:p="http://schemas.openxmlformats.org/presentationml/2006/main" xmlns:a="http://schemas.openxmlformats.org/drawingml/2006/main">
  <p:cSld>
    <p:bg>
      <p:bgPr>
        <a:solidFill>
          <a:srgbClr val="CCCCBC"/>
        </a:solidFill>
      </p:bgPr>
    </p:bg>
    <p:spTree>
      <p:nvGrpSpPr>
        <p:cNvPr id="1" name=""/>
        <p:cNvGrpSpPr/>
        <p:nvPr/>
      </p:nvGrpSpPr>
      <p:grpSpPr>
        <a:xfrm>
          <a:off x="0" y="0"/>
          <a:ext cx="0" cy="0"/>
          <a:chOff x="0" y="0"/>
          <a:chExt cx="0" cy="0"/>
        </a:xfrm>
      </p:grpSpPr>
      <p:sp>
        <p:nvSpPr>
          <p:cNvPr name="TextBox 2" id="2"/>
          <p:cNvSpPr txBox="true"/>
          <p:nvPr/>
        </p:nvSpPr>
        <p:spPr>
          <a:xfrm rot="0">
            <a:off x="756000" y="736950"/>
            <a:ext cx="6048000" cy="8208010"/>
          </a:xfrm>
          <a:prstGeom prst="rect">
            <a:avLst/>
          </a:prstGeom>
        </p:spPr>
        <p:txBody>
          <a:bodyPr anchor="t" rtlCol="false" tIns="0" lIns="0" bIns="0" rIns="0">
            <a:spAutoFit/>
          </a:bodyPr>
          <a:lstStyle/>
          <a:p>
            <a:pPr algn="l">
              <a:lnSpc>
                <a:spcPts val="2099"/>
              </a:lnSpc>
            </a:pPr>
            <a:r>
              <a:rPr lang="en-US" sz="1499">
                <a:gradFill>
                  <a:gsLst>
                    <a:gs pos="0">
                      <a:srgbClr val="000000">
                        <a:alpha val="100000"/>
                      </a:srgbClr>
                    </a:gs>
                    <a:gs pos="50000">
                      <a:srgbClr val="555555">
                        <a:alpha val="100000"/>
                      </a:srgbClr>
                    </a:gs>
                    <a:gs pos="100000">
                      <a:srgbClr val="0BB50E">
                        <a:alpha val="100000"/>
                      </a:srgbClr>
                    </a:gs>
                  </a:gsLst>
                  <a:path path="circle">
                    <a:fillToRect l="0" r="100000" t="0" b="100000"/>
                  </a:path>
                  <a:tileRect r="0" l="-100000" b="0" t="-100000"/>
                </a:gradFill>
                <a:latin typeface="Nunito"/>
                <a:ea typeface="Nunito"/>
                <a:cs typeface="Nunito"/>
                <a:sym typeface="Nunito"/>
              </a:rPr>
              <a:t> </a:t>
            </a:r>
          </a:p>
          <a:p>
            <a:pPr algn="l">
              <a:lnSpc>
                <a:spcPts val="2379"/>
              </a:lnSpc>
            </a:pPr>
            <a:r>
              <a:rPr lang="en-US" sz="1699">
                <a:solidFill>
                  <a:srgbClr val="000000"/>
                </a:solidFill>
                <a:latin typeface="Nunito"/>
                <a:ea typeface="Nunito"/>
                <a:cs typeface="Nunito"/>
                <a:sym typeface="Nunito"/>
              </a:rPr>
              <a:t>Piko settled onto the edge of Lumi's notebook.</a:t>
            </a:r>
          </a:p>
          <a:p>
            <a:pPr algn="l">
              <a:lnSpc>
                <a:spcPts val="2379"/>
              </a:lnSpc>
            </a:pPr>
            <a:r>
              <a:rPr lang="en-US" sz="1699">
                <a:solidFill>
                  <a:srgbClr val="000000"/>
                </a:solidFill>
                <a:latin typeface="Nunito"/>
                <a:ea typeface="Nunito"/>
                <a:cs typeface="Nunito"/>
                <a:sym typeface="Nunito"/>
              </a:rPr>
              <a:t>For a little while, he said nothing. He simply watched Lumi arrange the spoon, the glass, and the wooden block neatly on her bedside table.</a:t>
            </a:r>
          </a:p>
          <a:p>
            <a:pPr algn="l">
              <a:lnSpc>
                <a:spcPts val="2379"/>
              </a:lnSpc>
            </a:pPr>
            <a:r>
              <a:rPr lang="en-US" sz="1699">
                <a:solidFill>
                  <a:srgbClr val="000000"/>
                </a:solidFill>
                <a:latin typeface="Nunito"/>
                <a:ea typeface="Nunito"/>
                <a:cs typeface="Nunito"/>
                <a:sym typeface="Nunito"/>
              </a:rPr>
              <a:t>Then he tilted his head.</a:t>
            </a:r>
          </a:p>
          <a:p>
            <a:pPr algn="l">
              <a:lnSpc>
                <a:spcPts val="2379"/>
              </a:lnSpc>
            </a:pPr>
            <a:r>
              <a:rPr lang="en-US" sz="1699">
                <a:solidFill>
                  <a:srgbClr val="000000"/>
                </a:solidFill>
                <a:latin typeface="Nunito"/>
                <a:ea typeface="Nunito"/>
                <a:cs typeface="Nunito"/>
                <a:sym typeface="Nunito"/>
              </a:rPr>
              <a:t>“Lumi, can I ask you something?”</a:t>
            </a:r>
          </a:p>
          <a:p>
            <a:pPr algn="l">
              <a:lnSpc>
                <a:spcPts val="2379"/>
              </a:lnSpc>
            </a:pPr>
            <a:r>
              <a:rPr lang="en-US" sz="1699">
                <a:solidFill>
                  <a:srgbClr val="000000"/>
                </a:solidFill>
                <a:latin typeface="Nunito"/>
                <a:ea typeface="Nunito"/>
                <a:cs typeface="Nunito"/>
                <a:sym typeface="Nunito"/>
              </a:rPr>
              <a:t>Lumi looked up from her notes.</a:t>
            </a:r>
          </a:p>
          <a:p>
            <a:pPr algn="l">
              <a:lnSpc>
                <a:spcPts val="2379"/>
              </a:lnSpc>
            </a:pPr>
            <a:r>
              <a:rPr lang="en-US" sz="1699">
                <a:solidFill>
                  <a:srgbClr val="000000"/>
                </a:solidFill>
                <a:latin typeface="Nunito"/>
                <a:ea typeface="Nunito"/>
                <a:cs typeface="Nunito"/>
                <a:sym typeface="Nunito"/>
              </a:rPr>
              <a:t>“Of course!”</a:t>
            </a:r>
          </a:p>
          <a:p>
            <a:pPr algn="l">
              <a:lnSpc>
                <a:spcPts val="2379"/>
              </a:lnSpc>
            </a:pPr>
            <a:r>
              <a:rPr lang="en-US" sz="1699">
                <a:solidFill>
                  <a:srgbClr val="000000"/>
                </a:solidFill>
                <a:latin typeface="Nunito"/>
                <a:ea typeface="Nunito"/>
                <a:cs typeface="Nunito"/>
                <a:sym typeface="Nunito"/>
              </a:rPr>
              <a:t>“How do you know so much about light?”</a:t>
            </a:r>
          </a:p>
          <a:p>
            <a:pPr algn="l">
              <a:lnSpc>
                <a:spcPts val="2379"/>
              </a:lnSpc>
            </a:pPr>
            <a:r>
              <a:rPr lang="en-US" sz="1699">
                <a:solidFill>
                  <a:srgbClr val="000000"/>
                </a:solidFill>
                <a:latin typeface="Nunito"/>
                <a:ea typeface="Nunito"/>
                <a:cs typeface="Nunito"/>
                <a:sym typeface="Nunito"/>
              </a:rPr>
              <a:t>Lumi paused.</a:t>
            </a:r>
          </a:p>
          <a:p>
            <a:pPr algn="l">
              <a:lnSpc>
                <a:spcPts val="2379"/>
              </a:lnSpc>
            </a:pPr>
            <a:r>
              <a:rPr lang="en-US" sz="1699">
                <a:solidFill>
                  <a:srgbClr val="000000"/>
                </a:solidFill>
                <a:latin typeface="Nunito"/>
                <a:ea typeface="Nunito"/>
                <a:cs typeface="Nunito"/>
                <a:sym typeface="Nunito"/>
              </a:rPr>
              <a:t>She thought about the shadows on the wall, the golden spot dancing across the room, and all the questions she had written in her notebook.</a:t>
            </a:r>
          </a:p>
          <a:p>
            <a:pPr algn="l">
              <a:lnSpc>
                <a:spcPts val="2379"/>
              </a:lnSpc>
            </a:pPr>
            <a:r>
              <a:rPr lang="en-US" sz="1699">
                <a:solidFill>
                  <a:srgbClr val="000000"/>
                </a:solidFill>
                <a:latin typeface="Nunito"/>
                <a:ea typeface="Nunito"/>
                <a:cs typeface="Nunito"/>
                <a:sym typeface="Nunito"/>
              </a:rPr>
              <a:t>“I don't know everything,” she admitted. “At first, I didn't understand any of it.”</a:t>
            </a:r>
          </a:p>
          <a:p>
            <a:pPr algn="l">
              <a:lnSpc>
                <a:spcPts val="2379"/>
              </a:lnSpc>
            </a:pPr>
            <a:r>
              <a:rPr lang="en-US" sz="1699">
                <a:solidFill>
                  <a:srgbClr val="000000"/>
                </a:solidFill>
                <a:latin typeface="Nunito"/>
                <a:ea typeface="Nunito"/>
                <a:cs typeface="Nunito"/>
                <a:sym typeface="Nunito"/>
              </a:rPr>
              <a:t>Piko's eyes grew round.</a:t>
            </a:r>
          </a:p>
          <a:p>
            <a:pPr algn="l">
              <a:lnSpc>
                <a:spcPts val="2379"/>
              </a:lnSpc>
            </a:pPr>
            <a:r>
              <a:rPr lang="en-US" sz="1699">
                <a:solidFill>
                  <a:srgbClr val="000000"/>
                </a:solidFill>
                <a:latin typeface="Nunito"/>
                <a:ea typeface="Nunito"/>
                <a:cs typeface="Nunito"/>
                <a:sym typeface="Nunito"/>
              </a:rPr>
              <a:t>“You mean you started without knowing the answers?”</a:t>
            </a:r>
          </a:p>
          <a:p>
            <a:pPr algn="l">
              <a:lnSpc>
                <a:spcPts val="2379"/>
              </a:lnSpc>
            </a:pPr>
            <a:r>
              <a:rPr lang="en-US" sz="1699">
                <a:solidFill>
                  <a:srgbClr val="000000"/>
                </a:solidFill>
                <a:latin typeface="Nunito"/>
                <a:ea typeface="Nunito"/>
                <a:cs typeface="Nunito"/>
                <a:sym typeface="Nunito"/>
              </a:rPr>
              <a:t>“Yes,” Lumi said. “I watched carefully, tried different things, and wrote down what happened. Each discovery helped me understand a little more.”</a:t>
            </a:r>
          </a:p>
          <a:p>
            <a:pPr algn="l">
              <a:lnSpc>
                <a:spcPts val="2379"/>
              </a:lnSpc>
            </a:pPr>
            <a:r>
              <a:rPr lang="en-US" sz="1699">
                <a:solidFill>
                  <a:srgbClr val="000000"/>
                </a:solidFill>
                <a:latin typeface="Nunito"/>
                <a:ea typeface="Nunito"/>
                <a:cs typeface="Nunito"/>
                <a:sym typeface="Nunito"/>
              </a:rPr>
              <a:t>She tapped the cover of her notebook.</a:t>
            </a:r>
          </a:p>
          <a:p>
            <a:pPr algn="l">
              <a:lnSpc>
                <a:spcPts val="2379"/>
              </a:lnSpc>
            </a:pPr>
            <a:r>
              <a:rPr lang="en-US" sz="1699">
                <a:solidFill>
                  <a:srgbClr val="000000"/>
                </a:solidFill>
                <a:latin typeface="Nunito"/>
                <a:ea typeface="Nunito"/>
                <a:cs typeface="Nunito"/>
                <a:sym typeface="Nunito"/>
              </a:rPr>
              <a:t>“You don't have to know everything to begin learning. You just need to be curious enough to ask a question.”</a:t>
            </a:r>
          </a:p>
          <a:p>
            <a:pPr algn="l">
              <a:lnSpc>
                <a:spcPts val="2379"/>
              </a:lnSpc>
            </a:pPr>
            <a:r>
              <a:rPr lang="en-US" sz="1699">
                <a:solidFill>
                  <a:srgbClr val="000000"/>
                </a:solidFill>
                <a:latin typeface="Nunito"/>
                <a:ea typeface="Nunito"/>
                <a:cs typeface="Nunito"/>
                <a:sym typeface="Nunito"/>
              </a:rPr>
              <a:t>Piko looked thoughtful.</a:t>
            </a:r>
          </a:p>
          <a:p>
            <a:pPr algn="l">
              <a:lnSpc>
                <a:spcPts val="2379"/>
              </a:lnSpc>
            </a:pPr>
            <a:r>
              <a:rPr lang="en-US" sz="1699">
                <a:solidFill>
                  <a:srgbClr val="000000"/>
                </a:solidFill>
                <a:latin typeface="Nunito"/>
                <a:ea typeface="Nunito"/>
                <a:cs typeface="Nunito"/>
                <a:sym typeface="Nunito"/>
              </a:rPr>
              <a:t>Then he smiled.</a:t>
            </a:r>
          </a:p>
          <a:p>
            <a:pPr algn="l">
              <a:lnSpc>
                <a:spcPts val="2379"/>
              </a:lnSpc>
            </a:pPr>
            <a:r>
              <a:rPr lang="en-US" sz="1699">
                <a:solidFill>
                  <a:srgbClr val="000000"/>
                </a:solidFill>
                <a:latin typeface="Nunito"/>
                <a:ea typeface="Nunito"/>
                <a:cs typeface="Nunito"/>
                <a:sym typeface="Nunito"/>
              </a:rPr>
              <a:t>“I think I have a question of my own!”</a:t>
            </a:r>
          </a:p>
          <a:p>
            <a:pPr algn="l">
              <a:lnSpc>
                <a:spcPts val="2379"/>
              </a:lnSpc>
            </a:pPr>
          </a:p>
        </p:txBody>
      </p:sp>
      <p:sp>
        <p:nvSpPr>
          <p:cNvPr name="TextBox 3" id="3"/>
          <p:cNvSpPr txBox="true"/>
          <p:nvPr/>
        </p:nvSpPr>
        <p:spPr>
          <a:xfrm rot="0">
            <a:off x="3619315" y="9563255"/>
            <a:ext cx="321370" cy="372745"/>
          </a:xfrm>
          <a:prstGeom prst="rect">
            <a:avLst/>
          </a:prstGeom>
        </p:spPr>
        <p:txBody>
          <a:bodyPr anchor="t" rtlCol="false" tIns="0" lIns="0" bIns="0" rIns="0">
            <a:spAutoFit/>
          </a:bodyPr>
          <a:lstStyle/>
          <a:p>
            <a:pPr algn="ctr">
              <a:lnSpc>
                <a:spcPts val="3079"/>
              </a:lnSpc>
            </a:pPr>
            <a:r>
              <a:rPr lang="en-US" sz="2199">
                <a:solidFill>
                  <a:srgbClr val="000000"/>
                </a:solidFill>
                <a:latin typeface="Canva Sans"/>
                <a:ea typeface="Canva Sans"/>
                <a:cs typeface="Canva Sans"/>
                <a:sym typeface="Canva Sans"/>
              </a:rPr>
              <a:t>19</a:t>
            </a:r>
          </a:p>
        </p:txBody>
      </p:sp>
      <p:sp>
        <p:nvSpPr>
          <p:cNvPr name="AutoShape 4" id="4"/>
          <p:cNvSpPr/>
          <p:nvPr/>
        </p:nvSpPr>
        <p:spPr>
          <a:xfrm>
            <a:off x="729494" y="765525"/>
            <a:ext cx="5751563" cy="0"/>
          </a:xfrm>
          <a:prstGeom prst="line">
            <a:avLst/>
          </a:prstGeom>
          <a:ln cap="flat" w="19050">
            <a:solidFill>
              <a:srgbClr val="7A6200">
                <a:alpha val="84706"/>
              </a:srgbClr>
            </a:solidFill>
            <a:prstDash val="solid"/>
            <a:headEnd type="none" len="sm" w="sm"/>
            <a:tailEnd type="none" len="sm" w="sm"/>
          </a:ln>
        </p:spPr>
      </p:sp>
    </p:spTree>
  </p:cSld>
  <p:clrMapOvr>
    <a:masterClrMapping/>
  </p:clrMapOvr>
</p:sld>
</file>

<file path=ppt/slides/slide23.xml><?xml version="1.0" encoding="utf-8"?>
<p:sld xmlns:p="http://schemas.openxmlformats.org/presentationml/2006/main" xmlns:a="http://schemas.openxmlformats.org/drawingml/2006/main">
  <p:cSld>
    <p:bg>
      <p:bgPr>
        <a:solidFill>
          <a:srgbClr val="CCCCBC"/>
        </a:solidFill>
      </p:bgPr>
    </p:bg>
    <p:spTree>
      <p:nvGrpSpPr>
        <p:cNvPr id="1" name=""/>
        <p:cNvGrpSpPr/>
        <p:nvPr/>
      </p:nvGrpSpPr>
      <p:grpSpPr>
        <a:xfrm>
          <a:off x="0" y="0"/>
          <a:ext cx="0" cy="0"/>
          <a:chOff x="0" y="0"/>
          <a:chExt cx="0" cy="0"/>
        </a:xfrm>
      </p:grpSpPr>
      <p:sp>
        <p:nvSpPr>
          <p:cNvPr name="TextBox 2" id="2"/>
          <p:cNvSpPr txBox="true"/>
          <p:nvPr/>
        </p:nvSpPr>
        <p:spPr>
          <a:xfrm rot="0">
            <a:off x="756000" y="727425"/>
            <a:ext cx="6048000" cy="9434195"/>
          </a:xfrm>
          <a:prstGeom prst="rect">
            <a:avLst/>
          </a:prstGeom>
        </p:spPr>
        <p:txBody>
          <a:bodyPr anchor="t" rtlCol="false" tIns="0" lIns="0" bIns="0" rIns="0">
            <a:spAutoFit/>
          </a:bodyPr>
          <a:lstStyle/>
          <a:p>
            <a:pPr algn="ctr">
              <a:lnSpc>
                <a:spcPts val="2379"/>
              </a:lnSpc>
            </a:pPr>
            <a:r>
              <a:rPr lang="en-US" b="true" sz="1699">
                <a:gradFill>
                  <a:gsLst>
                    <a:gs pos="0">
                      <a:srgbClr val="000000">
                        <a:alpha val="100000"/>
                      </a:srgbClr>
                    </a:gs>
                    <a:gs pos="50000">
                      <a:srgbClr val="555555">
                        <a:alpha val="100000"/>
                      </a:srgbClr>
                    </a:gs>
                    <a:gs pos="100000">
                      <a:srgbClr val="0BB50E">
                        <a:alpha val="100000"/>
                      </a:srgbClr>
                    </a:gs>
                  </a:gsLst>
                  <a:path path="circle">
                    <a:fillToRect l="0" r="100000" t="0" b="100000"/>
                  </a:path>
                  <a:tileRect r="0" l="-100000" b="0" t="-100000"/>
                </a:gradFill>
                <a:latin typeface="Nunito Semi-Bold"/>
                <a:ea typeface="Nunito Semi-Bold"/>
                <a:cs typeface="Nunito Semi-Bold"/>
                <a:sym typeface="Nunito Semi-Bold"/>
              </a:rPr>
              <a:t>CHAPTER FOUR </a:t>
            </a:r>
          </a:p>
          <a:p>
            <a:pPr algn="ctr">
              <a:lnSpc>
                <a:spcPts val="2379"/>
              </a:lnSpc>
            </a:pPr>
            <a:r>
              <a:rPr lang="en-US" b="true" sz="1699">
                <a:gradFill>
                  <a:gsLst>
                    <a:gs pos="0">
                      <a:srgbClr val="000000">
                        <a:alpha val="100000"/>
                      </a:srgbClr>
                    </a:gs>
                    <a:gs pos="50000">
                      <a:srgbClr val="555555">
                        <a:alpha val="100000"/>
                      </a:srgbClr>
                    </a:gs>
                    <a:gs pos="100000">
                      <a:srgbClr val="0BB50E">
                        <a:alpha val="100000"/>
                      </a:srgbClr>
                    </a:gs>
                  </a:gsLst>
                  <a:path path="circle">
                    <a:fillToRect l="0" r="100000" t="0" b="100000"/>
                  </a:path>
                  <a:tileRect r="0" l="-100000" b="0" t="-100000"/>
                </a:gradFill>
                <a:latin typeface="Nunito Semi-Bold"/>
                <a:ea typeface="Nunito Semi-Bold"/>
                <a:cs typeface="Nunito Semi-Bold"/>
                <a:sym typeface="Nunito Semi-Bold"/>
              </a:rPr>
              <a:t>A New Discovery</a:t>
            </a:r>
          </a:p>
          <a:p>
            <a:pPr algn="l">
              <a:lnSpc>
                <a:spcPts val="2379"/>
              </a:lnSpc>
            </a:pPr>
          </a:p>
          <a:p>
            <a:pPr algn="l">
              <a:lnSpc>
                <a:spcPts val="2379"/>
              </a:lnSpc>
            </a:pPr>
            <a:r>
              <a:rPr lang="en-US" sz="1699">
                <a:solidFill>
                  <a:srgbClr val="000000"/>
                </a:solidFill>
                <a:latin typeface="Nunito"/>
                <a:ea typeface="Nunito"/>
                <a:cs typeface="Nunito"/>
                <a:sym typeface="Nunito"/>
              </a:rPr>
              <a:t>Piko floated up from the notebook and hovered in the middle of the room.</a:t>
            </a:r>
          </a:p>
          <a:p>
            <a:pPr algn="l">
              <a:lnSpc>
                <a:spcPts val="2379"/>
              </a:lnSpc>
            </a:pPr>
            <a:r>
              <a:rPr lang="en-US" sz="1699">
                <a:solidFill>
                  <a:srgbClr val="000000"/>
                </a:solidFill>
                <a:latin typeface="Nunito"/>
                <a:ea typeface="Nunito"/>
                <a:cs typeface="Nunito"/>
                <a:sym typeface="Nunito"/>
              </a:rPr>
              <a:t>“Lumi,” he began, “you've helped me understand shadows and reflections. But there's something I've always wondered about myself.”</a:t>
            </a:r>
          </a:p>
          <a:p>
            <a:pPr algn="l">
              <a:lnSpc>
                <a:spcPts val="2379"/>
              </a:lnSpc>
            </a:pPr>
            <a:r>
              <a:rPr lang="en-US" sz="1699">
                <a:solidFill>
                  <a:srgbClr val="000000"/>
                </a:solidFill>
                <a:latin typeface="Nunito"/>
                <a:ea typeface="Nunito"/>
                <a:cs typeface="Nunito"/>
                <a:sym typeface="Nunito"/>
              </a:rPr>
              <a:t>Lumi sat up straight.</a:t>
            </a:r>
          </a:p>
          <a:p>
            <a:pPr algn="l">
              <a:lnSpc>
                <a:spcPts val="2379"/>
              </a:lnSpc>
            </a:pPr>
            <a:r>
              <a:rPr lang="en-US" sz="1699">
                <a:solidFill>
                  <a:srgbClr val="000000"/>
                </a:solidFill>
                <a:latin typeface="Nunito"/>
                <a:ea typeface="Nunito"/>
                <a:cs typeface="Nunito"/>
                <a:sym typeface="Nunito"/>
              </a:rPr>
              <a:t>“What is it?”</a:t>
            </a:r>
          </a:p>
          <a:p>
            <a:pPr algn="l">
              <a:lnSpc>
                <a:spcPts val="2379"/>
              </a:lnSpc>
            </a:pPr>
            <a:r>
              <a:rPr lang="en-US" sz="1699">
                <a:solidFill>
                  <a:srgbClr val="000000"/>
                </a:solidFill>
                <a:latin typeface="Nunito"/>
                <a:ea typeface="Nunito"/>
                <a:cs typeface="Nunito"/>
                <a:sym typeface="Nunito"/>
              </a:rPr>
              <a:t>Piko looked down at his tiny glowing body.</a:t>
            </a:r>
          </a:p>
          <a:p>
            <a:pPr algn="l">
              <a:lnSpc>
                <a:spcPts val="2379"/>
              </a:lnSpc>
            </a:pPr>
            <a:r>
              <a:rPr lang="en-US" sz="1699">
                <a:solidFill>
                  <a:srgbClr val="000000"/>
                </a:solidFill>
                <a:latin typeface="Nunito"/>
                <a:ea typeface="Nunito"/>
                <a:cs typeface="Nunito"/>
                <a:sym typeface="Nunito"/>
              </a:rPr>
              <a:t>“Why am I the only one who glows?”</a:t>
            </a:r>
          </a:p>
          <a:p>
            <a:pPr algn="l">
              <a:lnSpc>
                <a:spcPts val="2379"/>
              </a:lnSpc>
            </a:pPr>
            <a:r>
              <a:rPr lang="en-US" sz="1699">
                <a:solidFill>
                  <a:srgbClr val="000000"/>
                </a:solidFill>
                <a:latin typeface="Nunito"/>
                <a:ea typeface="Nunito"/>
                <a:cs typeface="Nunito"/>
                <a:sym typeface="Nunito"/>
              </a:rPr>
              <a:t>Lumi opened her mouth, but no answer came out.</a:t>
            </a:r>
          </a:p>
          <a:p>
            <a:pPr algn="l">
              <a:lnSpc>
                <a:spcPts val="2379"/>
              </a:lnSpc>
            </a:pPr>
            <a:r>
              <a:rPr lang="en-US" sz="1699">
                <a:solidFill>
                  <a:srgbClr val="000000"/>
                </a:solidFill>
                <a:latin typeface="Nunito"/>
                <a:ea typeface="Nunito"/>
                <a:cs typeface="Nunito"/>
                <a:sym typeface="Nunito"/>
              </a:rPr>
              <a:t>She had learned how light behaved when it met different objects. She had seen it bounce off a spoon and watched a wooden block create a shadow.</a:t>
            </a:r>
          </a:p>
          <a:p>
            <a:pPr algn="l">
              <a:lnSpc>
                <a:spcPts val="2379"/>
              </a:lnSpc>
            </a:pPr>
            <a:r>
              <a:rPr lang="en-US" sz="1699">
                <a:solidFill>
                  <a:srgbClr val="000000"/>
                </a:solidFill>
                <a:latin typeface="Nunito"/>
                <a:ea typeface="Nunito"/>
                <a:cs typeface="Nunito"/>
                <a:sym typeface="Nunito"/>
              </a:rPr>
              <a:t>But Piko's own glow was a different mystery.</a:t>
            </a:r>
          </a:p>
          <a:p>
            <a:pPr algn="l">
              <a:lnSpc>
                <a:spcPts val="2379"/>
              </a:lnSpc>
            </a:pPr>
            <a:r>
              <a:rPr lang="en-US" sz="1699">
                <a:solidFill>
                  <a:srgbClr val="000000"/>
                </a:solidFill>
                <a:latin typeface="Nunito"/>
                <a:ea typeface="Nunito"/>
                <a:cs typeface="Nunito"/>
                <a:sym typeface="Nunito"/>
              </a:rPr>
              <a:t>“That's a wonderful question,” she said at last. “And I don't know the answer yet.”</a:t>
            </a:r>
          </a:p>
          <a:p>
            <a:pPr algn="l">
              <a:lnSpc>
                <a:spcPts val="2379"/>
              </a:lnSpc>
            </a:pPr>
            <a:r>
              <a:rPr lang="en-US" sz="1699">
                <a:solidFill>
                  <a:srgbClr val="000000"/>
                </a:solidFill>
                <a:latin typeface="Nunito"/>
                <a:ea typeface="Nunito"/>
                <a:cs typeface="Nunito"/>
                <a:sym typeface="Nunito"/>
              </a:rPr>
              <a:t>Piko's wings drooped a little.</a:t>
            </a:r>
          </a:p>
          <a:p>
            <a:pPr algn="l">
              <a:lnSpc>
                <a:spcPts val="2379"/>
              </a:lnSpc>
            </a:pPr>
            <a:r>
              <a:rPr lang="en-US" sz="1699">
                <a:solidFill>
                  <a:srgbClr val="000000"/>
                </a:solidFill>
                <a:latin typeface="Nunito"/>
                <a:ea typeface="Nunito"/>
                <a:cs typeface="Nunito"/>
                <a:sym typeface="Nunito"/>
              </a:rPr>
              <a:t>“Does that mean we can't discover it?”</a:t>
            </a:r>
          </a:p>
          <a:p>
            <a:pPr algn="l">
              <a:lnSpc>
                <a:spcPts val="2379"/>
              </a:lnSpc>
            </a:pPr>
            <a:r>
              <a:rPr lang="en-US" sz="1699">
                <a:solidFill>
                  <a:srgbClr val="000000"/>
                </a:solidFill>
                <a:latin typeface="Nunito"/>
                <a:ea typeface="Nunito"/>
                <a:cs typeface="Nunito"/>
                <a:sym typeface="Nunito"/>
              </a:rPr>
              <a:t>“Not at all!” Lumi replied. “It means we have another question to investigate.”</a:t>
            </a:r>
          </a:p>
          <a:p>
            <a:pPr algn="l">
              <a:lnSpc>
                <a:spcPts val="2379"/>
              </a:lnSpc>
            </a:pPr>
            <a:r>
              <a:rPr lang="en-US" sz="1699">
                <a:solidFill>
                  <a:srgbClr val="000000"/>
                </a:solidFill>
                <a:latin typeface="Nunito"/>
                <a:ea typeface="Nunito"/>
                <a:cs typeface="Nunito"/>
                <a:sym typeface="Nunito"/>
              </a:rPr>
              <a:t>She turned to a fresh page in her notebook and wrote in large, careful letters:</a:t>
            </a:r>
          </a:p>
          <a:p>
            <a:pPr algn="l">
              <a:lnSpc>
                <a:spcPts val="2379"/>
              </a:lnSpc>
            </a:pPr>
            <a:r>
              <a:rPr lang="en-US" sz="1699">
                <a:gradFill>
                  <a:gsLst>
                    <a:gs pos="0">
                      <a:srgbClr val="5A0A0C">
                        <a:alpha val="100000"/>
                      </a:srgbClr>
                    </a:gs>
                    <a:gs pos="50000">
                      <a:srgbClr val="BF628C">
                        <a:alpha val="100000"/>
                      </a:srgbClr>
                    </a:gs>
                    <a:gs pos="100000">
                      <a:srgbClr val="62BF9B">
                        <a:alpha val="100000"/>
                      </a:srgbClr>
                    </a:gs>
                  </a:gsLst>
                  <a:lin ang="0"/>
                </a:gradFill>
                <a:latin typeface="Comic Sans"/>
                <a:ea typeface="Comic Sans"/>
                <a:cs typeface="Comic Sans"/>
                <a:sym typeface="Comic Sans"/>
              </a:rPr>
              <a:t>QUESTION 4</a:t>
            </a:r>
          </a:p>
          <a:p>
            <a:pPr algn="l">
              <a:lnSpc>
                <a:spcPts val="2379"/>
              </a:lnSpc>
            </a:pPr>
            <a:r>
              <a:rPr lang="en-US" sz="1699">
                <a:solidFill>
                  <a:srgbClr val="000000"/>
                </a:solidFill>
                <a:latin typeface="Nunito"/>
                <a:ea typeface="Nunito"/>
                <a:cs typeface="Nunito"/>
                <a:sym typeface="Nunito"/>
              </a:rPr>
              <a:t>What makes Piko produce his own light?</a:t>
            </a:r>
          </a:p>
          <a:p>
            <a:pPr algn="l">
              <a:lnSpc>
                <a:spcPts val="2379"/>
              </a:lnSpc>
            </a:pPr>
            <a:r>
              <a:rPr lang="en-US" sz="1699">
                <a:solidFill>
                  <a:srgbClr val="000000"/>
                </a:solidFill>
                <a:latin typeface="Nunito"/>
                <a:ea typeface="Nunito"/>
                <a:cs typeface="Nunito"/>
                <a:sym typeface="Nunito"/>
              </a:rPr>
              <a:t>Piko watched the words appear.</a:t>
            </a:r>
          </a:p>
          <a:p>
            <a:pPr algn="l">
              <a:lnSpc>
                <a:spcPts val="2379"/>
              </a:lnSpc>
            </a:pPr>
            <a:r>
              <a:rPr lang="en-US" sz="1699">
                <a:solidFill>
                  <a:srgbClr val="000000"/>
                </a:solidFill>
                <a:latin typeface="Nunito"/>
                <a:ea typeface="Nunito"/>
                <a:cs typeface="Nunito"/>
                <a:sym typeface="Nunito"/>
              </a:rPr>
              <a:t>His glow brightened until the golden light filled the little space between them.</a:t>
            </a:r>
          </a:p>
          <a:p>
            <a:pPr algn="l">
              <a:lnSpc>
                <a:spcPts val="2379"/>
              </a:lnSpc>
            </a:pPr>
          </a:p>
          <a:p>
            <a:pPr algn="l">
              <a:lnSpc>
                <a:spcPts val="2379"/>
              </a:lnSpc>
            </a:pPr>
          </a:p>
        </p:txBody>
      </p:sp>
      <p:sp>
        <p:nvSpPr>
          <p:cNvPr name="TextBox 3" id="3"/>
          <p:cNvSpPr txBox="true"/>
          <p:nvPr/>
        </p:nvSpPr>
        <p:spPr>
          <a:xfrm rot="0">
            <a:off x="756000" y="9563255"/>
            <a:ext cx="6048000" cy="372745"/>
          </a:xfrm>
          <a:prstGeom prst="rect">
            <a:avLst/>
          </a:prstGeom>
        </p:spPr>
        <p:txBody>
          <a:bodyPr anchor="t" rtlCol="false" tIns="0" lIns="0" bIns="0" rIns="0">
            <a:spAutoFit/>
          </a:bodyPr>
          <a:lstStyle/>
          <a:p>
            <a:pPr algn="ctr">
              <a:lnSpc>
                <a:spcPts val="3079"/>
              </a:lnSpc>
            </a:pPr>
            <a:r>
              <a:rPr lang="en-US" sz="2199">
                <a:solidFill>
                  <a:srgbClr val="000000"/>
                </a:solidFill>
                <a:latin typeface="Canva Sans"/>
                <a:ea typeface="Canva Sans"/>
                <a:cs typeface="Canva Sans"/>
                <a:sym typeface="Canva Sans"/>
              </a:rPr>
              <a:t>20</a:t>
            </a:r>
          </a:p>
        </p:txBody>
      </p:sp>
      <p:sp>
        <p:nvSpPr>
          <p:cNvPr name="AutoShape 4" id="4"/>
          <p:cNvSpPr/>
          <p:nvPr/>
        </p:nvSpPr>
        <p:spPr>
          <a:xfrm>
            <a:off x="756000" y="1378360"/>
            <a:ext cx="5751563" cy="0"/>
          </a:xfrm>
          <a:prstGeom prst="line">
            <a:avLst/>
          </a:prstGeom>
          <a:ln cap="flat" w="19050">
            <a:solidFill>
              <a:srgbClr val="7A6200">
                <a:alpha val="84706"/>
              </a:srgbClr>
            </a:solidFill>
            <a:prstDash val="solid"/>
            <a:headEnd type="none" len="sm" w="sm"/>
            <a:tailEnd type="none" len="sm" w="sm"/>
          </a:ln>
        </p:spPr>
      </p:sp>
    </p:spTree>
  </p:cSld>
  <p:clrMapOvr>
    <a:masterClrMapping/>
  </p:clrMapOvr>
</p:sld>
</file>

<file path=ppt/slides/slide24.xml><?xml version="1.0" encoding="utf-8"?>
<p:sld xmlns:p="http://schemas.openxmlformats.org/presentationml/2006/main" xmlns:a="http://schemas.openxmlformats.org/drawingml/2006/main">
  <p:cSld>
    <p:bg>
      <p:bgPr>
        <a:solidFill>
          <a:srgbClr val="CCCCBC"/>
        </a:solidFill>
      </p:bgPr>
    </p:bg>
    <p:spTree>
      <p:nvGrpSpPr>
        <p:cNvPr id="1" name=""/>
        <p:cNvGrpSpPr/>
        <p:nvPr/>
      </p:nvGrpSpPr>
      <p:grpSpPr>
        <a:xfrm>
          <a:off x="0" y="0"/>
          <a:ext cx="0" cy="0"/>
          <a:chOff x="0" y="0"/>
          <a:chExt cx="0" cy="0"/>
        </a:xfrm>
      </p:grpSpPr>
      <p:sp>
        <p:nvSpPr>
          <p:cNvPr name="TextBox 2" id="2"/>
          <p:cNvSpPr txBox="true"/>
          <p:nvPr/>
        </p:nvSpPr>
        <p:spPr>
          <a:xfrm rot="0">
            <a:off x="735472" y="727425"/>
            <a:ext cx="6068528" cy="7045960"/>
          </a:xfrm>
          <a:prstGeom prst="rect">
            <a:avLst/>
          </a:prstGeom>
        </p:spPr>
        <p:txBody>
          <a:bodyPr anchor="t" rtlCol="false" tIns="0" lIns="0" bIns="0" rIns="0">
            <a:spAutoFit/>
          </a:bodyPr>
          <a:lstStyle/>
          <a:p>
            <a:pPr algn="l">
              <a:lnSpc>
                <a:spcPts val="2100"/>
              </a:lnSpc>
            </a:pPr>
            <a:r>
              <a:rPr lang="en-US" sz="1500">
                <a:gradFill>
                  <a:gsLst>
                    <a:gs pos="0">
                      <a:srgbClr val="000000">
                        <a:alpha val="100000"/>
                      </a:srgbClr>
                    </a:gs>
                    <a:gs pos="50000">
                      <a:srgbClr val="555555">
                        <a:alpha val="100000"/>
                      </a:srgbClr>
                    </a:gs>
                    <a:gs pos="100000">
                      <a:srgbClr val="0BB50E">
                        <a:alpha val="100000"/>
                      </a:srgbClr>
                    </a:gs>
                  </a:gsLst>
                  <a:path path="circle">
                    <a:fillToRect l="0" r="100000" t="0" b="100000"/>
                  </a:path>
                  <a:tileRect r="0" l="-100000" b="0" t="-100000"/>
                </a:gradFill>
                <a:latin typeface="Nunito"/>
                <a:ea typeface="Nunito"/>
                <a:cs typeface="Nunito"/>
                <a:sym typeface="Nunito"/>
              </a:rPr>
              <a:t> </a:t>
            </a:r>
          </a:p>
          <a:p>
            <a:pPr algn="l">
              <a:lnSpc>
                <a:spcPts val="2379"/>
              </a:lnSpc>
            </a:pPr>
            <a:r>
              <a:rPr lang="en-US" sz="1699">
                <a:solidFill>
                  <a:srgbClr val="000000"/>
                </a:solidFill>
                <a:latin typeface="Nunito"/>
                <a:ea typeface="Nunito"/>
                <a:cs typeface="Nunito"/>
                <a:sym typeface="Nunito"/>
              </a:rPr>
              <a:t>“Then let's find out together!”</a:t>
            </a:r>
          </a:p>
          <a:p>
            <a:pPr algn="l">
              <a:lnSpc>
                <a:spcPts val="2379"/>
              </a:lnSpc>
            </a:pPr>
            <a:r>
              <a:rPr lang="en-US" sz="1699">
                <a:solidFill>
                  <a:srgbClr val="000000"/>
                </a:solidFill>
                <a:latin typeface="Nunito"/>
                <a:ea typeface="Nunito"/>
                <a:cs typeface="Nunito"/>
                <a:sym typeface="Nunito"/>
              </a:rPr>
              <a:t>Just as Lumi finished writing her question, a soft sound came from the window.</a:t>
            </a:r>
          </a:p>
          <a:p>
            <a:pPr algn="l">
              <a:lnSpc>
                <a:spcPts val="2379"/>
              </a:lnSpc>
            </a:pPr>
            <a:r>
              <a:rPr lang="en-US" sz="1699">
                <a:solidFill>
                  <a:srgbClr val="000000"/>
                </a:solidFill>
                <a:latin typeface="Nunito"/>
                <a:ea typeface="Nunito"/>
                <a:cs typeface="Nunito"/>
                <a:sym typeface="Nunito"/>
              </a:rPr>
              <a:t>Tap. Tap. Tap.</a:t>
            </a:r>
          </a:p>
          <a:p>
            <a:pPr algn="l">
              <a:lnSpc>
                <a:spcPts val="2379"/>
              </a:lnSpc>
            </a:pPr>
            <a:r>
              <a:rPr lang="en-US" sz="1699">
                <a:solidFill>
                  <a:srgbClr val="000000"/>
                </a:solidFill>
                <a:latin typeface="Nunito"/>
                <a:ea typeface="Nunito"/>
                <a:cs typeface="Nunito"/>
                <a:sym typeface="Nunito"/>
              </a:rPr>
              <a:t>Lumi turned towards the curtains.</a:t>
            </a:r>
          </a:p>
          <a:p>
            <a:pPr algn="l">
              <a:lnSpc>
                <a:spcPts val="2379"/>
              </a:lnSpc>
            </a:pPr>
            <a:r>
              <a:rPr lang="en-US" sz="1699">
                <a:solidFill>
                  <a:srgbClr val="000000"/>
                </a:solidFill>
                <a:latin typeface="Nunito"/>
                <a:ea typeface="Nunito"/>
                <a:cs typeface="Nunito"/>
                <a:sym typeface="Nunito"/>
              </a:rPr>
              <a:t>“Did you hear that, Piko?”</a:t>
            </a:r>
          </a:p>
          <a:p>
            <a:pPr algn="l">
              <a:lnSpc>
                <a:spcPts val="2379"/>
              </a:lnSpc>
            </a:pPr>
            <a:r>
              <a:rPr lang="en-US" sz="1699">
                <a:solidFill>
                  <a:srgbClr val="000000"/>
                </a:solidFill>
                <a:latin typeface="Nunito"/>
                <a:ea typeface="Nunito"/>
                <a:cs typeface="Nunito"/>
                <a:sym typeface="Nunito"/>
              </a:rPr>
              <a:t>Piko nodded. His glow flickered nervously.</a:t>
            </a:r>
          </a:p>
          <a:p>
            <a:pPr algn="l">
              <a:lnSpc>
                <a:spcPts val="2379"/>
              </a:lnSpc>
            </a:pPr>
            <a:r>
              <a:rPr lang="en-US" sz="1699">
                <a:solidFill>
                  <a:srgbClr val="000000"/>
                </a:solidFill>
                <a:latin typeface="Nunito"/>
                <a:ea typeface="Nunito"/>
                <a:cs typeface="Nunito"/>
                <a:sym typeface="Nunito"/>
              </a:rPr>
              <a:t>Lumi walked to the window and carefully pulled the curtain aside.</a:t>
            </a:r>
          </a:p>
          <a:p>
            <a:pPr algn="l">
              <a:lnSpc>
                <a:spcPts val="2379"/>
              </a:lnSpc>
            </a:pPr>
            <a:r>
              <a:rPr lang="en-US" sz="1699">
                <a:solidFill>
                  <a:srgbClr val="000000"/>
                </a:solidFill>
                <a:latin typeface="Nunito"/>
                <a:ea typeface="Nunito"/>
                <a:cs typeface="Nunito"/>
                <a:sym typeface="Nunito"/>
              </a:rPr>
              <a:t>Outside, the garden lay beneath the quiet night sky. Leaves rustled gently in the breeze, and the moon shone above the rooftops.</a:t>
            </a:r>
          </a:p>
          <a:p>
            <a:pPr algn="l">
              <a:lnSpc>
                <a:spcPts val="2379"/>
              </a:lnSpc>
            </a:pPr>
            <a:r>
              <a:rPr lang="en-US" sz="1699">
                <a:solidFill>
                  <a:srgbClr val="000000"/>
                </a:solidFill>
                <a:latin typeface="Nunito"/>
                <a:ea typeface="Nunito"/>
                <a:cs typeface="Nunito"/>
                <a:sym typeface="Nunito"/>
              </a:rPr>
              <a:t>At first, she saw nothing unusual.</a:t>
            </a:r>
          </a:p>
          <a:p>
            <a:pPr algn="l">
              <a:lnSpc>
                <a:spcPts val="2379"/>
              </a:lnSpc>
            </a:pPr>
            <a:r>
              <a:rPr lang="en-US" sz="1699">
                <a:solidFill>
                  <a:srgbClr val="000000"/>
                </a:solidFill>
                <a:latin typeface="Nunito"/>
                <a:ea typeface="Nunito"/>
                <a:cs typeface="Nunito"/>
                <a:sym typeface="Nunito"/>
              </a:rPr>
              <a:t>Then a tiny green light blinked near the garden wall.</a:t>
            </a:r>
          </a:p>
          <a:p>
            <a:pPr algn="l">
              <a:lnSpc>
                <a:spcPts val="2379"/>
              </a:lnSpc>
            </a:pPr>
            <a:r>
              <a:rPr lang="en-US" sz="1699">
                <a:solidFill>
                  <a:srgbClr val="000000"/>
                </a:solidFill>
                <a:latin typeface="Nunito"/>
                <a:ea typeface="Nunito"/>
                <a:cs typeface="Nunito"/>
                <a:sym typeface="Nunito"/>
              </a:rPr>
              <a:t>Lumi leaned closer to the window.</a:t>
            </a:r>
          </a:p>
          <a:p>
            <a:pPr algn="l">
              <a:lnSpc>
                <a:spcPts val="2379"/>
              </a:lnSpc>
            </a:pPr>
            <a:r>
              <a:rPr lang="en-US" sz="1699">
                <a:solidFill>
                  <a:srgbClr val="000000"/>
                </a:solidFill>
                <a:latin typeface="Nunito"/>
                <a:ea typeface="Nunito"/>
                <a:cs typeface="Nunito"/>
                <a:sym typeface="Nunito"/>
              </a:rPr>
              <a:t>The green light blinked again.</a:t>
            </a:r>
          </a:p>
          <a:p>
            <a:pPr algn="l">
              <a:lnSpc>
                <a:spcPts val="2379"/>
              </a:lnSpc>
            </a:pPr>
            <a:r>
              <a:rPr lang="en-US" sz="1699">
                <a:solidFill>
                  <a:srgbClr val="000000"/>
                </a:solidFill>
                <a:latin typeface="Nunito"/>
                <a:ea typeface="Nunito"/>
                <a:cs typeface="Nunito"/>
                <a:sym typeface="Nunito"/>
              </a:rPr>
              <a:t>And then another appeared beside it.</a:t>
            </a:r>
          </a:p>
          <a:p>
            <a:pPr algn="l">
              <a:lnSpc>
                <a:spcPts val="2379"/>
              </a:lnSpc>
            </a:pPr>
            <a:r>
              <a:rPr lang="en-US" sz="1699">
                <a:solidFill>
                  <a:srgbClr val="000000"/>
                </a:solidFill>
                <a:latin typeface="Nunito"/>
                <a:ea typeface="Nunito"/>
                <a:cs typeface="Nunito"/>
                <a:sym typeface="Nunito"/>
              </a:rPr>
              <a:t>Piko drifted towards the window, staring in amazement.</a:t>
            </a:r>
          </a:p>
          <a:p>
            <a:pPr algn="l">
              <a:lnSpc>
                <a:spcPts val="2379"/>
              </a:lnSpc>
            </a:pPr>
            <a:r>
              <a:rPr lang="en-US" sz="1699">
                <a:solidFill>
                  <a:srgbClr val="000000"/>
                </a:solidFill>
                <a:latin typeface="Nunito"/>
                <a:ea typeface="Nunito"/>
                <a:cs typeface="Nunito"/>
                <a:sym typeface="Nunito"/>
              </a:rPr>
              <a:t>“Lumi,” he whispered, “I think we're not alone.”</a:t>
            </a:r>
          </a:p>
          <a:p>
            <a:pPr algn="l">
              <a:lnSpc>
                <a:spcPts val="2379"/>
              </a:lnSpc>
            </a:pPr>
            <a:r>
              <a:rPr lang="en-US" sz="1699">
                <a:solidFill>
                  <a:srgbClr val="000000"/>
                </a:solidFill>
                <a:latin typeface="Nunito"/>
                <a:ea typeface="Nunito"/>
                <a:cs typeface="Nunito"/>
                <a:sym typeface="Nunito"/>
              </a:rPr>
              <a:t>Lumi reached for her notebook.</a:t>
            </a:r>
          </a:p>
          <a:p>
            <a:pPr algn="l">
              <a:lnSpc>
                <a:spcPts val="2379"/>
              </a:lnSpc>
            </a:pPr>
            <a:r>
              <a:rPr lang="en-US" sz="1699">
                <a:solidFill>
                  <a:srgbClr val="000000"/>
                </a:solidFill>
                <a:latin typeface="Nunito"/>
                <a:ea typeface="Nunito"/>
                <a:cs typeface="Nunito"/>
                <a:sym typeface="Nunito"/>
              </a:rPr>
              <a:t>Two glowing lights in the garden. One golden, one green. And a new mystery waiting outside.</a:t>
            </a:r>
          </a:p>
          <a:p>
            <a:pPr algn="l">
              <a:lnSpc>
                <a:spcPts val="2379"/>
              </a:lnSpc>
            </a:pPr>
          </a:p>
        </p:txBody>
      </p:sp>
      <p:sp>
        <p:nvSpPr>
          <p:cNvPr name="TextBox 3" id="3"/>
          <p:cNvSpPr txBox="true"/>
          <p:nvPr/>
        </p:nvSpPr>
        <p:spPr>
          <a:xfrm rot="0">
            <a:off x="756000" y="9563255"/>
            <a:ext cx="6068528" cy="372745"/>
          </a:xfrm>
          <a:prstGeom prst="rect">
            <a:avLst/>
          </a:prstGeom>
        </p:spPr>
        <p:txBody>
          <a:bodyPr anchor="t" rtlCol="false" tIns="0" lIns="0" bIns="0" rIns="0">
            <a:spAutoFit/>
          </a:bodyPr>
          <a:lstStyle/>
          <a:p>
            <a:pPr algn="ctr">
              <a:lnSpc>
                <a:spcPts val="3079"/>
              </a:lnSpc>
            </a:pPr>
            <a:r>
              <a:rPr lang="en-US" sz="2199">
                <a:solidFill>
                  <a:srgbClr val="000000"/>
                </a:solidFill>
                <a:latin typeface="Canva Sans"/>
                <a:ea typeface="Canva Sans"/>
                <a:cs typeface="Canva Sans"/>
                <a:sym typeface="Canva Sans"/>
              </a:rPr>
              <a:t>21</a:t>
            </a:r>
          </a:p>
        </p:txBody>
      </p:sp>
      <p:sp>
        <p:nvSpPr>
          <p:cNvPr name="AutoShape 4" id="4"/>
          <p:cNvSpPr/>
          <p:nvPr/>
        </p:nvSpPr>
        <p:spPr>
          <a:xfrm>
            <a:off x="735472" y="746475"/>
            <a:ext cx="5751563" cy="0"/>
          </a:xfrm>
          <a:prstGeom prst="line">
            <a:avLst/>
          </a:prstGeom>
          <a:ln cap="flat" w="19050">
            <a:solidFill>
              <a:srgbClr val="7A6200">
                <a:alpha val="84706"/>
              </a:srgbClr>
            </a:solidFill>
            <a:prstDash val="solid"/>
            <a:headEnd type="none" len="sm" w="sm"/>
            <a:tailEnd type="none" len="sm" w="sm"/>
          </a:ln>
        </p:spPr>
      </p:sp>
    </p:spTree>
  </p:cSld>
  <p:clrMapOvr>
    <a:masterClrMapping/>
  </p:clrMapOvr>
</p:sld>
</file>

<file path=ppt/slides/slide25.xml><?xml version="1.0" encoding="utf-8"?>
<p:sld xmlns:p="http://schemas.openxmlformats.org/presentationml/2006/main" xmlns:a="http://schemas.openxmlformats.org/drawingml/2006/main">
  <p:cSld>
    <p:bg>
      <p:bgPr>
        <a:solidFill>
          <a:srgbClr val="CCCCBC"/>
        </a:solidFill>
      </p:bgPr>
    </p:bg>
    <p:spTree>
      <p:nvGrpSpPr>
        <p:cNvPr id="1" name=""/>
        <p:cNvGrpSpPr/>
        <p:nvPr/>
      </p:nvGrpSpPr>
      <p:grpSpPr>
        <a:xfrm>
          <a:off x="0" y="0"/>
          <a:ext cx="0" cy="0"/>
          <a:chOff x="0" y="0"/>
          <a:chExt cx="0" cy="0"/>
        </a:xfrm>
      </p:grpSpPr>
      <p:sp>
        <p:nvSpPr>
          <p:cNvPr name="TextBox 2" id="2"/>
          <p:cNvSpPr txBox="true"/>
          <p:nvPr/>
        </p:nvSpPr>
        <p:spPr>
          <a:xfrm rot="0">
            <a:off x="1134000" y="592617"/>
            <a:ext cx="5670000" cy="8843645"/>
          </a:xfrm>
          <a:prstGeom prst="rect">
            <a:avLst/>
          </a:prstGeom>
        </p:spPr>
        <p:txBody>
          <a:bodyPr anchor="t" rtlCol="false" tIns="0" lIns="0" bIns="0" rIns="0">
            <a:spAutoFit/>
          </a:bodyPr>
          <a:lstStyle/>
          <a:p>
            <a:pPr algn="l">
              <a:lnSpc>
                <a:spcPts val="2379"/>
              </a:lnSpc>
            </a:pPr>
          </a:p>
          <a:p>
            <a:pPr algn="l">
              <a:lnSpc>
                <a:spcPts val="2379"/>
              </a:lnSpc>
            </a:pPr>
            <a:r>
              <a:rPr lang="en-US" sz="1699">
                <a:solidFill>
                  <a:srgbClr val="000000"/>
                </a:solidFill>
                <a:latin typeface="Nunito"/>
                <a:ea typeface="Nunito"/>
                <a:cs typeface="Nunito"/>
                <a:sym typeface="Nunito"/>
              </a:rPr>
              <a:t>Lumi slipped on her slippers and picked up her notebook.</a:t>
            </a:r>
          </a:p>
          <a:p>
            <a:pPr algn="l">
              <a:lnSpc>
                <a:spcPts val="2379"/>
              </a:lnSpc>
            </a:pPr>
            <a:r>
              <a:rPr lang="en-US" sz="1699">
                <a:solidFill>
                  <a:srgbClr val="000000"/>
                </a:solidFill>
                <a:latin typeface="Nunito"/>
                <a:ea typeface="Nunito"/>
                <a:cs typeface="Nunito"/>
                <a:sym typeface="Nunito"/>
              </a:rPr>
              <a:t>“Let's take a closer look,” she whispered.</a:t>
            </a:r>
          </a:p>
          <a:p>
            <a:pPr algn="l">
              <a:lnSpc>
                <a:spcPts val="2379"/>
              </a:lnSpc>
            </a:pPr>
            <a:r>
              <a:rPr lang="en-US" sz="1699">
                <a:solidFill>
                  <a:srgbClr val="000000"/>
                </a:solidFill>
                <a:latin typeface="Nunito"/>
                <a:ea typeface="Nunito"/>
                <a:cs typeface="Nunito"/>
                <a:sym typeface="Nunito"/>
              </a:rPr>
              <a:t>She opened the bedroom door and stepped quietly into the garden, with Piko floating close beside her.</a:t>
            </a:r>
          </a:p>
          <a:p>
            <a:pPr algn="l">
              <a:lnSpc>
                <a:spcPts val="2379"/>
              </a:lnSpc>
            </a:pPr>
            <a:r>
              <a:rPr lang="en-US" sz="1699">
                <a:solidFill>
                  <a:srgbClr val="000000"/>
                </a:solidFill>
                <a:latin typeface="Nunito"/>
                <a:ea typeface="Nunito"/>
                <a:cs typeface="Nunito"/>
                <a:sym typeface="Nunito"/>
              </a:rPr>
              <a:t>The night air was cool, and the leaves rustled softly above them.</a:t>
            </a:r>
          </a:p>
          <a:p>
            <a:pPr algn="l">
              <a:lnSpc>
                <a:spcPts val="2379"/>
              </a:lnSpc>
            </a:pPr>
            <a:r>
              <a:rPr lang="en-US" sz="1699">
                <a:solidFill>
                  <a:srgbClr val="000000"/>
                </a:solidFill>
                <a:latin typeface="Nunito"/>
                <a:ea typeface="Nunito"/>
                <a:cs typeface="Nunito"/>
                <a:sym typeface="Nunito"/>
              </a:rPr>
              <a:t>Near the garden wall, the green lights blinked again.</a:t>
            </a:r>
          </a:p>
          <a:p>
            <a:pPr algn="l">
              <a:lnSpc>
                <a:spcPts val="2379"/>
              </a:lnSpc>
            </a:pPr>
            <a:r>
              <a:rPr lang="en-US" sz="1699">
                <a:solidFill>
                  <a:srgbClr val="000000"/>
                </a:solidFill>
                <a:latin typeface="Nunito"/>
                <a:ea typeface="Nunito"/>
                <a:cs typeface="Nunito"/>
                <a:sym typeface="Nunito"/>
              </a:rPr>
              <a:t>Lumi stopped and watched.</a:t>
            </a:r>
          </a:p>
          <a:p>
            <a:pPr algn="l">
              <a:lnSpc>
                <a:spcPts val="2379"/>
              </a:lnSpc>
            </a:pPr>
            <a:r>
              <a:rPr lang="en-US" sz="1699">
                <a:solidFill>
                  <a:srgbClr val="000000"/>
                </a:solidFill>
                <a:latin typeface="Nunito"/>
                <a:ea typeface="Nunito"/>
                <a:cs typeface="Nunito"/>
                <a:sym typeface="Nunito"/>
              </a:rPr>
              <a:t>One light appeared, then disappeared. A little farther away, another light began to glow.</a:t>
            </a:r>
          </a:p>
          <a:p>
            <a:pPr algn="l">
              <a:lnSpc>
                <a:spcPts val="2379"/>
              </a:lnSpc>
            </a:pPr>
            <a:r>
              <a:rPr lang="en-US" sz="1699">
                <a:solidFill>
                  <a:srgbClr val="000000"/>
                </a:solidFill>
                <a:latin typeface="Nunito"/>
                <a:ea typeface="Nunito"/>
                <a:cs typeface="Nunito"/>
                <a:sym typeface="Nunito"/>
              </a:rPr>
              <a:t>“They aren't staying in one place,” Lumi observed.</a:t>
            </a:r>
          </a:p>
          <a:p>
            <a:pPr algn="l">
              <a:lnSpc>
                <a:spcPts val="2379"/>
              </a:lnSpc>
            </a:pPr>
            <a:r>
              <a:rPr lang="en-US" sz="1699">
                <a:solidFill>
                  <a:srgbClr val="000000"/>
                </a:solidFill>
                <a:latin typeface="Nunito"/>
                <a:ea typeface="Nunito"/>
                <a:cs typeface="Nunito"/>
                <a:sym typeface="Nunito"/>
              </a:rPr>
              <a:t>Piko floated behind her shoulder.</a:t>
            </a:r>
          </a:p>
          <a:p>
            <a:pPr algn="l">
              <a:lnSpc>
                <a:spcPts val="2379"/>
              </a:lnSpc>
            </a:pPr>
            <a:r>
              <a:rPr lang="en-US" sz="1699">
                <a:solidFill>
                  <a:srgbClr val="000000"/>
                </a:solidFill>
                <a:latin typeface="Nunito"/>
                <a:ea typeface="Nunito"/>
                <a:cs typeface="Nunito"/>
                <a:sym typeface="Nunito"/>
              </a:rPr>
              <a:t>“Do you think they're little creatures like me?”</a:t>
            </a:r>
          </a:p>
          <a:p>
            <a:pPr algn="l">
              <a:lnSpc>
                <a:spcPts val="2379"/>
              </a:lnSpc>
            </a:pPr>
            <a:r>
              <a:rPr lang="en-US" sz="1699">
                <a:solidFill>
                  <a:srgbClr val="000000"/>
                </a:solidFill>
                <a:latin typeface="Nunito"/>
                <a:ea typeface="Nunito"/>
                <a:cs typeface="Nunito"/>
                <a:sym typeface="Nunito"/>
              </a:rPr>
              <a:t>“Maybe,” Lumi replied. “But we shouldn't decide before we have enough evidence.”</a:t>
            </a:r>
          </a:p>
          <a:p>
            <a:pPr algn="l">
              <a:lnSpc>
                <a:spcPts val="2379"/>
              </a:lnSpc>
            </a:pPr>
            <a:r>
              <a:rPr lang="en-US" sz="1699">
                <a:solidFill>
                  <a:srgbClr val="000000"/>
                </a:solidFill>
                <a:latin typeface="Nunito"/>
                <a:ea typeface="Nunito"/>
                <a:cs typeface="Nunito"/>
                <a:sym typeface="Nunito"/>
              </a:rPr>
              <a:t>She watched patiently instead of rushing towards the lights.</a:t>
            </a:r>
          </a:p>
          <a:p>
            <a:pPr algn="l">
              <a:lnSpc>
                <a:spcPts val="2379"/>
              </a:lnSpc>
            </a:pPr>
            <a:r>
              <a:rPr lang="en-US" sz="1699">
                <a:solidFill>
                  <a:srgbClr val="000000"/>
                </a:solidFill>
                <a:latin typeface="Nunito"/>
                <a:ea typeface="Nunito"/>
                <a:cs typeface="Nunito"/>
                <a:sym typeface="Nunito"/>
              </a:rPr>
              <a:t>Then a tiny green glow appeared beside a leaf.</a:t>
            </a:r>
          </a:p>
          <a:p>
            <a:pPr algn="l">
              <a:lnSpc>
                <a:spcPts val="2379"/>
              </a:lnSpc>
            </a:pPr>
            <a:r>
              <a:rPr lang="en-US" sz="1699">
                <a:solidFill>
                  <a:srgbClr val="000000"/>
                </a:solidFill>
                <a:latin typeface="Nunito"/>
                <a:ea typeface="Nunito"/>
                <a:cs typeface="Nunito"/>
                <a:sym typeface="Nunito"/>
              </a:rPr>
              <a:t>Lumi leaned forward carefully.</a:t>
            </a:r>
          </a:p>
          <a:p>
            <a:pPr algn="l">
              <a:lnSpc>
                <a:spcPts val="2379"/>
              </a:lnSpc>
            </a:pPr>
            <a:r>
              <a:rPr lang="en-US" sz="1699">
                <a:solidFill>
                  <a:srgbClr val="000000"/>
                </a:solidFill>
                <a:latin typeface="Nunito"/>
                <a:ea typeface="Nunito"/>
                <a:cs typeface="Nunito"/>
                <a:sym typeface="Nunito"/>
              </a:rPr>
              <a:t>A small insect was crawling along the leaf, its body glowing in the darkness.</a:t>
            </a:r>
          </a:p>
          <a:p>
            <a:pPr algn="l">
              <a:lnSpc>
                <a:spcPts val="2379"/>
              </a:lnSpc>
            </a:pPr>
            <a:r>
              <a:rPr lang="en-US" sz="1699">
                <a:solidFill>
                  <a:srgbClr val="000000"/>
                </a:solidFill>
                <a:latin typeface="Nunito"/>
                <a:ea typeface="Nunito"/>
                <a:cs typeface="Nunito"/>
                <a:sym typeface="Nunito"/>
              </a:rPr>
              <a:t>“It's a firefly!” Lumi whispered.</a:t>
            </a:r>
          </a:p>
          <a:p>
            <a:pPr algn="l">
              <a:lnSpc>
                <a:spcPts val="2379"/>
              </a:lnSpc>
            </a:pPr>
            <a:r>
              <a:rPr lang="en-US" sz="1699">
                <a:solidFill>
                  <a:srgbClr val="000000"/>
                </a:solidFill>
                <a:latin typeface="Nunito"/>
                <a:ea typeface="Nunito"/>
                <a:cs typeface="Nunito"/>
                <a:sym typeface="Nunito"/>
              </a:rPr>
              <a:t>Piko's eyes widened.</a:t>
            </a:r>
          </a:p>
          <a:p>
            <a:pPr algn="l">
              <a:lnSpc>
                <a:spcPts val="2379"/>
              </a:lnSpc>
            </a:pPr>
            <a:r>
              <a:rPr lang="en-US" sz="1699">
                <a:solidFill>
                  <a:srgbClr val="000000"/>
                </a:solidFill>
                <a:latin typeface="Nunito"/>
                <a:ea typeface="Nunito"/>
                <a:cs typeface="Nunito"/>
                <a:sym typeface="Nunito"/>
              </a:rPr>
              <a:t>“Another living thing that makes its own light?”</a:t>
            </a:r>
          </a:p>
          <a:p>
            <a:pPr algn="l">
              <a:lnSpc>
                <a:spcPts val="2379"/>
              </a:lnSpc>
            </a:pPr>
            <a:r>
              <a:rPr lang="en-US" sz="1699">
                <a:solidFill>
                  <a:srgbClr val="000000"/>
                </a:solidFill>
                <a:latin typeface="Nunito"/>
                <a:ea typeface="Nunito"/>
                <a:cs typeface="Nunito"/>
                <a:sym typeface="Nunito"/>
              </a:rPr>
              <a:t>Lumi opened her notebook to a fresh page.</a:t>
            </a:r>
          </a:p>
          <a:p>
            <a:pPr algn="l">
              <a:lnSpc>
                <a:spcPts val="2379"/>
              </a:lnSpc>
            </a:pPr>
            <a:r>
              <a:rPr lang="en-US" sz="1699">
                <a:gradFill>
                  <a:gsLst>
                    <a:gs pos="0">
                      <a:srgbClr val="5A0A0C">
                        <a:alpha val="100000"/>
                      </a:srgbClr>
                    </a:gs>
                    <a:gs pos="50000">
                      <a:srgbClr val="BF628C">
                        <a:alpha val="100000"/>
                      </a:srgbClr>
                    </a:gs>
                    <a:gs pos="100000">
                      <a:srgbClr val="62BF9B">
                        <a:alpha val="100000"/>
                      </a:srgbClr>
                    </a:gs>
                  </a:gsLst>
                  <a:lin ang="0"/>
                </a:gradFill>
                <a:latin typeface="Comic Sans"/>
                <a:ea typeface="Comic Sans"/>
                <a:cs typeface="Comic Sans"/>
                <a:sym typeface="Comic Sans"/>
              </a:rPr>
              <a:t>OBSERVATION 5</a:t>
            </a:r>
          </a:p>
          <a:p>
            <a:pPr algn="l">
              <a:lnSpc>
                <a:spcPts val="2379"/>
              </a:lnSpc>
            </a:pPr>
            <a:r>
              <a:rPr lang="en-US" sz="1699">
                <a:solidFill>
                  <a:srgbClr val="000000"/>
                </a:solidFill>
                <a:latin typeface="Nunito"/>
                <a:ea typeface="Nunito"/>
                <a:cs typeface="Nunito"/>
                <a:sym typeface="Nunito"/>
              </a:rPr>
              <a:t>Some living things, such as fireflies, produce their own light.</a:t>
            </a:r>
          </a:p>
          <a:p>
            <a:pPr algn="l">
              <a:lnSpc>
                <a:spcPts val="2379"/>
              </a:lnSpc>
            </a:pPr>
          </a:p>
        </p:txBody>
      </p:sp>
      <p:sp>
        <p:nvSpPr>
          <p:cNvPr name="TextBox 3" id="3"/>
          <p:cNvSpPr txBox="true"/>
          <p:nvPr/>
        </p:nvSpPr>
        <p:spPr>
          <a:xfrm rot="0">
            <a:off x="3657949" y="9563255"/>
            <a:ext cx="306685" cy="372745"/>
          </a:xfrm>
          <a:prstGeom prst="rect">
            <a:avLst/>
          </a:prstGeom>
        </p:spPr>
        <p:txBody>
          <a:bodyPr anchor="t" rtlCol="false" tIns="0" lIns="0" bIns="0" rIns="0">
            <a:spAutoFit/>
          </a:bodyPr>
          <a:lstStyle/>
          <a:p>
            <a:pPr algn="ctr">
              <a:lnSpc>
                <a:spcPts val="3079"/>
              </a:lnSpc>
            </a:pPr>
            <a:r>
              <a:rPr lang="en-US" sz="2199">
                <a:solidFill>
                  <a:srgbClr val="000000"/>
                </a:solidFill>
                <a:latin typeface="Canva Sans"/>
                <a:ea typeface="Canva Sans"/>
                <a:cs typeface="Canva Sans"/>
                <a:sym typeface="Canva Sans"/>
              </a:rPr>
              <a:t>22</a:t>
            </a:r>
          </a:p>
        </p:txBody>
      </p:sp>
      <p:sp>
        <p:nvSpPr>
          <p:cNvPr name="AutoShape 4" id="4"/>
          <p:cNvSpPr/>
          <p:nvPr/>
        </p:nvSpPr>
        <p:spPr>
          <a:xfrm>
            <a:off x="1093218" y="621192"/>
            <a:ext cx="5751563" cy="0"/>
          </a:xfrm>
          <a:prstGeom prst="line">
            <a:avLst/>
          </a:prstGeom>
          <a:ln cap="flat" w="19050">
            <a:solidFill>
              <a:srgbClr val="7A6200">
                <a:alpha val="84706"/>
              </a:srgbClr>
            </a:solidFill>
            <a:prstDash val="solid"/>
            <a:headEnd type="none" len="sm" w="sm"/>
            <a:tailEnd type="none" len="sm" w="sm"/>
          </a:ln>
        </p:spPr>
      </p:sp>
    </p:spTree>
  </p:cSld>
  <p:clrMapOvr>
    <a:masterClrMapping/>
  </p:clrMapOvr>
</p:sld>
</file>

<file path=ppt/slides/slide26.xml><?xml version="1.0" encoding="utf-8"?>
<p:sld xmlns:p="http://schemas.openxmlformats.org/presentationml/2006/main" xmlns:a="http://schemas.openxmlformats.org/drawingml/2006/main">
  <p:cSld>
    <p:bg>
      <p:bgPr>
        <a:solidFill>
          <a:srgbClr val="CCCCBC"/>
        </a:solidFill>
      </p:bgPr>
    </p:bg>
    <p:spTree>
      <p:nvGrpSpPr>
        <p:cNvPr id="1" name=""/>
        <p:cNvGrpSpPr/>
        <p:nvPr/>
      </p:nvGrpSpPr>
      <p:grpSpPr>
        <a:xfrm>
          <a:off x="0" y="0"/>
          <a:ext cx="0" cy="0"/>
          <a:chOff x="0" y="0"/>
          <a:chExt cx="0" cy="0"/>
        </a:xfrm>
      </p:grpSpPr>
      <p:sp>
        <p:nvSpPr>
          <p:cNvPr name="TextBox 2" id="2"/>
          <p:cNvSpPr txBox="true"/>
          <p:nvPr/>
        </p:nvSpPr>
        <p:spPr>
          <a:xfrm rot="0">
            <a:off x="756000" y="568758"/>
            <a:ext cx="6048000" cy="8253095"/>
          </a:xfrm>
          <a:prstGeom prst="rect">
            <a:avLst/>
          </a:prstGeom>
        </p:spPr>
        <p:txBody>
          <a:bodyPr anchor="t" rtlCol="false" tIns="0" lIns="0" bIns="0" rIns="0">
            <a:spAutoFit/>
          </a:bodyPr>
          <a:lstStyle/>
          <a:p>
            <a:pPr algn="l">
              <a:lnSpc>
                <a:spcPts val="2379"/>
              </a:lnSpc>
            </a:pPr>
          </a:p>
          <a:p>
            <a:pPr algn="l">
              <a:lnSpc>
                <a:spcPts val="2379"/>
              </a:lnSpc>
            </a:pPr>
            <a:r>
              <a:rPr lang="en-US" sz="1699">
                <a:solidFill>
                  <a:srgbClr val="000000"/>
                </a:solidFill>
                <a:latin typeface="Nunito"/>
                <a:ea typeface="Nunito"/>
                <a:cs typeface="Nunito"/>
                <a:sym typeface="Nunito"/>
              </a:rPr>
              <a:t>Lumi watched the firefly crawl along the leaf.</a:t>
            </a:r>
          </a:p>
          <a:p>
            <a:pPr algn="l">
              <a:lnSpc>
                <a:spcPts val="2379"/>
              </a:lnSpc>
            </a:pPr>
            <a:r>
              <a:rPr lang="en-US" sz="1699">
                <a:solidFill>
                  <a:srgbClr val="000000"/>
                </a:solidFill>
                <a:latin typeface="Nunito"/>
                <a:ea typeface="Nunito"/>
                <a:cs typeface="Nunito"/>
                <a:sym typeface="Nunito"/>
              </a:rPr>
              <a:t>Its tiny green light blinked on, then off, then on again.</a:t>
            </a:r>
          </a:p>
          <a:p>
            <a:pPr algn="l">
              <a:lnSpc>
                <a:spcPts val="2379"/>
              </a:lnSpc>
            </a:pPr>
            <a:r>
              <a:rPr lang="en-US" sz="1699">
                <a:solidFill>
                  <a:srgbClr val="000000"/>
                </a:solidFill>
                <a:latin typeface="Nunito"/>
                <a:ea typeface="Nunito"/>
                <a:cs typeface="Nunito"/>
                <a:sym typeface="Nunito"/>
              </a:rPr>
              <a:t>“How does it make its own light?” Piko asked.</a:t>
            </a:r>
          </a:p>
          <a:p>
            <a:pPr algn="l">
              <a:lnSpc>
                <a:spcPts val="2379"/>
              </a:lnSpc>
            </a:pPr>
            <a:r>
              <a:rPr lang="en-US" sz="1699">
                <a:solidFill>
                  <a:srgbClr val="000000"/>
                </a:solidFill>
                <a:latin typeface="Nunito"/>
                <a:ea typeface="Nunito"/>
                <a:cs typeface="Nunito"/>
                <a:sym typeface="Nunito"/>
              </a:rPr>
              <a:t>Lumi thought for a moment.</a:t>
            </a:r>
          </a:p>
          <a:p>
            <a:pPr algn="l">
              <a:lnSpc>
                <a:spcPts val="2379"/>
              </a:lnSpc>
            </a:pPr>
            <a:r>
              <a:rPr lang="en-US" sz="1699">
                <a:solidFill>
                  <a:srgbClr val="000000"/>
                </a:solidFill>
                <a:latin typeface="Nunito"/>
                <a:ea typeface="Nunito"/>
                <a:cs typeface="Nunito"/>
                <a:sym typeface="Nunito"/>
              </a:rPr>
              <a:t>“Some living things can make light inside their bodies,” she explained. “In fireflies, a special chemical reaction produces the glow.”</a:t>
            </a:r>
          </a:p>
          <a:p>
            <a:pPr algn="l">
              <a:lnSpc>
                <a:spcPts val="2379"/>
              </a:lnSpc>
            </a:pPr>
            <a:r>
              <a:rPr lang="en-US" sz="1699">
                <a:solidFill>
                  <a:srgbClr val="000000"/>
                </a:solidFill>
                <a:latin typeface="Nunito"/>
                <a:ea typeface="Nunito"/>
                <a:cs typeface="Nunito"/>
                <a:sym typeface="Nunito"/>
              </a:rPr>
              <a:t>Piko stared at the firefly in amazement.</a:t>
            </a:r>
          </a:p>
          <a:p>
            <a:pPr algn="l">
              <a:lnSpc>
                <a:spcPts val="2379"/>
              </a:lnSpc>
            </a:pPr>
            <a:r>
              <a:rPr lang="en-US" sz="1699">
                <a:solidFill>
                  <a:srgbClr val="000000"/>
                </a:solidFill>
                <a:latin typeface="Nunito"/>
                <a:ea typeface="Nunito"/>
                <a:cs typeface="Nunito"/>
                <a:sym typeface="Nunito"/>
              </a:rPr>
              <a:t>“So it doesn't need a candle or a lamp?”</a:t>
            </a:r>
          </a:p>
          <a:p>
            <a:pPr algn="l">
              <a:lnSpc>
                <a:spcPts val="2379"/>
              </a:lnSpc>
            </a:pPr>
            <a:r>
              <a:rPr lang="en-US" sz="1699">
                <a:solidFill>
                  <a:srgbClr val="000000"/>
                </a:solidFill>
                <a:latin typeface="Nunito"/>
                <a:ea typeface="Nunito"/>
                <a:cs typeface="Nunito"/>
                <a:sym typeface="Nunito"/>
              </a:rPr>
              <a:t>“No,” Lumi said. “Its body makes the light. Scientists call this bioluminescence.”</a:t>
            </a:r>
          </a:p>
          <a:p>
            <a:pPr algn="l">
              <a:lnSpc>
                <a:spcPts val="2379"/>
              </a:lnSpc>
            </a:pPr>
            <a:r>
              <a:rPr lang="en-US" sz="1699">
                <a:solidFill>
                  <a:srgbClr val="000000"/>
                </a:solidFill>
                <a:latin typeface="Nunito"/>
                <a:ea typeface="Nunito"/>
                <a:cs typeface="Nunito"/>
                <a:sym typeface="Nunito"/>
              </a:rPr>
              <a:t>Piko tried saying the word slowly.</a:t>
            </a:r>
          </a:p>
          <a:p>
            <a:pPr algn="l">
              <a:lnSpc>
                <a:spcPts val="2379"/>
              </a:lnSpc>
            </a:pPr>
            <a:r>
              <a:rPr lang="en-US" sz="1699">
                <a:solidFill>
                  <a:srgbClr val="000000"/>
                </a:solidFill>
                <a:latin typeface="Nunito"/>
                <a:ea typeface="Nunito"/>
                <a:cs typeface="Nunito"/>
                <a:sym typeface="Nunito"/>
              </a:rPr>
              <a:t>“Bio-lu-mi-nes-cence!”</a:t>
            </a:r>
          </a:p>
          <a:p>
            <a:pPr algn="l">
              <a:lnSpc>
                <a:spcPts val="2379"/>
              </a:lnSpc>
            </a:pPr>
            <a:r>
              <a:rPr lang="en-US" sz="1699">
                <a:solidFill>
                  <a:srgbClr val="000000"/>
                </a:solidFill>
                <a:latin typeface="Nunito"/>
                <a:ea typeface="Nunito"/>
                <a:cs typeface="Nunito"/>
                <a:sym typeface="Nunito"/>
              </a:rPr>
              <a:t>Lumi giggled.</a:t>
            </a:r>
          </a:p>
          <a:p>
            <a:pPr algn="l">
              <a:lnSpc>
                <a:spcPts val="2379"/>
              </a:lnSpc>
            </a:pPr>
            <a:r>
              <a:rPr lang="en-US" sz="1699">
                <a:solidFill>
                  <a:srgbClr val="000000"/>
                </a:solidFill>
                <a:latin typeface="Nunito"/>
                <a:ea typeface="Nunito"/>
                <a:cs typeface="Nunito"/>
                <a:sym typeface="Nunito"/>
              </a:rPr>
              <a:t>“It sounds like a very long word for a very tiny light!”</a:t>
            </a:r>
          </a:p>
          <a:p>
            <a:pPr algn="l">
              <a:lnSpc>
                <a:spcPts val="2379"/>
              </a:lnSpc>
            </a:pPr>
            <a:r>
              <a:rPr lang="en-US" sz="1699">
                <a:solidFill>
                  <a:srgbClr val="000000"/>
                </a:solidFill>
                <a:latin typeface="Nunito"/>
                <a:ea typeface="Nunito"/>
                <a:cs typeface="Nunito"/>
                <a:sym typeface="Nunito"/>
              </a:rPr>
              <a:t>She explained that fireflies use their flashes to communicate with other fireflies. Different kinds of fireflies can have different flashing patterns.</a:t>
            </a:r>
          </a:p>
          <a:p>
            <a:pPr algn="l">
              <a:lnSpc>
                <a:spcPts val="2379"/>
              </a:lnSpc>
            </a:pPr>
            <a:r>
              <a:rPr lang="en-US" sz="1699">
                <a:solidFill>
                  <a:srgbClr val="000000"/>
                </a:solidFill>
                <a:latin typeface="Nunito"/>
                <a:ea typeface="Nunito"/>
                <a:cs typeface="Nunito"/>
                <a:sym typeface="Nunito"/>
              </a:rPr>
              <a:t>The little insect blinked again, as if answering a message only another firefly could understand.</a:t>
            </a:r>
          </a:p>
          <a:p>
            <a:pPr algn="l">
              <a:lnSpc>
                <a:spcPts val="2379"/>
              </a:lnSpc>
            </a:pPr>
            <a:r>
              <a:rPr lang="en-US" sz="1699">
                <a:solidFill>
                  <a:srgbClr val="000000"/>
                </a:solidFill>
                <a:latin typeface="Nunito"/>
                <a:ea typeface="Nunito"/>
                <a:cs typeface="Nunito"/>
                <a:sym typeface="Nunito"/>
              </a:rPr>
              <a:t>Lumi carefully recorded the new word in her notebook.</a:t>
            </a:r>
          </a:p>
          <a:p>
            <a:pPr algn="l">
              <a:lnSpc>
                <a:spcPts val="2379"/>
              </a:lnSpc>
            </a:pPr>
            <a:r>
              <a:rPr lang="en-US" sz="1699">
                <a:solidFill>
                  <a:srgbClr val="000000"/>
                </a:solidFill>
                <a:latin typeface="Nunito"/>
                <a:ea typeface="Nunito"/>
                <a:cs typeface="Nunito"/>
                <a:sym typeface="Nunito"/>
              </a:rPr>
              <a:t>NEW WORD</a:t>
            </a:r>
          </a:p>
          <a:p>
            <a:pPr algn="l">
              <a:lnSpc>
                <a:spcPts val="2379"/>
              </a:lnSpc>
            </a:pPr>
            <a:r>
              <a:rPr lang="en-US" sz="1699">
                <a:solidFill>
                  <a:srgbClr val="000000"/>
                </a:solidFill>
                <a:latin typeface="Nunito"/>
                <a:ea typeface="Nunito"/>
                <a:cs typeface="Nunito"/>
                <a:sym typeface="Nunito"/>
              </a:rPr>
              <a:t>Bioluminescence</a:t>
            </a:r>
          </a:p>
          <a:p>
            <a:pPr algn="l">
              <a:lnSpc>
                <a:spcPts val="2379"/>
              </a:lnSpc>
            </a:pPr>
            <a:r>
              <a:rPr lang="en-US" sz="1699">
                <a:solidFill>
                  <a:srgbClr val="000000"/>
                </a:solidFill>
                <a:latin typeface="Nunito"/>
                <a:ea typeface="Nunito"/>
                <a:cs typeface="Nunito"/>
                <a:sym typeface="Nunito"/>
              </a:rPr>
              <a:t>Light produced by a living thing through a chemical reaction inside its body.</a:t>
            </a:r>
          </a:p>
          <a:p>
            <a:pPr algn="l">
              <a:lnSpc>
                <a:spcPts val="2379"/>
              </a:lnSpc>
            </a:pPr>
          </a:p>
          <a:p>
            <a:pPr algn="l">
              <a:lnSpc>
                <a:spcPts val="2379"/>
              </a:lnSpc>
            </a:pPr>
          </a:p>
        </p:txBody>
      </p:sp>
      <p:sp>
        <p:nvSpPr>
          <p:cNvPr name="TextBox 3" id="3"/>
          <p:cNvSpPr txBox="true"/>
          <p:nvPr/>
        </p:nvSpPr>
        <p:spPr>
          <a:xfrm rot="0">
            <a:off x="3622292" y="9563255"/>
            <a:ext cx="315416" cy="372745"/>
          </a:xfrm>
          <a:prstGeom prst="rect">
            <a:avLst/>
          </a:prstGeom>
        </p:spPr>
        <p:txBody>
          <a:bodyPr anchor="t" rtlCol="false" tIns="0" lIns="0" bIns="0" rIns="0">
            <a:spAutoFit/>
          </a:bodyPr>
          <a:lstStyle/>
          <a:p>
            <a:pPr algn="ctr">
              <a:lnSpc>
                <a:spcPts val="3079"/>
              </a:lnSpc>
            </a:pPr>
            <a:r>
              <a:rPr lang="en-US" sz="2199">
                <a:solidFill>
                  <a:srgbClr val="000000"/>
                </a:solidFill>
                <a:latin typeface="Canva Sans"/>
                <a:ea typeface="Canva Sans"/>
                <a:cs typeface="Canva Sans"/>
                <a:sym typeface="Canva Sans"/>
              </a:rPr>
              <a:t>23</a:t>
            </a:r>
          </a:p>
        </p:txBody>
      </p:sp>
      <p:sp>
        <p:nvSpPr>
          <p:cNvPr name="AutoShape 4" id="4"/>
          <p:cNvSpPr/>
          <p:nvPr/>
        </p:nvSpPr>
        <p:spPr>
          <a:xfrm>
            <a:off x="745617" y="597333"/>
            <a:ext cx="5751563" cy="0"/>
          </a:xfrm>
          <a:prstGeom prst="line">
            <a:avLst/>
          </a:prstGeom>
          <a:ln cap="flat" w="19050">
            <a:solidFill>
              <a:srgbClr val="7A6200">
                <a:alpha val="84706"/>
              </a:srgbClr>
            </a:solidFill>
            <a:prstDash val="solid"/>
            <a:headEnd type="none" len="sm" w="sm"/>
            <a:tailEnd type="none" len="sm" w="sm"/>
          </a:ln>
        </p:spPr>
      </p:sp>
    </p:spTree>
  </p:cSld>
  <p:clrMapOvr>
    <a:masterClrMapping/>
  </p:clrMapOvr>
</p:sld>
</file>

<file path=ppt/slides/slide27.xml><?xml version="1.0" encoding="utf-8"?>
<p:sld xmlns:p="http://schemas.openxmlformats.org/presentationml/2006/main" xmlns:a="http://schemas.openxmlformats.org/drawingml/2006/main">
  <p:cSld>
    <p:bg>
      <p:bgPr>
        <a:solidFill>
          <a:srgbClr val="CCCCBC"/>
        </a:solidFill>
      </p:bgPr>
    </p:bg>
    <p:spTree>
      <p:nvGrpSpPr>
        <p:cNvPr id="1" name=""/>
        <p:cNvGrpSpPr/>
        <p:nvPr/>
      </p:nvGrpSpPr>
      <p:grpSpPr>
        <a:xfrm>
          <a:off x="0" y="0"/>
          <a:ext cx="0" cy="0"/>
          <a:chOff x="0" y="0"/>
          <a:chExt cx="0" cy="0"/>
        </a:xfrm>
      </p:grpSpPr>
      <p:sp>
        <p:nvSpPr>
          <p:cNvPr name="TextBox 2" id="2"/>
          <p:cNvSpPr txBox="true"/>
          <p:nvPr/>
        </p:nvSpPr>
        <p:spPr>
          <a:xfrm rot="0">
            <a:off x="756000" y="300534"/>
            <a:ext cx="6272680" cy="9371330"/>
          </a:xfrm>
          <a:prstGeom prst="rect">
            <a:avLst/>
          </a:prstGeom>
        </p:spPr>
        <p:txBody>
          <a:bodyPr anchor="t" rtlCol="false" tIns="0" lIns="0" bIns="0" rIns="0">
            <a:spAutoFit/>
          </a:bodyPr>
          <a:lstStyle/>
          <a:p>
            <a:pPr algn="l">
              <a:lnSpc>
                <a:spcPts val="2100"/>
              </a:lnSpc>
            </a:pPr>
            <a:r>
              <a:rPr lang="en-US" sz="1500">
                <a:gradFill>
                  <a:gsLst>
                    <a:gs pos="0">
                      <a:srgbClr val="000000">
                        <a:alpha val="100000"/>
                      </a:srgbClr>
                    </a:gs>
                    <a:gs pos="50000">
                      <a:srgbClr val="555555">
                        <a:alpha val="100000"/>
                      </a:srgbClr>
                    </a:gs>
                    <a:gs pos="100000">
                      <a:srgbClr val="0BB50E">
                        <a:alpha val="100000"/>
                      </a:srgbClr>
                    </a:gs>
                  </a:gsLst>
                  <a:path path="circle">
                    <a:fillToRect l="0" r="100000" t="0" b="100000"/>
                  </a:path>
                  <a:tileRect r="0" l="-100000" b="0" t="-100000"/>
                </a:gradFill>
                <a:latin typeface="Nunito"/>
                <a:ea typeface="Nunito"/>
                <a:cs typeface="Nunito"/>
                <a:sym typeface="Nunito"/>
              </a:rPr>
              <a:t> </a:t>
            </a:r>
          </a:p>
          <a:p>
            <a:pPr algn="l">
              <a:lnSpc>
                <a:spcPts val="2239"/>
              </a:lnSpc>
            </a:pPr>
          </a:p>
          <a:p>
            <a:pPr algn="l">
              <a:lnSpc>
                <a:spcPts val="2239"/>
              </a:lnSpc>
            </a:pPr>
            <a:r>
              <a:rPr lang="en-US" sz="1599">
                <a:solidFill>
                  <a:srgbClr val="000000"/>
                </a:solidFill>
                <a:latin typeface="Nunito"/>
                <a:ea typeface="Nunito"/>
                <a:cs typeface="Nunito"/>
                <a:sym typeface="Nunito"/>
              </a:rPr>
              <a:t>Lumi watched the firefly disappear among the leaves.</a:t>
            </a:r>
          </a:p>
          <a:p>
            <a:pPr algn="l">
              <a:lnSpc>
                <a:spcPts val="2239"/>
              </a:lnSpc>
            </a:pPr>
            <a:r>
              <a:rPr lang="en-US" sz="1599">
                <a:solidFill>
                  <a:srgbClr val="000000"/>
                </a:solidFill>
                <a:latin typeface="Nunito"/>
                <a:ea typeface="Nunito"/>
                <a:cs typeface="Nunito"/>
                <a:sym typeface="Nunito"/>
              </a:rPr>
              <a:t>For a moment, the garden seemed darker than before. Then Piko's golden glow gently lit her notebook.</a:t>
            </a:r>
          </a:p>
          <a:p>
            <a:pPr algn="l">
              <a:lnSpc>
                <a:spcPts val="2239"/>
              </a:lnSpc>
            </a:pPr>
            <a:r>
              <a:rPr lang="en-US" sz="1599">
                <a:solidFill>
                  <a:srgbClr val="000000"/>
                </a:solidFill>
                <a:latin typeface="Nunito"/>
                <a:ea typeface="Nunito"/>
                <a:cs typeface="Nunito"/>
                <a:sym typeface="Nunito"/>
              </a:rPr>
              <a:t>Lumi looked at the questions she had written throughout the night.</a:t>
            </a:r>
          </a:p>
          <a:p>
            <a:pPr algn="l">
              <a:lnSpc>
                <a:spcPts val="2239"/>
              </a:lnSpc>
            </a:pPr>
            <a:r>
              <a:rPr lang="en-US" sz="1599">
                <a:solidFill>
                  <a:srgbClr val="000000"/>
                </a:solidFill>
                <a:latin typeface="Nunito"/>
                <a:ea typeface="Nunito"/>
                <a:cs typeface="Nunito"/>
                <a:sym typeface="Nunito"/>
              </a:rPr>
              <a:t>Where had the little light come from? Why did Piko glow? How did shadows form? Why did the golden spot move across the wall?</a:t>
            </a:r>
          </a:p>
          <a:p>
            <a:pPr algn="l">
              <a:lnSpc>
                <a:spcPts val="2239"/>
              </a:lnSpc>
            </a:pPr>
            <a:r>
              <a:rPr lang="en-US" sz="1599">
                <a:solidFill>
                  <a:srgbClr val="000000"/>
                </a:solidFill>
                <a:latin typeface="Nunito"/>
                <a:ea typeface="Nunito"/>
                <a:cs typeface="Nunito"/>
                <a:sym typeface="Nunito"/>
              </a:rPr>
              <a:t>Each question had led to another discovery.</a:t>
            </a:r>
          </a:p>
          <a:p>
            <a:pPr algn="l">
              <a:lnSpc>
                <a:spcPts val="2239"/>
              </a:lnSpc>
            </a:pPr>
            <a:r>
              <a:rPr lang="en-US" sz="1599">
                <a:solidFill>
                  <a:srgbClr val="000000"/>
                </a:solidFill>
                <a:latin typeface="Nunito"/>
                <a:ea typeface="Nunito"/>
                <a:cs typeface="Nunito"/>
                <a:sym typeface="Nunito"/>
              </a:rPr>
              <a:t>“Piko,” she said, “I thought discovering something meant finding the right answer.”</a:t>
            </a:r>
          </a:p>
          <a:p>
            <a:pPr algn="l">
              <a:lnSpc>
                <a:spcPts val="2239"/>
              </a:lnSpc>
            </a:pPr>
            <a:r>
              <a:rPr lang="en-US" sz="1599">
                <a:solidFill>
                  <a:srgbClr val="000000"/>
                </a:solidFill>
                <a:latin typeface="Nunito"/>
                <a:ea typeface="Nunito"/>
                <a:cs typeface="Nunito"/>
                <a:sym typeface="Nunito"/>
              </a:rPr>
              <a:t>Piko tilted his head.</a:t>
            </a:r>
          </a:p>
          <a:p>
            <a:pPr algn="l">
              <a:lnSpc>
                <a:spcPts val="2239"/>
              </a:lnSpc>
            </a:pPr>
            <a:r>
              <a:rPr lang="en-US" sz="1599">
                <a:solidFill>
                  <a:srgbClr val="000000"/>
                </a:solidFill>
                <a:latin typeface="Nunito"/>
                <a:ea typeface="Nunito"/>
                <a:cs typeface="Nunito"/>
                <a:sym typeface="Nunito"/>
              </a:rPr>
              <a:t>“Doesn't it?”</a:t>
            </a:r>
          </a:p>
          <a:p>
            <a:pPr algn="l">
              <a:lnSpc>
                <a:spcPts val="2239"/>
              </a:lnSpc>
            </a:pPr>
            <a:r>
              <a:rPr lang="en-US" sz="1599">
                <a:solidFill>
                  <a:srgbClr val="000000"/>
                </a:solidFill>
                <a:latin typeface="Nunito"/>
                <a:ea typeface="Nunito"/>
                <a:cs typeface="Nunito"/>
                <a:sym typeface="Nunito"/>
              </a:rPr>
              <a:t>“Sometimes,” Lumi replied. “But tonight I learned something else. We have to observe carefully, ask questions, test our ideas, and pay attention to what happens.”</a:t>
            </a:r>
          </a:p>
          <a:p>
            <a:pPr algn="l">
              <a:lnSpc>
                <a:spcPts val="2239"/>
              </a:lnSpc>
            </a:pPr>
            <a:r>
              <a:rPr lang="en-US" sz="1599">
                <a:solidFill>
                  <a:srgbClr val="000000"/>
                </a:solidFill>
                <a:latin typeface="Nunito"/>
                <a:ea typeface="Nunito"/>
                <a:cs typeface="Nunito"/>
                <a:sym typeface="Nunito"/>
              </a:rPr>
              <a:t>She turned to a fresh page and wrote:</a:t>
            </a:r>
          </a:p>
          <a:p>
            <a:pPr algn="l">
              <a:lnSpc>
                <a:spcPts val="2239"/>
              </a:lnSpc>
            </a:pPr>
            <a:r>
              <a:rPr lang="en-US" sz="1599">
                <a:gradFill>
                  <a:gsLst>
                    <a:gs pos="0">
                      <a:srgbClr val="5A0A0C">
                        <a:alpha val="100000"/>
                      </a:srgbClr>
                    </a:gs>
                    <a:gs pos="50000">
                      <a:srgbClr val="BF628C">
                        <a:alpha val="100000"/>
                      </a:srgbClr>
                    </a:gs>
                    <a:gs pos="100000">
                      <a:srgbClr val="62BF9B">
                        <a:alpha val="100000"/>
                      </a:srgbClr>
                    </a:gs>
                  </a:gsLst>
                  <a:lin ang="0"/>
                </a:gradFill>
                <a:latin typeface="Comic Sans"/>
                <a:ea typeface="Comic Sans"/>
                <a:cs typeface="Comic Sans"/>
                <a:sym typeface="Comic Sans"/>
              </a:rPr>
              <a:t>DISCOVERY 5</a:t>
            </a:r>
          </a:p>
          <a:p>
            <a:pPr algn="l">
              <a:lnSpc>
                <a:spcPts val="2239"/>
              </a:lnSpc>
            </a:pPr>
            <a:r>
              <a:rPr lang="en-US" sz="1599">
                <a:solidFill>
                  <a:srgbClr val="000000"/>
                </a:solidFill>
                <a:latin typeface="Nunito"/>
                <a:ea typeface="Nunito"/>
                <a:cs typeface="Nunito"/>
                <a:sym typeface="Nunito"/>
              </a:rPr>
              <a:t>Curiosity helps us learn.</a:t>
            </a:r>
          </a:p>
          <a:p>
            <a:pPr algn="l">
              <a:lnSpc>
                <a:spcPts val="2239"/>
              </a:lnSpc>
            </a:pPr>
            <a:r>
              <a:rPr lang="en-US" sz="1599">
                <a:solidFill>
                  <a:srgbClr val="000000"/>
                </a:solidFill>
                <a:latin typeface="Nunito"/>
                <a:ea typeface="Nunito"/>
                <a:cs typeface="Nunito"/>
                <a:sym typeface="Nunito"/>
              </a:rPr>
              <a:t>Ask questions. Observe carefully. Test your ideas. Keep discovering.</a:t>
            </a:r>
          </a:p>
          <a:p>
            <a:pPr algn="l">
              <a:lnSpc>
                <a:spcPts val="2239"/>
              </a:lnSpc>
            </a:pPr>
            <a:r>
              <a:rPr lang="en-US" sz="1599">
                <a:solidFill>
                  <a:srgbClr val="000000"/>
                </a:solidFill>
                <a:latin typeface="Nunito"/>
                <a:ea typeface="Nunito"/>
                <a:cs typeface="Nunito"/>
                <a:sym typeface="Nunito"/>
              </a:rPr>
              <a:t>Piko landed gently on the edge of her notebook.</a:t>
            </a:r>
          </a:p>
          <a:p>
            <a:pPr algn="l">
              <a:lnSpc>
                <a:spcPts val="2239"/>
              </a:lnSpc>
            </a:pPr>
            <a:r>
              <a:rPr lang="en-US" sz="1599">
                <a:solidFill>
                  <a:srgbClr val="000000"/>
                </a:solidFill>
                <a:latin typeface="Nunito"/>
                <a:ea typeface="Nunito"/>
                <a:cs typeface="Nunito"/>
                <a:sym typeface="Nunito"/>
              </a:rPr>
              <a:t>“Does that mean I'm a scientist now?”</a:t>
            </a:r>
          </a:p>
          <a:p>
            <a:pPr algn="l">
              <a:lnSpc>
                <a:spcPts val="2239"/>
              </a:lnSpc>
            </a:pPr>
            <a:r>
              <a:rPr lang="en-US" sz="1599">
                <a:solidFill>
                  <a:srgbClr val="000000"/>
                </a:solidFill>
                <a:latin typeface="Nunito"/>
                <a:ea typeface="Nunito"/>
                <a:cs typeface="Nunito"/>
                <a:sym typeface="Nunito"/>
              </a:rPr>
              <a:t>Lumi smiled.</a:t>
            </a:r>
          </a:p>
          <a:p>
            <a:pPr algn="l">
              <a:lnSpc>
                <a:spcPts val="2239"/>
              </a:lnSpc>
            </a:pPr>
            <a:r>
              <a:rPr lang="en-US" sz="1599">
                <a:solidFill>
                  <a:srgbClr val="000000"/>
                </a:solidFill>
                <a:latin typeface="Nunito"/>
                <a:ea typeface="Nunito"/>
                <a:cs typeface="Nunito"/>
                <a:sym typeface="Nunito"/>
              </a:rPr>
              <a:t>“You can be a scientist whenever you ask a question and try to understand the answer.”</a:t>
            </a:r>
          </a:p>
          <a:p>
            <a:pPr algn="l">
              <a:lnSpc>
                <a:spcPts val="2239"/>
              </a:lnSpc>
            </a:pPr>
            <a:r>
              <a:rPr lang="en-US" sz="1599">
                <a:solidFill>
                  <a:srgbClr val="000000"/>
                </a:solidFill>
                <a:latin typeface="Nunito"/>
                <a:ea typeface="Nunito"/>
                <a:cs typeface="Nunito"/>
                <a:sym typeface="Nunito"/>
              </a:rPr>
              <a:t>Piko's glow brightened with excitement.</a:t>
            </a:r>
          </a:p>
          <a:p>
            <a:pPr algn="l">
              <a:lnSpc>
                <a:spcPts val="2239"/>
              </a:lnSpc>
            </a:pPr>
            <a:r>
              <a:rPr lang="en-US" sz="1599">
                <a:solidFill>
                  <a:srgbClr val="000000"/>
                </a:solidFill>
                <a:latin typeface="Nunito"/>
                <a:ea typeface="Nunito"/>
                <a:cs typeface="Nunito"/>
                <a:sym typeface="Nunito"/>
              </a:rPr>
              <a:t>Lumi closed her notebook and looked up at the stars.</a:t>
            </a:r>
          </a:p>
          <a:p>
            <a:pPr algn="l">
              <a:lnSpc>
                <a:spcPts val="2239"/>
              </a:lnSpc>
            </a:pPr>
            <a:r>
              <a:rPr lang="en-US" sz="1599">
                <a:solidFill>
                  <a:srgbClr val="000000"/>
                </a:solidFill>
                <a:latin typeface="Nunito"/>
                <a:ea typeface="Nunito"/>
                <a:cs typeface="Nunito"/>
                <a:sym typeface="Nunito"/>
              </a:rPr>
              <a:t>She still didn't know everything about light. She didn't know exactly why Piko could glow, either.</a:t>
            </a:r>
          </a:p>
          <a:p>
            <a:pPr algn="l">
              <a:lnSpc>
                <a:spcPts val="2239"/>
              </a:lnSpc>
            </a:pPr>
            <a:r>
              <a:rPr lang="en-US" sz="1599">
                <a:solidFill>
                  <a:srgbClr val="000000"/>
                </a:solidFill>
                <a:latin typeface="Nunito"/>
                <a:ea typeface="Nunito"/>
                <a:cs typeface="Nunito"/>
                <a:sym typeface="Nunito"/>
              </a:rPr>
              <a:t>But she wasn't worried.</a:t>
            </a:r>
          </a:p>
          <a:p>
            <a:pPr algn="l">
              <a:lnSpc>
                <a:spcPts val="2239"/>
              </a:lnSpc>
            </a:pPr>
            <a:r>
              <a:rPr lang="en-US" sz="1599">
                <a:solidFill>
                  <a:srgbClr val="000000"/>
                </a:solidFill>
                <a:latin typeface="Nunito"/>
                <a:ea typeface="Nunito"/>
                <a:cs typeface="Nunito"/>
                <a:sym typeface="Nunito"/>
              </a:rPr>
              <a:t>There would always be another question, another experiment, and another wonderful thing to discover.</a:t>
            </a:r>
          </a:p>
          <a:p>
            <a:pPr algn="l">
              <a:lnSpc>
                <a:spcPts val="2239"/>
              </a:lnSpc>
            </a:pPr>
          </a:p>
          <a:p>
            <a:pPr algn="l">
              <a:lnSpc>
                <a:spcPts val="2239"/>
              </a:lnSpc>
            </a:pPr>
          </a:p>
        </p:txBody>
      </p:sp>
      <p:sp>
        <p:nvSpPr>
          <p:cNvPr name="TextBox 3" id="3"/>
          <p:cNvSpPr txBox="true"/>
          <p:nvPr/>
        </p:nvSpPr>
        <p:spPr>
          <a:xfrm rot="0">
            <a:off x="3621399" y="9466441"/>
            <a:ext cx="317202" cy="372745"/>
          </a:xfrm>
          <a:prstGeom prst="rect">
            <a:avLst/>
          </a:prstGeom>
        </p:spPr>
        <p:txBody>
          <a:bodyPr anchor="t" rtlCol="false" tIns="0" lIns="0" bIns="0" rIns="0">
            <a:spAutoFit/>
          </a:bodyPr>
          <a:lstStyle/>
          <a:p>
            <a:pPr algn="ctr">
              <a:lnSpc>
                <a:spcPts val="3079"/>
              </a:lnSpc>
            </a:pPr>
            <a:r>
              <a:rPr lang="en-US" sz="2199">
                <a:solidFill>
                  <a:srgbClr val="000000"/>
                </a:solidFill>
                <a:latin typeface="Canva Sans"/>
                <a:ea typeface="Canva Sans"/>
                <a:cs typeface="Canva Sans"/>
                <a:sym typeface="Canva Sans"/>
              </a:rPr>
              <a:t>24</a:t>
            </a:r>
          </a:p>
        </p:txBody>
      </p:sp>
      <p:sp>
        <p:nvSpPr>
          <p:cNvPr name="AutoShape 4" id="4"/>
          <p:cNvSpPr/>
          <p:nvPr/>
        </p:nvSpPr>
        <p:spPr>
          <a:xfrm>
            <a:off x="745022" y="329109"/>
            <a:ext cx="5751563" cy="0"/>
          </a:xfrm>
          <a:prstGeom prst="line">
            <a:avLst/>
          </a:prstGeom>
          <a:ln cap="flat" w="19050">
            <a:solidFill>
              <a:srgbClr val="7A6200">
                <a:alpha val="84706"/>
              </a:srgbClr>
            </a:solidFill>
            <a:prstDash val="solid"/>
            <a:headEnd type="none" len="sm" w="sm"/>
            <a:tailEnd type="none" len="sm" w="sm"/>
          </a:ln>
        </p:spPr>
      </p:sp>
    </p:spTree>
  </p:cSld>
  <p:clrMapOvr>
    <a:masterClrMapping/>
  </p:clrMapOvr>
</p:sld>
</file>

<file path=ppt/slides/slide28.xml><?xml version="1.0" encoding="utf-8"?>
<p:sld xmlns:p="http://schemas.openxmlformats.org/presentationml/2006/main" xmlns:a="http://schemas.openxmlformats.org/drawingml/2006/main">
  <p:cSld>
    <p:bg>
      <p:bgPr>
        <a:solidFill>
          <a:srgbClr val="CCCCBC"/>
        </a:solidFill>
      </p:bgPr>
    </p:bg>
    <p:spTree>
      <p:nvGrpSpPr>
        <p:cNvPr id="1" name=""/>
        <p:cNvGrpSpPr/>
        <p:nvPr/>
      </p:nvGrpSpPr>
      <p:grpSpPr>
        <a:xfrm>
          <a:off x="0" y="0"/>
          <a:ext cx="0" cy="0"/>
          <a:chOff x="0" y="0"/>
          <a:chExt cx="0" cy="0"/>
        </a:xfrm>
      </p:grpSpPr>
      <p:sp>
        <p:nvSpPr>
          <p:cNvPr name="TextBox 2" id="2"/>
          <p:cNvSpPr txBox="true"/>
          <p:nvPr/>
        </p:nvSpPr>
        <p:spPr>
          <a:xfrm rot="0">
            <a:off x="756000" y="901959"/>
            <a:ext cx="6048000" cy="8843645"/>
          </a:xfrm>
          <a:prstGeom prst="rect">
            <a:avLst/>
          </a:prstGeom>
        </p:spPr>
        <p:txBody>
          <a:bodyPr anchor="t" rtlCol="false" tIns="0" lIns="0" bIns="0" rIns="0">
            <a:spAutoFit/>
          </a:bodyPr>
          <a:lstStyle/>
          <a:p>
            <a:pPr algn="l">
              <a:lnSpc>
                <a:spcPts val="2379"/>
              </a:lnSpc>
            </a:pPr>
          </a:p>
          <a:p>
            <a:pPr algn="l">
              <a:lnSpc>
                <a:spcPts val="2379"/>
              </a:lnSpc>
            </a:pPr>
            <a:r>
              <a:rPr lang="en-US" sz="1699">
                <a:solidFill>
                  <a:srgbClr val="000000"/>
                </a:solidFill>
                <a:latin typeface="Nunito"/>
                <a:ea typeface="Nunito"/>
                <a:cs typeface="Nunito"/>
                <a:sym typeface="Nunito"/>
              </a:rPr>
              <a:t>The night had grown quiet again.</a:t>
            </a:r>
          </a:p>
          <a:p>
            <a:pPr algn="l">
              <a:lnSpc>
                <a:spcPts val="2379"/>
              </a:lnSpc>
            </a:pPr>
            <a:r>
              <a:rPr lang="en-US" sz="1699">
                <a:solidFill>
                  <a:srgbClr val="000000"/>
                </a:solidFill>
                <a:latin typeface="Nunito"/>
                <a:ea typeface="Nunito"/>
                <a:cs typeface="Nunito"/>
                <a:sym typeface="Nunito"/>
              </a:rPr>
              <a:t>Lumi returne</a:t>
            </a:r>
            <a:r>
              <a:rPr lang="en-US" sz="1699">
                <a:solidFill>
                  <a:srgbClr val="000000"/>
                </a:solidFill>
                <a:latin typeface="Nunito"/>
                <a:ea typeface="Nunito"/>
                <a:cs typeface="Nunito"/>
                <a:sym typeface="Nunito"/>
              </a:rPr>
              <a:t>d to her bedroom with Piko floating beside her. She placed her notebook on the bedside table and climbed into bed.</a:t>
            </a:r>
          </a:p>
          <a:p>
            <a:pPr algn="l">
              <a:lnSpc>
                <a:spcPts val="2379"/>
              </a:lnSpc>
            </a:pPr>
            <a:r>
              <a:rPr lang="en-US" sz="1699">
                <a:solidFill>
                  <a:srgbClr val="000000"/>
                </a:solidFill>
                <a:latin typeface="Nunito"/>
                <a:ea typeface="Nunito"/>
                <a:cs typeface="Nunito"/>
                <a:sym typeface="Nunito"/>
              </a:rPr>
              <a:t>“Thank you for helping me investigate tonight,” she whispered.</a:t>
            </a:r>
          </a:p>
          <a:p>
            <a:pPr algn="l">
              <a:lnSpc>
                <a:spcPts val="2379"/>
              </a:lnSpc>
            </a:pPr>
            <a:r>
              <a:rPr lang="en-US" sz="1699">
                <a:solidFill>
                  <a:srgbClr val="000000"/>
                </a:solidFill>
                <a:latin typeface="Nunito"/>
                <a:ea typeface="Nunito"/>
                <a:cs typeface="Nunito"/>
                <a:sym typeface="Nunito"/>
              </a:rPr>
              <a:t>Piko settled beside her pillow, glowing like a tiny golden star.</a:t>
            </a:r>
          </a:p>
          <a:p>
            <a:pPr algn="l">
              <a:lnSpc>
                <a:spcPts val="2379"/>
              </a:lnSpc>
            </a:pPr>
            <a:r>
              <a:rPr lang="en-US" sz="1699">
                <a:solidFill>
                  <a:srgbClr val="000000"/>
                </a:solidFill>
                <a:latin typeface="Nunito"/>
                <a:ea typeface="Nunito"/>
                <a:cs typeface="Nunito"/>
                <a:sym typeface="Nunito"/>
              </a:rPr>
              <a:t>“Thank you for asking questions,” he replied.</a:t>
            </a:r>
          </a:p>
          <a:p>
            <a:pPr algn="l">
              <a:lnSpc>
                <a:spcPts val="2379"/>
              </a:lnSpc>
            </a:pPr>
            <a:r>
              <a:rPr lang="en-US" sz="1699">
                <a:solidFill>
                  <a:srgbClr val="000000"/>
                </a:solidFill>
                <a:latin typeface="Nunito"/>
                <a:ea typeface="Nunito"/>
                <a:cs typeface="Nunito"/>
                <a:sym typeface="Nunito"/>
              </a:rPr>
              <a:t>Lumi smiled and closed her eyes.</a:t>
            </a:r>
          </a:p>
          <a:p>
            <a:pPr algn="l">
              <a:lnSpc>
                <a:spcPts val="2379"/>
              </a:lnSpc>
            </a:pPr>
            <a:r>
              <a:rPr lang="en-US" sz="1699">
                <a:solidFill>
                  <a:srgbClr val="000000"/>
                </a:solidFill>
                <a:latin typeface="Nunito"/>
                <a:ea typeface="Nunito"/>
                <a:cs typeface="Nunito"/>
                <a:sym typeface="Nunito"/>
              </a:rPr>
              <a:t>Just before she drifted to sleep, a new thought entered her mind.</a:t>
            </a:r>
          </a:p>
          <a:p>
            <a:pPr algn="l">
              <a:lnSpc>
                <a:spcPts val="2379"/>
              </a:lnSpc>
            </a:pPr>
            <a:r>
              <a:rPr lang="en-US" sz="1699">
                <a:solidFill>
                  <a:srgbClr val="000000"/>
                </a:solidFill>
                <a:latin typeface="Nunito"/>
                <a:ea typeface="Nunito"/>
                <a:cs typeface="Nunito"/>
                <a:sym typeface="Nunito"/>
              </a:rPr>
              <a:t>What other mysteries were waiting to be discovered?</a:t>
            </a:r>
          </a:p>
          <a:p>
            <a:pPr algn="l">
              <a:lnSpc>
                <a:spcPts val="2379"/>
              </a:lnSpc>
            </a:pPr>
            <a:r>
              <a:rPr lang="en-US" sz="1699">
                <a:solidFill>
                  <a:srgbClr val="000000"/>
                </a:solidFill>
                <a:latin typeface="Nunito"/>
                <a:ea typeface="Nunito"/>
                <a:cs typeface="Nunito"/>
                <a:sym typeface="Nunito"/>
              </a:rPr>
              <a:t>Perhaps there were secrets hidden in the clouds, wonders beneath the ground, or tiny creatures living in places she had never thought to look.</a:t>
            </a:r>
          </a:p>
          <a:p>
            <a:pPr algn="l">
              <a:lnSpc>
                <a:spcPts val="2379"/>
              </a:lnSpc>
            </a:pPr>
            <a:r>
              <a:rPr lang="en-US" sz="1699">
                <a:solidFill>
                  <a:srgbClr val="000000"/>
                </a:solidFill>
                <a:latin typeface="Nunito"/>
                <a:ea typeface="Nunito"/>
                <a:cs typeface="Nunito"/>
                <a:sym typeface="Nunito"/>
              </a:rPr>
              <a:t>Tomorrow, she would begin another investigation.</a:t>
            </a:r>
          </a:p>
          <a:p>
            <a:pPr algn="l">
              <a:lnSpc>
                <a:spcPts val="2379"/>
              </a:lnSpc>
            </a:pPr>
            <a:r>
              <a:rPr lang="en-US" sz="1699">
                <a:solidFill>
                  <a:srgbClr val="000000"/>
                </a:solidFill>
                <a:latin typeface="Nunito"/>
                <a:ea typeface="Nunito"/>
                <a:cs typeface="Nunito"/>
                <a:sym typeface="Nunito"/>
              </a:rPr>
              <a:t>She reached for her notebook one last time and wrote:</a:t>
            </a:r>
          </a:p>
          <a:p>
            <a:pPr algn="l">
              <a:lnSpc>
                <a:spcPts val="2379"/>
              </a:lnSpc>
            </a:pPr>
            <a:r>
              <a:rPr lang="en-US" sz="1699">
                <a:solidFill>
                  <a:srgbClr val="000000"/>
                </a:solidFill>
                <a:latin typeface="Nunito"/>
                <a:ea typeface="Nunito"/>
                <a:cs typeface="Nunito"/>
                <a:sym typeface="Nunito"/>
              </a:rPr>
              <a:t>MY NEXT QUESTION</a:t>
            </a:r>
          </a:p>
          <a:p>
            <a:pPr algn="l">
              <a:lnSpc>
                <a:spcPts val="2379"/>
              </a:lnSpc>
            </a:pPr>
            <a:r>
              <a:rPr lang="en-US" sz="1699">
                <a:solidFill>
                  <a:srgbClr val="000000"/>
                </a:solidFill>
                <a:latin typeface="Nunito"/>
                <a:ea typeface="Nunito"/>
                <a:cs typeface="Nunito"/>
                <a:sym typeface="Nunito"/>
              </a:rPr>
              <a:t>What wonderful thing will I discover tomorrow?</a:t>
            </a:r>
          </a:p>
          <a:p>
            <a:pPr algn="l">
              <a:lnSpc>
                <a:spcPts val="2379"/>
              </a:lnSpc>
            </a:pPr>
            <a:r>
              <a:rPr lang="en-US" sz="1699">
                <a:solidFill>
                  <a:srgbClr val="000000"/>
                </a:solidFill>
                <a:latin typeface="Nunito"/>
                <a:ea typeface="Nunito"/>
                <a:cs typeface="Nunito"/>
                <a:sym typeface="Nunito"/>
              </a:rPr>
              <a:t>Piko's golden light flickered softly.</a:t>
            </a:r>
          </a:p>
          <a:p>
            <a:pPr algn="l">
              <a:lnSpc>
                <a:spcPts val="2379"/>
              </a:lnSpc>
            </a:pPr>
            <a:r>
              <a:rPr lang="en-US" sz="1699">
                <a:solidFill>
                  <a:srgbClr val="000000"/>
                </a:solidFill>
                <a:latin typeface="Nunito"/>
                <a:ea typeface="Nunito"/>
                <a:cs typeface="Nunito"/>
                <a:sym typeface="Nunito"/>
              </a:rPr>
              <a:t>And as the moon watched over the sleeping house, one little light reminded Lumi of something important:</a:t>
            </a:r>
          </a:p>
          <a:p>
            <a:pPr algn="l">
              <a:lnSpc>
                <a:spcPts val="2379"/>
              </a:lnSpc>
            </a:pPr>
            <a:r>
              <a:rPr lang="en-US" sz="1699">
                <a:solidFill>
                  <a:srgbClr val="000000"/>
                </a:solidFill>
                <a:latin typeface="Nunito"/>
                <a:ea typeface="Nunito"/>
                <a:cs typeface="Nunito"/>
                <a:sym typeface="Nunito"/>
              </a:rPr>
              <a:t>Every great discovery begins with a question.</a:t>
            </a:r>
          </a:p>
          <a:p>
            <a:pPr algn="ctr">
              <a:lnSpc>
                <a:spcPts val="2379"/>
              </a:lnSpc>
            </a:pPr>
          </a:p>
          <a:p>
            <a:pPr algn="ctr">
              <a:lnSpc>
                <a:spcPts val="2379"/>
              </a:lnSpc>
            </a:pPr>
            <a:r>
              <a:rPr lang="en-US" sz="1699">
                <a:solidFill>
                  <a:srgbClr val="000000"/>
                </a:solidFill>
                <a:latin typeface="Nunito"/>
                <a:ea typeface="Nunito"/>
                <a:cs typeface="Nunito"/>
                <a:sym typeface="Nunito"/>
              </a:rPr>
              <a:t>THE END</a:t>
            </a:r>
          </a:p>
          <a:p>
            <a:pPr algn="ctr">
              <a:lnSpc>
                <a:spcPts val="2379"/>
              </a:lnSpc>
            </a:pPr>
            <a:r>
              <a:rPr lang="en-US" sz="1699">
                <a:solidFill>
                  <a:srgbClr val="000000"/>
                </a:solidFill>
                <a:latin typeface="Nunito"/>
                <a:ea typeface="Nunito"/>
                <a:cs typeface="Nunito"/>
                <a:sym typeface="Nunito"/>
              </a:rPr>
              <a:t>But curiosity never ends.</a:t>
            </a:r>
          </a:p>
          <a:p>
            <a:pPr algn="ctr">
              <a:lnSpc>
                <a:spcPts val="2379"/>
              </a:lnSpc>
            </a:pPr>
            <a:r>
              <a:rPr lang="en-US" sz="1699">
                <a:solidFill>
                  <a:srgbClr val="000000"/>
                </a:solidFill>
                <a:latin typeface="Nunito"/>
                <a:ea typeface="Nunito"/>
                <a:cs typeface="Nunito"/>
                <a:sym typeface="Nunito"/>
              </a:rPr>
              <a:t>PHOSNOTES · Bringing Light to Young Minds</a:t>
            </a:r>
          </a:p>
          <a:p>
            <a:pPr algn="ctr">
              <a:lnSpc>
                <a:spcPts val="2379"/>
              </a:lnSpc>
            </a:pPr>
          </a:p>
          <a:p>
            <a:pPr algn="ctr">
              <a:lnSpc>
                <a:spcPts val="2379"/>
              </a:lnSpc>
            </a:pPr>
          </a:p>
        </p:txBody>
      </p:sp>
      <p:sp>
        <p:nvSpPr>
          <p:cNvPr name="TextBox 3" id="3"/>
          <p:cNvSpPr txBox="true"/>
          <p:nvPr/>
        </p:nvSpPr>
        <p:spPr>
          <a:xfrm rot="0">
            <a:off x="3620804" y="9540182"/>
            <a:ext cx="318393" cy="372745"/>
          </a:xfrm>
          <a:prstGeom prst="rect">
            <a:avLst/>
          </a:prstGeom>
        </p:spPr>
        <p:txBody>
          <a:bodyPr anchor="t" rtlCol="false" tIns="0" lIns="0" bIns="0" rIns="0">
            <a:spAutoFit/>
          </a:bodyPr>
          <a:lstStyle/>
          <a:p>
            <a:pPr algn="ctr">
              <a:lnSpc>
                <a:spcPts val="3079"/>
              </a:lnSpc>
            </a:pPr>
            <a:r>
              <a:rPr lang="en-US" sz="2199">
                <a:solidFill>
                  <a:srgbClr val="000000"/>
                </a:solidFill>
                <a:latin typeface="Canva Sans"/>
                <a:ea typeface="Canva Sans"/>
                <a:cs typeface="Canva Sans"/>
                <a:sym typeface="Canva Sans"/>
              </a:rPr>
              <a:t>25</a:t>
            </a:r>
          </a:p>
        </p:txBody>
      </p:sp>
      <p:sp>
        <p:nvSpPr>
          <p:cNvPr name="AutoShape 4" id="4"/>
          <p:cNvSpPr/>
          <p:nvPr/>
        </p:nvSpPr>
        <p:spPr>
          <a:xfrm>
            <a:off x="824115" y="930534"/>
            <a:ext cx="5751563" cy="0"/>
          </a:xfrm>
          <a:prstGeom prst="line">
            <a:avLst/>
          </a:prstGeom>
          <a:ln cap="flat" w="19050">
            <a:solidFill>
              <a:srgbClr val="7A6200">
                <a:alpha val="84706"/>
              </a:srgbClr>
            </a:solidFill>
            <a:prstDash val="solid"/>
            <a:headEnd type="none" len="sm" w="sm"/>
            <a:tailEnd type="none" len="sm" w="sm"/>
          </a:ln>
        </p:spPr>
      </p:sp>
    </p:spTree>
  </p:cSld>
  <p:clrMapOvr>
    <a:masterClrMapping/>
  </p:clrMapOvr>
</p:sld>
</file>

<file path=ppt/slides/slide29.xml><?xml version="1.0" encoding="utf-8"?>
<p:sld xmlns:p="http://schemas.openxmlformats.org/presentationml/2006/main" xmlns:a="http://schemas.openxmlformats.org/drawingml/2006/main">
  <p:cSld>
    <p:bg>
      <p:bgPr>
        <a:gradFill rotWithShape="true">
          <a:gsLst>
            <a:gs pos="0">
              <a:srgbClr val="1B2F4D">
                <a:alpha val="100000"/>
              </a:srgbClr>
            </a:gs>
            <a:gs pos="100000">
              <a:srgbClr val="917CA0">
                <a:alpha val="100000"/>
              </a:srgbClr>
            </a:gs>
          </a:gsLst>
          <a:lin ang="5400000"/>
        </a:gradFill>
      </p:bgPr>
    </p:bg>
    <p:spTree>
      <p:nvGrpSpPr>
        <p:cNvPr id="1" name=""/>
        <p:cNvGrpSpPr/>
        <p:nvPr/>
      </p:nvGrpSpPr>
      <p:grpSpPr>
        <a:xfrm>
          <a:off x="0" y="0"/>
          <a:ext cx="0" cy="0"/>
          <a:chOff x="0" y="0"/>
          <a:chExt cx="0" cy="0"/>
        </a:xfrm>
      </p:grpSpPr>
      <p:sp>
        <p:nvSpPr>
          <p:cNvPr name="TextBox 2" id="2"/>
          <p:cNvSpPr txBox="true"/>
          <p:nvPr/>
        </p:nvSpPr>
        <p:spPr>
          <a:xfrm rot="0">
            <a:off x="756000" y="717900"/>
            <a:ext cx="6048000" cy="9096927"/>
          </a:xfrm>
          <a:prstGeom prst="rect">
            <a:avLst/>
          </a:prstGeom>
        </p:spPr>
        <p:txBody>
          <a:bodyPr anchor="t" rtlCol="false" tIns="0" lIns="0" bIns="0" rIns="0">
            <a:spAutoFit/>
          </a:bodyPr>
          <a:lstStyle/>
          <a:p>
            <a:pPr algn="ctr">
              <a:lnSpc>
                <a:spcPts val="2807"/>
              </a:lnSpc>
            </a:pPr>
            <a:r>
              <a:rPr lang="en-US" sz="2005" b="true">
                <a:solidFill>
                  <a:srgbClr val="FFD230"/>
                </a:solidFill>
                <a:latin typeface="Nunito Bold"/>
                <a:ea typeface="Nunito Bold"/>
                <a:cs typeface="Nunito Bold"/>
                <a:sym typeface="Nunito Bold"/>
              </a:rPr>
              <a:t>LUMI AND THE LITTLE LIGHT</a:t>
            </a:r>
          </a:p>
          <a:p>
            <a:pPr algn="ctr">
              <a:lnSpc>
                <a:spcPts val="2807"/>
              </a:lnSpc>
            </a:pPr>
            <a:r>
              <a:rPr lang="en-US" sz="2005">
                <a:solidFill>
                  <a:srgbClr val="FFFFFF"/>
                </a:solidFill>
                <a:latin typeface="Borel"/>
                <a:ea typeface="Borel"/>
                <a:cs typeface="Borel"/>
                <a:sym typeface="Borel"/>
              </a:rPr>
              <a:t>A little question. A wonderful discovery.</a:t>
            </a:r>
          </a:p>
          <a:p>
            <a:pPr algn="ctr">
              <a:lnSpc>
                <a:spcPts val="2807"/>
              </a:lnSpc>
            </a:pPr>
          </a:p>
          <a:p>
            <a:pPr algn="ctr">
              <a:lnSpc>
                <a:spcPts val="2027"/>
              </a:lnSpc>
            </a:pPr>
            <a:r>
              <a:rPr lang="en-US" sz="1448">
                <a:solidFill>
                  <a:srgbClr val="FFD230"/>
                </a:solidFill>
                <a:latin typeface="Nunito"/>
                <a:ea typeface="Nunito"/>
                <a:cs typeface="Nunito"/>
                <a:sym typeface="Nunito"/>
              </a:rPr>
              <a:t>What would you do if a tiny light appeared in your room?</a:t>
            </a:r>
          </a:p>
          <a:p>
            <a:pPr algn="l">
              <a:lnSpc>
                <a:spcPts val="2807"/>
              </a:lnSpc>
            </a:pPr>
          </a:p>
          <a:p>
            <a:pPr algn="l">
              <a:lnSpc>
                <a:spcPts val="2651"/>
              </a:lnSpc>
            </a:pPr>
            <a:r>
              <a:rPr lang="en-US" sz="1894">
                <a:solidFill>
                  <a:srgbClr val="FFF6EA"/>
                </a:solidFill>
                <a:latin typeface="Nunito"/>
                <a:ea typeface="Nunito"/>
                <a:cs typeface="Nunito"/>
                <a:sym typeface="Nunito"/>
              </a:rPr>
              <a:t>When curious Lumi discovers a mysterious little glow, she begins an adventure filled with questions, experiments, shadows, reflections, and surprising discoveries.</a:t>
            </a:r>
          </a:p>
          <a:p>
            <a:pPr algn="l">
              <a:lnSpc>
                <a:spcPts val="2651"/>
              </a:lnSpc>
            </a:pPr>
          </a:p>
          <a:p>
            <a:pPr algn="l">
              <a:lnSpc>
                <a:spcPts val="2651"/>
              </a:lnSpc>
            </a:pPr>
            <a:r>
              <a:rPr lang="en-US" sz="1894">
                <a:solidFill>
                  <a:srgbClr val="FFF6EA"/>
                </a:solidFill>
                <a:latin typeface="Nunito"/>
                <a:ea typeface="Nunito"/>
                <a:cs typeface="Nunito"/>
                <a:sym typeface="Nunito"/>
              </a:rPr>
              <a:t>With her notebook in hand and a little glowing companion named Piko by her side, Lumi learns that even the smallest question can lead to something extraordinary.</a:t>
            </a:r>
          </a:p>
          <a:p>
            <a:pPr algn="just">
              <a:lnSpc>
                <a:spcPts val="2651"/>
              </a:lnSpc>
            </a:pPr>
          </a:p>
          <a:p>
            <a:pPr algn="ctr">
              <a:lnSpc>
                <a:spcPts val="2651"/>
              </a:lnSpc>
            </a:pPr>
            <a:r>
              <a:rPr lang="en-US" sz="1894" b="true">
                <a:solidFill>
                  <a:srgbClr val="FFD230"/>
                </a:solidFill>
                <a:latin typeface="Nunito Semi-Bold"/>
                <a:ea typeface="Nunito Semi-Bold"/>
                <a:cs typeface="Nunito Semi-Bold"/>
                <a:sym typeface="Nunito Semi-Bold"/>
              </a:rPr>
              <a:t>Keep asking.</a:t>
            </a:r>
          </a:p>
          <a:p>
            <a:pPr algn="ctr">
              <a:lnSpc>
                <a:spcPts val="2651"/>
              </a:lnSpc>
            </a:pPr>
            <a:r>
              <a:rPr lang="en-US" sz="1894" b="true">
                <a:solidFill>
                  <a:srgbClr val="FFD230"/>
                </a:solidFill>
                <a:latin typeface="Nunito Semi-Bold"/>
                <a:ea typeface="Nunito Semi-Bold"/>
                <a:cs typeface="Nunito Semi-Bold"/>
                <a:sym typeface="Nunito Semi-Bold"/>
              </a:rPr>
              <a:t>Keep wondering.</a:t>
            </a:r>
          </a:p>
          <a:p>
            <a:pPr algn="ctr">
              <a:lnSpc>
                <a:spcPts val="2651"/>
              </a:lnSpc>
            </a:pPr>
            <a:r>
              <a:rPr lang="en-US" sz="1894" b="true">
                <a:solidFill>
                  <a:srgbClr val="FFD230"/>
                </a:solidFill>
                <a:latin typeface="Nunito Semi-Bold"/>
                <a:ea typeface="Nunito Semi-Bold"/>
                <a:cs typeface="Nunito Semi-Bold"/>
                <a:sym typeface="Nunito Semi-Bold"/>
              </a:rPr>
              <a:t>Keep discovering.</a:t>
            </a:r>
          </a:p>
          <a:p>
            <a:pPr algn="ctr">
              <a:lnSpc>
                <a:spcPts val="2651"/>
              </a:lnSpc>
            </a:pPr>
          </a:p>
          <a:p>
            <a:pPr algn="ctr">
              <a:lnSpc>
                <a:spcPts val="2651"/>
              </a:lnSpc>
            </a:pPr>
          </a:p>
          <a:p>
            <a:pPr algn="ctr">
              <a:lnSpc>
                <a:spcPts val="2651"/>
              </a:lnSpc>
            </a:pPr>
          </a:p>
          <a:p>
            <a:pPr algn="ctr">
              <a:lnSpc>
                <a:spcPts val="2651"/>
              </a:lnSpc>
            </a:pPr>
            <a:r>
              <a:rPr lang="en-US" sz="1894" b="true">
                <a:solidFill>
                  <a:srgbClr val="FFD230"/>
                </a:solidFill>
                <a:latin typeface="Nunito Ultra-Bold"/>
                <a:ea typeface="Nunito Ultra-Bold"/>
                <a:cs typeface="Nunito Ultra-Bold"/>
                <a:sym typeface="Nunito Ultra-Bold"/>
              </a:rPr>
              <a:t>✦PHOSNOTES ✦</a:t>
            </a:r>
          </a:p>
          <a:p>
            <a:pPr algn="ctr">
              <a:lnSpc>
                <a:spcPts val="2100"/>
              </a:lnSpc>
            </a:pPr>
            <a:r>
              <a:rPr lang="en-US" sz="1500">
                <a:solidFill>
                  <a:srgbClr val="FFFFFF"/>
                </a:solidFill>
                <a:latin typeface="Nunito"/>
                <a:ea typeface="Nunito"/>
                <a:cs typeface="Nunito"/>
                <a:sym typeface="Nunito"/>
              </a:rPr>
              <a:t>Bringing Light to Young Minds</a:t>
            </a:r>
          </a:p>
          <a:p>
            <a:pPr algn="ctr">
              <a:lnSpc>
                <a:spcPts val="3359"/>
              </a:lnSpc>
            </a:pPr>
            <a:r>
              <a:rPr lang="en-US" sz="2399">
                <a:solidFill>
                  <a:srgbClr val="FFFFFF"/>
                </a:solidFill>
                <a:latin typeface="Belina"/>
                <a:ea typeface="Belina"/>
                <a:cs typeface="Belina"/>
                <a:sym typeface="Belina"/>
              </a:rPr>
              <a:t>Written by N. Prosper</a:t>
            </a:r>
          </a:p>
          <a:p>
            <a:pPr algn="ctr">
              <a:lnSpc>
                <a:spcPts val="2651"/>
              </a:lnSpc>
            </a:pPr>
          </a:p>
          <a:p>
            <a:pPr algn="just">
              <a:lnSpc>
                <a:spcPts val="2651"/>
              </a:lnSpc>
            </a:pPr>
          </a:p>
          <a:p>
            <a:pPr algn="just">
              <a:lnSpc>
                <a:spcPts val="3431"/>
              </a:lnSpc>
            </a:pPr>
          </a:p>
        </p:txBody>
      </p:sp>
      <p:sp>
        <p:nvSpPr>
          <p:cNvPr name="AutoShape 3" id="3"/>
          <p:cNvSpPr/>
          <p:nvPr/>
        </p:nvSpPr>
        <p:spPr>
          <a:xfrm>
            <a:off x="756000" y="1516832"/>
            <a:ext cx="5751563" cy="0"/>
          </a:xfrm>
          <a:prstGeom prst="line">
            <a:avLst/>
          </a:prstGeom>
          <a:ln cap="flat" w="19050">
            <a:solidFill>
              <a:srgbClr val="7A6200">
                <a:alpha val="84706"/>
              </a:srgbClr>
            </a:solidFill>
            <a:prstDash val="solid"/>
            <a:headEnd type="none" len="sm" w="sm"/>
            <a:tailEnd type="none" len="sm" w="sm"/>
          </a:ln>
        </p:spPr>
      </p:sp>
      <p:sp>
        <p:nvSpPr>
          <p:cNvPr name="AutoShape 4" id="4"/>
          <p:cNvSpPr/>
          <p:nvPr/>
        </p:nvSpPr>
        <p:spPr>
          <a:xfrm>
            <a:off x="904218" y="7659517"/>
            <a:ext cx="5751563" cy="0"/>
          </a:xfrm>
          <a:prstGeom prst="line">
            <a:avLst/>
          </a:prstGeom>
          <a:ln cap="flat" w="19050">
            <a:solidFill>
              <a:srgbClr val="7A6200">
                <a:alpha val="84706"/>
              </a:srgbClr>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DAHWBGF7sMc</dc:identifier>
  <dcterms:modified xsi:type="dcterms:W3CDTF">2011-08-01T06:04:30Z</dcterms:modified>
  <cp:revision>1</cp:revision>
  <dc:title>Lumi and piko</dc:title>
</cp:coreProperties>
</file>